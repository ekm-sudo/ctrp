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4.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7.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8.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9.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4c60a39-0324-48e5-4917-b78ccb94e6e3}">
          <p14:sldIdLst>
            <p14:sldId id="256"/>
            <p14:sldId id="257"/>
            <p14:sldId id="258"/>
          </p14:sldIdLst>
        </p14:section>
        <p14:section name="1 Purpose and journey" id="{0573cdd1-a69b-ae76-74ef-58c0e6a89e49}">
          <p14:sldIdLst>
            <p14:sldId id="259"/>
            <p14:sldId id="260"/>
            <p14:sldId id="261"/>
            <p14:sldId id="262"/>
          </p14:sldIdLst>
        </p14:section>
        <p14:section name="2 Data and EDA" id="{ceb8afa0-c32f-ba7a-66cc-2cac75ae653a}">
          <p14:sldIdLst>
            <p14:sldId id="263"/>
            <p14:sldId id="264"/>
            <p14:sldId id="265"/>
            <p14:sldId id="266"/>
            <p14:sldId id="267"/>
          </p14:sldIdLst>
        </p14:section>
        <p14:section name="3 From parameters to features" id="{1ff536c7-4157-e092-3e5b-60f7e3ea3d3a}">
          <p14:sldIdLst>
            <p14:sldId id="268"/>
            <p14:sldId id="269"/>
            <p14:sldId id="270"/>
            <p14:sldId id="271"/>
            <p14:sldId id="272"/>
            <p14:sldId id="273"/>
            <p14:sldId id="274"/>
            <p14:sldId id="275"/>
          </p14:sldIdLst>
        </p14:section>
        <p14:section name="4 Track A: does it work?" id="{d45d2d4d-d09e-38bc-ba56-943ec11cfbf6}">
          <p14:sldIdLst>
            <p14:sldId id="276"/>
            <p14:sldId id="277"/>
            <p14:sldId id="278"/>
            <p14:sldId id="279"/>
            <p14:sldId id="280"/>
            <p14:sldId id="281"/>
            <p14:sldId id="282"/>
            <p14:sldId id="283"/>
          </p14:sldIdLst>
        </p14:section>
        <p14:section name="5 Track B" id="{e443280e-90a4-18b7-17f6-c0240332db3d}">
          <p14:sldIdLst>
            <p14:sldId id="284"/>
            <p14:sldId id="285"/>
            <p14:sldId id="286"/>
            <p14:sldId id="287"/>
            <p14:sldId id="288"/>
            <p14:sldId id="289"/>
            <p14:sldId id="290"/>
          </p14:sldIdLst>
        </p14:section>
        <p14:section name="6 Decisions and next steps" id="{e3712acf-b8a6-1749-0b49-6a9145abb97b}">
          <p14:sldIdLst>
            <p14:sldId id="291"/>
            <p14:sldId id="292"/>
            <p14:sldId id="293"/>
            <p14:sldId id="294"/>
            <p14:sldId id="295"/>
          </p14:sldIdLst>
        </p14:section>
        <p14:section name="7 Live demo" id="{29403f7f-a371-2b7b-63e6-6c1fabe70b23}">
          <p14:sldIdLst>
            <p14:sldId id="296"/>
          </p14:sldIdLst>
        </p14:section>
        <p14:section name="Backup" id="{654e6b6f-17ae-089e-54c6-996375f19940}">
          <p14:sldIdLst>
            <p14:sldId id="297"/>
            <p14:sldId id="298"/>
            <p14:sldId id="299"/>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Parameters</c:v>
                </c:pt>
              </c:strCache>
            </c:strRef>
          </c:tx>
          <c:spPr>
            <a:solidFill>
              <a:srgbClr val="1F4FD8"/>
            </a:solidFill>
            <a:effectLst/>
          </c:spPr>
          <c:invertIfNegative val="0"/>
          <c:dLbls>
            <c:numFmt formatCode="#,##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Scored</c:v>
                  </c:pt>
                  <c:pt idx="1">
                    <c:v>Built, awaiting data</c:v>
                  </c:pt>
                  <c:pt idx="2">
                    <c:v>Data not in the view</c:v>
                  </c:pt>
                </c:lvl>
              </c:multiLvlStrCache>
            </c:multiLvlStrRef>
          </c:cat>
          <c:val>
            <c:numRef>
              <c:f>Sheet1!$B$2:$B$4</c:f>
              <c:numCache>
                <c:formatCode>General</c:formatCode>
                <c:ptCount val="3"/>
                <c:pt idx="0">
                  <c:v>8</c:v>
                </c:pt>
                <c:pt idx="1">
                  <c:v>2</c:v>
                </c:pt>
                <c:pt idx="2">
                  <c:v>11</c:v>
                </c:pt>
              </c:numCache>
            </c:numRef>
          </c:val>
        </c:ser>
        <c:dLbls>
          <c:numFmt formatCode="#,##0" sourceLinked="0"/>
          <c:txPr>
            <a:bodyPr/>
            <a:lstStyle/>
            <a:p>
              <a:pPr>
                <a:defRPr b="0" i="0" strike="noStrike" sz="13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AUC per check, each feature alone</a:t>
            </a:r>
          </a:p>
        </c:rich>
      </c:tx>
      <c:layout/>
      <c:overlay val="0"/>
    </c:title>
    <c:autoTitleDeleted val="0"/>
    <c:plotArea>
      <c:layout/>
      <c:barChart>
        <c:barDir val="bar"/>
        <c:grouping val="clustered"/>
        <c:varyColors val="0"/>
        <c:ser>
          <c:idx val="0"/>
          <c:order val="0"/>
          <c:tx>
            <c:strRef>
              <c:f>Sheet1!$B$1</c:f>
              <c:strCache>
                <c:ptCount val="1"/>
                <c:pt idx="0">
                  <c:v>AUC alone</c:v>
                </c:pt>
              </c:strCache>
            </c:strRef>
          </c:tx>
          <c:spPr>
            <a:solidFill>
              <a:srgbClr val="1F4FD8"/>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Sheet1!$A$2:$A$9</c:f>
              <c:multiLvlStrCache>
                <c:ptCount val="8"/>
                <c:lvl>
                  <c:pt idx="0">
                    <c:v>PAR_045T</c:v>
                  </c:pt>
                  <c:pt idx="1">
                    <c:v>PAR_077</c:v>
                  </c:pt>
                  <c:pt idx="2">
                    <c:v>PAR_045</c:v>
                  </c:pt>
                  <c:pt idx="3">
                    <c:v>PAR_048</c:v>
                  </c:pt>
                  <c:pt idx="4">
                    <c:v>PAR_076</c:v>
                  </c:pt>
                  <c:pt idx="5">
                    <c:v>PAR_066</c:v>
                  </c:pt>
                  <c:pt idx="6">
                    <c:v>PAR_105</c:v>
                  </c:pt>
                  <c:pt idx="7">
                    <c:v>PAR_023</c:v>
                  </c:pt>
                </c:lvl>
              </c:multiLvlStrCache>
            </c:multiLvlStrRef>
          </c:cat>
          <c:val>
            <c:numRef>
              <c:f>Sheet1!$B$2:$B$9</c:f>
              <c:numCache>
                <c:formatCode>General</c:formatCode>
                <c:ptCount val="8"/>
                <c:pt idx="0">
                  <c:v>0.81</c:v>
                </c:pt>
                <c:pt idx="1">
                  <c:v>0.68</c:v>
                </c:pt>
                <c:pt idx="2">
                  <c:v>0.8</c:v>
                </c:pt>
                <c:pt idx="3">
                  <c:v>0.73</c:v>
                </c:pt>
                <c:pt idx="4">
                  <c:v>0.59</c:v>
                </c:pt>
                <c:pt idx="5">
                  <c:v>0.56</c:v>
                </c:pt>
                <c:pt idx="6">
                  <c:v>0.45</c:v>
                </c:pt>
                <c:pt idx="7">
                  <c:v>0.37</c:v>
                </c:pt>
              </c:numCache>
            </c:numRef>
          </c:val>
        </c:ser>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ax val="0.9"/>
          <c:min val="0.3"/>
        </c:scaling>
        <c:delete val="0"/>
        <c:axPos val="b"/>
        <c:majorGridlines>
          <c:spPr>
            <a:ln w="6350" cap="flat">
              <a:solidFill>
                <a:srgbClr val="DDE1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Share of points, HIGH and above (%)</a:t>
            </a:r>
          </a:p>
        </c:rich>
      </c:tx>
      <c:layout/>
      <c:overlay val="0"/>
    </c:title>
    <c:autoTitleDeleted val="0"/>
    <c:plotArea>
      <c:layout/>
      <c:barChart>
        <c:barDir val="bar"/>
        <c:grouping val="clustered"/>
        <c:varyColors val="0"/>
        <c:ser>
          <c:idx val="0"/>
          <c:order val="0"/>
          <c:tx>
            <c:strRef>
              <c:f>Sheet1!$B$1</c:f>
              <c:strCache>
                <c:ptCount val="1"/>
                <c:pt idx="0">
                  <c:v>Share of points</c:v>
                </c:pt>
              </c:strCache>
            </c:strRef>
          </c:tx>
          <c:spPr>
            <a:solidFill>
              <a:srgbClr val="B88A00"/>
            </a:solidFill>
            <a:effectLst/>
          </c:spPr>
          <c:invertIfNegative val="0"/>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Sheet1!$A$2:$A$9</c:f>
              <c:multiLvlStrCache>
                <c:ptCount val="8"/>
                <c:lvl>
                  <c:pt idx="0">
                    <c:v>PAR_045T</c:v>
                  </c:pt>
                  <c:pt idx="1">
                    <c:v>PAR_077</c:v>
                  </c:pt>
                  <c:pt idx="2">
                    <c:v>PAR_045</c:v>
                  </c:pt>
                  <c:pt idx="3">
                    <c:v>PAR_048</c:v>
                  </c:pt>
                  <c:pt idx="4">
                    <c:v>PAR_076</c:v>
                  </c:pt>
                  <c:pt idx="5">
                    <c:v>PAR_066</c:v>
                  </c:pt>
                  <c:pt idx="6">
                    <c:v>PAR_105</c:v>
                  </c:pt>
                  <c:pt idx="7">
                    <c:v>PAR_023</c:v>
                  </c:pt>
                </c:lvl>
              </c:multiLvlStrCache>
            </c:multiLvlStrRef>
          </c:cat>
          <c:val>
            <c:numRef>
              <c:f>Sheet1!$B$2:$B$9</c:f>
              <c:numCache>
                <c:formatCode>General</c:formatCode>
                <c:ptCount val="8"/>
                <c:pt idx="0">
                  <c:v>36.1</c:v>
                </c:pt>
                <c:pt idx="1">
                  <c:v>33.7</c:v>
                </c:pt>
                <c:pt idx="2">
                  <c:v>20.8</c:v>
                </c:pt>
                <c:pt idx="3">
                  <c:v>3.3</c:v>
                </c:pt>
                <c:pt idx="4">
                  <c:v>3.6</c:v>
                </c:pt>
                <c:pt idx="5">
                  <c:v>0.1</c:v>
                </c:pt>
                <c:pt idx="6">
                  <c:v>2.4</c:v>
                </c:pt>
                <c:pt idx="7">
                  <c:v>0</c:v>
                </c:pt>
              </c:numCache>
            </c:numRef>
          </c:val>
        </c:ser>
        <c:dLbls>
          <c:numFmt formatCode="0.0&quot;%&quot;"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ax val="40"/>
        </c:scaling>
        <c:delete val="0"/>
        <c:axPos val="b"/>
        <c:majorGridlines>
          <c:spPr>
            <a:ln w="6350" cap="flat">
              <a:solidFill>
                <a:srgbClr val="DDE1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Share of checks that found a top-up (%)</a:t>
            </a:r>
          </a:p>
        </c:rich>
      </c:tx>
      <c:layout/>
      <c:overlay val="0"/>
    </c:title>
    <c:autoTitleDeleted val="0"/>
    <c:plotArea>
      <c:layout/>
      <c:barChart>
        <c:barDir val="col"/>
        <c:grouping val="clustered"/>
        <c:varyColors val="0"/>
        <c:ser>
          <c:idx val="0"/>
          <c:order val="0"/>
          <c:tx>
            <c:strRef>
              <c:f>Sheet1!$B$1</c:f>
              <c:strCache>
                <c:ptCount val="1"/>
                <c:pt idx="0">
                  <c:v>Hit rate per check</c:v>
                </c:pt>
              </c:strCache>
            </c:strRef>
          </c:tx>
          <c:spPr>
            <a:solidFill>
              <a:srgbClr val="B5482B"/>
            </a:solidFill>
            <a:effectLst/>
          </c:spPr>
          <c:invertIfNegative val="0"/>
          <c:dLbls>
            <c:numFmt formatCode="0.0&quot;%&quot;"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VERY HIGH</c:v>
                  </c:pt>
                  <c:pt idx="1">
                    <c:v>HIGH</c:v>
                  </c:pt>
                  <c:pt idx="2">
                    <c:v>MEDIUM</c:v>
                  </c:pt>
                  <c:pt idx="3">
                    <c:v>LOW</c:v>
                  </c:pt>
                  <c:pt idx="4">
                    <c:v>VERY LOW</c:v>
                  </c:pt>
                </c:lvl>
              </c:multiLvlStrCache>
            </c:multiLvlStrRef>
          </c:cat>
          <c:val>
            <c:numRef>
              <c:f>Sheet1!$B$2:$B$6</c:f>
              <c:numCache>
                <c:formatCode>General</c:formatCode>
                <c:ptCount val="5"/>
                <c:pt idx="0">
                  <c:v>45.2</c:v>
                </c:pt>
                <c:pt idx="1">
                  <c:v>35.6</c:v>
                </c:pt>
                <c:pt idx="2">
                  <c:v>19.9</c:v>
                </c:pt>
                <c:pt idx="3">
                  <c:v>10.2</c:v>
                </c:pt>
                <c:pt idx="4">
                  <c:v>3.2</c:v>
                </c:pt>
              </c:numCache>
            </c:numRef>
          </c:val>
        </c:ser>
        <c:dLbls>
          <c:numFmt formatCode="0.0&quot;%&quot;"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ax val="50"/>
        </c:scaling>
        <c:delete val="0"/>
        <c:axPos val="l"/>
        <c:majorGridlines>
          <c:spPr>
            <a:ln w="6350" cap="flat">
              <a:solidFill>
                <a:srgbClr val="DDE1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AUC per check (0.5 = chance)</a:t>
            </a:r>
          </a:p>
        </c:rich>
      </c:tx>
      <c:layout/>
      <c:overlay val="0"/>
    </c:title>
    <c:autoTitleDeleted val="0"/>
    <c:plotArea>
      <c:layout/>
      <c:lineChart>
        <c:varyColors val="0"/>
        <c:ser>
          <c:idx val="0"/>
          <c:order val="0"/>
          <c:tx>
            <c:strRef>
              <c:f>Sheet1!$B$1</c:f>
              <c:strCache>
                <c:ptCount val="1"/>
                <c:pt idx="0">
                  <c:v>AUC per check</c:v>
                </c:pt>
              </c:strCache>
            </c:strRef>
          </c:tx>
          <c:spPr>
            <a:solidFill>
              <a:srgbClr val="1F4FD8"/>
            </a:solidFill>
            <a:ln w="25400" cap="flat">
              <a:solidFill>
                <a:srgbClr val="1F4FD8"/>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1F4FD8"/>
              </a:solidFill>
              <a:ln w="9525" cap="flat">
                <a:solidFill>
                  <a:srgbClr val="1F4FD8"/>
                </a:solidFill>
                <a:prstDash val="solid"/>
                <a:round/>
              </a:ln>
              <a:effectLst/>
            </c:spPr>
          </c:marker>
          <c:cat>
            <c:multiLvlStrRef>
              <c:f>Sheet1!$A$2:$A$19</c:f>
              <c:multiLvlStrCache>
                <c:ptCount val="18"/>
                <c:lvl>
                  <c:pt idx="0">
                    <c:v>Sep 17</c:v>
                  </c:pt>
                  <c:pt idx="1">
                    <c:v>Mar 18</c:v>
                  </c:pt>
                  <c:pt idx="2">
                    <c:v>Sep 18</c:v>
                  </c:pt>
                  <c:pt idx="3">
                    <c:v>Mar 19</c:v>
                  </c:pt>
                  <c:pt idx="4">
                    <c:v>Sep 19</c:v>
                  </c:pt>
                  <c:pt idx="5">
                    <c:v>Mar 20</c:v>
                  </c:pt>
                  <c:pt idx="6">
                    <c:v>Sep 20</c:v>
                  </c:pt>
                  <c:pt idx="7">
                    <c:v>Mar 21</c:v>
                  </c:pt>
                  <c:pt idx="8">
                    <c:v>Sep 21</c:v>
                  </c:pt>
                  <c:pt idx="9">
                    <c:v>Mar 22</c:v>
                  </c:pt>
                  <c:pt idx="10">
                    <c:v>Sep 22</c:v>
                  </c:pt>
                  <c:pt idx="11">
                    <c:v>Mar 23</c:v>
                  </c:pt>
                  <c:pt idx="12">
                    <c:v>Sep 23</c:v>
                  </c:pt>
                  <c:pt idx="13">
                    <c:v>Mar 24</c:v>
                  </c:pt>
                  <c:pt idx="14">
                    <c:v>Sep 24</c:v>
                  </c:pt>
                  <c:pt idx="15">
                    <c:v>Mar 25</c:v>
                  </c:pt>
                  <c:pt idx="16">
                    <c:v>Sep 25</c:v>
                  </c:pt>
                  <c:pt idx="17">
                    <c:v>Mar 26</c:v>
                  </c:pt>
                </c:lvl>
              </c:multiLvlStrCache>
            </c:multiLvlStrRef>
          </c:cat>
          <c:val>
            <c:numRef>
              <c:f>Sheet1!$B$2:$B$19</c:f>
              <c:numCache>
                <c:formatCode>General</c:formatCode>
                <c:ptCount val="18"/>
                <c:pt idx="0">
                  <c:v>0.778</c:v>
                </c:pt>
                <c:pt idx="1">
                  <c:v>0.773</c:v>
                </c:pt>
                <c:pt idx="2">
                  <c:v>0.828</c:v>
                </c:pt>
                <c:pt idx="3">
                  <c:v>0.85</c:v>
                </c:pt>
                <c:pt idx="4">
                  <c:v>0.862</c:v>
                </c:pt>
                <c:pt idx="5">
                  <c:v>0.857</c:v>
                </c:pt>
                <c:pt idx="6">
                  <c:v>0.845</c:v>
                </c:pt>
                <c:pt idx="7">
                  <c:v>0.813</c:v>
                </c:pt>
                <c:pt idx="8">
                  <c:v>0.824</c:v>
                </c:pt>
                <c:pt idx="9">
                  <c:v>0.809</c:v>
                </c:pt>
                <c:pt idx="10">
                  <c:v>0.838</c:v>
                </c:pt>
                <c:pt idx="11">
                  <c:v>0.848</c:v>
                </c:pt>
                <c:pt idx="12">
                  <c:v>0.837</c:v>
                </c:pt>
                <c:pt idx="13">
                  <c:v>0.844</c:v>
                </c:pt>
                <c:pt idx="14">
                  <c:v>0.794</c:v>
                </c:pt>
                <c:pt idx="15">
                  <c:v>0.741</c:v>
                </c:pt>
                <c:pt idx="16">
                  <c:v>0.763</c:v>
                </c:pt>
                <c:pt idx="17">
                  <c:v>0.798</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ax val="0.9"/>
          <c:min val="0.5"/>
        </c:scaling>
        <c:delete val="0"/>
        <c:axPos val="l"/>
        <c:majorGridlines>
          <c:spPr>
            <a:ln w="6350" cap="flat">
              <a:solidFill>
                <a:srgbClr val="DDE1E6"/>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Share of all red and yellow checks that found a top-up (%)</a:t>
            </a:r>
          </a:p>
        </c:rich>
      </c:tx>
      <c:layout/>
      <c:overlay val="0"/>
    </c:title>
    <c:autoTitleDeleted val="0"/>
    <c:plotArea>
      <c:layout/>
      <c:lineChart>
        <c:varyColors val="0"/>
        <c:ser>
          <c:idx val="0"/>
          <c:order val="0"/>
          <c:tx>
            <c:strRef>
              <c:f>Sheet1!$B$1</c:f>
              <c:strCache>
                <c:ptCount val="1"/>
                <c:pt idx="0">
                  <c:v>Hit rate of all checks</c:v>
                </c:pt>
              </c:strCache>
            </c:strRef>
          </c:tx>
          <c:spPr>
            <a:solidFill>
              <a:srgbClr val="B5482B"/>
            </a:solidFill>
            <a:ln w="25400" cap="flat">
              <a:solidFill>
                <a:srgbClr val="B5482B"/>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B5482B"/>
              </a:solidFill>
              <a:ln w="9525" cap="flat">
                <a:solidFill>
                  <a:srgbClr val="B5482B"/>
                </a:solidFill>
                <a:prstDash val="solid"/>
                <a:round/>
              </a:ln>
              <a:effectLst/>
            </c:spPr>
          </c:marker>
          <c:cat>
            <c:multiLvlStrRef>
              <c:f>Sheet1!$A$2:$A$19</c:f>
              <c:multiLvlStrCache>
                <c:ptCount val="18"/>
                <c:lvl>
                  <c:pt idx="0">
                    <c:v>Sep 17</c:v>
                  </c:pt>
                  <c:pt idx="1">
                    <c:v>Mar 18</c:v>
                  </c:pt>
                  <c:pt idx="2">
                    <c:v>Sep 18</c:v>
                  </c:pt>
                  <c:pt idx="3">
                    <c:v>Mar 19</c:v>
                  </c:pt>
                  <c:pt idx="4">
                    <c:v>Sep 19</c:v>
                  </c:pt>
                  <c:pt idx="5">
                    <c:v>Mar 20</c:v>
                  </c:pt>
                  <c:pt idx="6">
                    <c:v>Sep 20</c:v>
                  </c:pt>
                  <c:pt idx="7">
                    <c:v>Mar 21</c:v>
                  </c:pt>
                  <c:pt idx="8">
                    <c:v>Sep 21</c:v>
                  </c:pt>
                  <c:pt idx="9">
                    <c:v>Mar 22</c:v>
                  </c:pt>
                  <c:pt idx="10">
                    <c:v>Sep 22</c:v>
                  </c:pt>
                  <c:pt idx="11">
                    <c:v>Mar 23</c:v>
                  </c:pt>
                  <c:pt idx="12">
                    <c:v>Sep 23</c:v>
                  </c:pt>
                  <c:pt idx="13">
                    <c:v>Mar 24</c:v>
                  </c:pt>
                  <c:pt idx="14">
                    <c:v>Sep 24</c:v>
                  </c:pt>
                  <c:pt idx="15">
                    <c:v>Mar 25</c:v>
                  </c:pt>
                  <c:pt idx="16">
                    <c:v>Sep 25</c:v>
                  </c:pt>
                  <c:pt idx="17">
                    <c:v>Mar 26</c:v>
                  </c:pt>
                </c:lvl>
              </c:multiLvlStrCache>
            </c:multiLvlStrRef>
          </c:cat>
          <c:val>
            <c:numRef>
              <c:f>Sheet1!$B$2:$B$19</c:f>
              <c:numCache>
                <c:formatCode>General</c:formatCode>
                <c:ptCount val="18"/>
                <c:pt idx="0">
                  <c:v>8.6</c:v>
                </c:pt>
                <c:pt idx="1">
                  <c:v>8.9</c:v>
                </c:pt>
                <c:pt idx="2">
                  <c:v>9.3</c:v>
                </c:pt>
                <c:pt idx="3">
                  <c:v>8.7</c:v>
                </c:pt>
                <c:pt idx="4">
                  <c:v>9.5</c:v>
                </c:pt>
                <c:pt idx="5">
                  <c:v>9</c:v>
                </c:pt>
                <c:pt idx="6">
                  <c:v>9.6</c:v>
                </c:pt>
                <c:pt idx="7">
                  <c:v>9.4</c:v>
                </c:pt>
                <c:pt idx="8">
                  <c:v>11.1</c:v>
                </c:pt>
                <c:pt idx="9">
                  <c:v>10.7</c:v>
                </c:pt>
                <c:pt idx="10">
                  <c:v>11.6</c:v>
                </c:pt>
                <c:pt idx="11">
                  <c:v>11.6</c:v>
                </c:pt>
                <c:pt idx="12">
                  <c:v>12.8</c:v>
                </c:pt>
                <c:pt idx="13">
                  <c:v>11.3</c:v>
                </c:pt>
                <c:pt idx="14">
                  <c:v>7.5</c:v>
                </c:pt>
                <c:pt idx="15">
                  <c:v>7.2</c:v>
                </c:pt>
                <c:pt idx="16">
                  <c:v>7.2</c:v>
                </c:pt>
                <c:pt idx="17">
                  <c:v>7</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6350" cap="flat">
              <a:solidFill>
                <a:srgbClr val="DDE1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History Risk Band, % of each group (Sep 2026)</a:t>
            </a:r>
          </a:p>
        </c:rich>
      </c:tx>
      <c:layout/>
      <c:overlay val="0"/>
    </c:title>
    <c:autoTitleDeleted val="0"/>
    <c:plotArea>
      <c:layout/>
      <c:barChart>
        <c:barDir val="col"/>
        <c:grouping val="clustered"/>
        <c:varyColors val="0"/>
        <c:ser>
          <c:idx val="0"/>
          <c:order val="0"/>
          <c:tx>
            <c:strRef>
              <c:f>Sheet1!$B$1</c:f>
              <c:strCache>
                <c:ptCount val="1"/>
                <c:pt idx="0">
                  <c:v>AEO members</c:v>
                </c:pt>
              </c:strCache>
            </c:strRef>
          </c:tx>
          <c:spPr>
            <a:solidFill>
              <a:srgbClr val="B88A00"/>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VERY LOW</c:v>
                  </c:pt>
                  <c:pt idx="1">
                    <c:v>LOW</c:v>
                  </c:pt>
                  <c:pt idx="2">
                    <c:v>MEDIUM</c:v>
                  </c:pt>
                  <c:pt idx="3">
                    <c:v>HIGH</c:v>
                  </c:pt>
                  <c:pt idx="4">
                    <c:v>VERY HIGH</c:v>
                  </c:pt>
                </c:lvl>
              </c:multiLvlStrCache>
            </c:multiLvlStrRef>
          </c:cat>
          <c:val>
            <c:numRef>
              <c:f>Sheet1!$B$2:$B$6</c:f>
              <c:numCache>
                <c:formatCode>General</c:formatCode>
                <c:ptCount val="5"/>
                <c:pt idx="0">
                  <c:v>87.2</c:v>
                </c:pt>
                <c:pt idx="1">
                  <c:v>11.1</c:v>
                </c:pt>
                <c:pt idx="2">
                  <c:v>1.3</c:v>
                </c:pt>
                <c:pt idx="3">
                  <c:v>0.3</c:v>
                </c:pt>
                <c:pt idx="4">
                  <c:v>0</c:v>
                </c:pt>
              </c:numCache>
            </c:numRef>
          </c:val>
        </c:ser>
        <c:ser>
          <c:idx val="1"/>
          <c:order val="1"/>
          <c:tx>
            <c:strRef>
              <c:f>Sheet1!$C$1</c:f>
              <c:strCache>
                <c:ptCount val="1"/>
                <c:pt idx="0">
                  <c:v>Other taxpayers</c:v>
                </c:pt>
              </c:strCache>
            </c:strRef>
          </c:tx>
          <c:spPr>
            <a:solidFill>
              <a:srgbClr val="6B7785"/>
            </a:solidFill>
            <a:effectLst/>
          </c:spPr>
          <c:invertIfNegative val="0"/>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Sheet1!$A$2:$A$6</c:f>
              <c:multiLvlStrCache>
                <c:ptCount val="5"/>
                <c:lvl>
                  <c:pt idx="0">
                    <c:v>VERY LOW</c:v>
                  </c:pt>
                  <c:pt idx="1">
                    <c:v>LOW</c:v>
                  </c:pt>
                  <c:pt idx="2">
                    <c:v>MEDIUM</c:v>
                  </c:pt>
                  <c:pt idx="3">
                    <c:v>HIGH</c:v>
                  </c:pt>
                  <c:pt idx="4">
                    <c:v>VERY HIGH</c:v>
                  </c:pt>
                </c:lvl>
              </c:multiLvlStrCache>
            </c:multiLvlStrRef>
          </c:cat>
          <c:val>
            <c:numRef>
              <c:f>Sheet1!$C$2:$C$6</c:f>
              <c:numCache>
                <c:formatCode>General</c:formatCode>
                <c:ptCount val="5"/>
                <c:pt idx="0">
                  <c:v>81.4</c:v>
                </c:pt>
                <c:pt idx="1">
                  <c:v>14.4</c:v>
                </c:pt>
                <c:pt idx="2">
                  <c:v>2.3</c:v>
                </c:pt>
                <c:pt idx="3">
                  <c:v>1.5</c:v>
                </c:pt>
                <c:pt idx="4">
                  <c:v>0.4</c:v>
                </c:pt>
              </c:numCache>
            </c:numRef>
          </c:val>
        </c:ser>
        <c:dLbls>
          <c:numFmt formatCode="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DE1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Regular traders</c:v>
                </c:pt>
              </c:strCache>
            </c:strRef>
          </c:tx>
          <c:spPr>
            <a:solidFill>
              <a:srgbClr val="1F4FD8"/>
            </a:solidFill>
            <a:effectLst/>
          </c:spPr>
          <c:invertIfNegative val="0"/>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Sheet1!$A$2:$A$10</c:f>
              <c:multiLvlStrCache>
                <c:ptCount val="9"/>
                <c:lvl>
                  <c:pt idx="0">
                    <c:v>Clearing away from the main station</c:v>
                  </c:pt>
                  <c:pt idx="1">
                    <c:v>Many different kinds of goods per declaration</c:v>
                  </c:pt>
                  <c:pt idx="2">
                    <c:v>Items priced below half the benchmark</c:v>
                  </c:pt>
                  <c:pt idx="3">
                    <c:v>Value below the HS benchmark</c:v>
                  </c:pt>
                  <c:pt idx="4">
                    <c:v>Preferential treatment claimed</c:v>
                  </c:pt>
                  <c:pt idx="5">
                    <c:v>Tax left unpaid</c:v>
                  </c:pt>
                  <c:pt idx="6">
                    <c:v>Declarations amended</c:v>
                  </c:pt>
                  <c:pt idx="7">
                    <c:v>Prices so low they look like keying errors</c:v>
                  </c:pt>
                  <c:pt idx="8">
                    <c:v>Sudden rise in declarations</c:v>
                  </c:pt>
                </c:lvl>
              </c:multiLvlStrCache>
            </c:multiLvlStrRef>
          </c:cat>
          <c:val>
            <c:numRef>
              <c:f>Sheet1!$B$2:$B$10</c:f>
              <c:numCache>
                <c:formatCode>General</c:formatCode>
                <c:ptCount val="9"/>
                <c:pt idx="0">
                  <c:v>0.579</c:v>
                </c:pt>
                <c:pt idx="1">
                  <c:v>0.577</c:v>
                </c:pt>
                <c:pt idx="2">
                  <c:v>0.54</c:v>
                </c:pt>
                <c:pt idx="3">
                  <c:v>0.54</c:v>
                </c:pt>
                <c:pt idx="4">
                  <c:v>0.509</c:v>
                </c:pt>
                <c:pt idx="5">
                  <c:v>0.507</c:v>
                </c:pt>
                <c:pt idx="6">
                  <c:v>0.504</c:v>
                </c:pt>
                <c:pt idx="7">
                  <c:v>0.489</c:v>
                </c:pt>
                <c:pt idx="8">
                  <c:v>0.468</c:v>
                </c:pt>
              </c:numCache>
            </c:numRef>
          </c:val>
        </c:ser>
        <c:ser>
          <c:idx val="1"/>
          <c:order val="1"/>
          <c:tx>
            <c:strRef>
              <c:f>Sheet1!$C$1</c:f>
              <c:strCache>
                <c:ptCount val="1"/>
                <c:pt idx="0">
                  <c:v>Small traders</c:v>
                </c:pt>
              </c:strCache>
            </c:strRef>
          </c:tx>
          <c:spPr>
            <a:solidFill>
              <a:srgbClr val="B88A00"/>
            </a:solidFill>
            <a:effectLst/>
          </c:spPr>
          <c:invertIfNegative val="0"/>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Sheet1!$A$2:$A$10</c:f>
              <c:multiLvlStrCache>
                <c:ptCount val="9"/>
                <c:lvl>
                  <c:pt idx="0">
                    <c:v>Clearing away from the main station</c:v>
                  </c:pt>
                  <c:pt idx="1">
                    <c:v>Many different kinds of goods per declaration</c:v>
                  </c:pt>
                  <c:pt idx="2">
                    <c:v>Items priced below half the benchmark</c:v>
                  </c:pt>
                  <c:pt idx="3">
                    <c:v>Value below the HS benchmark</c:v>
                  </c:pt>
                  <c:pt idx="4">
                    <c:v>Preferential treatment claimed</c:v>
                  </c:pt>
                  <c:pt idx="5">
                    <c:v>Tax left unpaid</c:v>
                  </c:pt>
                  <c:pt idx="6">
                    <c:v>Declarations amended</c:v>
                  </c:pt>
                  <c:pt idx="7">
                    <c:v>Prices so low they look like keying errors</c:v>
                  </c:pt>
                  <c:pt idx="8">
                    <c:v>Sudden rise in declarations</c:v>
                  </c:pt>
                </c:lvl>
              </c:multiLvlStrCache>
            </c:multiLvlStrRef>
          </c:cat>
          <c:val>
            <c:numRef>
              <c:f>Sheet1!$C$2:$C$10</c:f>
              <c:numCache>
                <c:formatCode>General</c:formatCode>
                <c:ptCount val="9"/>
                <c:pt idx="0">
                  <c:v>0.502</c:v>
                </c:pt>
                <c:pt idx="1">
                  <c:v>0.568</c:v>
                </c:pt>
                <c:pt idx="2">
                  <c:v>0.557</c:v>
                </c:pt>
                <c:pt idx="3">
                  <c:v>0.559</c:v>
                </c:pt>
                <c:pt idx="4">
                  <c:v>0.514</c:v>
                </c:pt>
                <c:pt idx="5">
                  <c:v>0.489</c:v>
                </c:pt>
                <c:pt idx="6">
                  <c:v>0.527</c:v>
                </c:pt>
                <c:pt idx="7">
                  <c:v>0.52</c:v>
                </c:pt>
                <c:pt idx="8">
                  <c:v>0.469</c:v>
                </c:pt>
              </c:numCache>
            </c:numRef>
          </c:val>
        </c:ser>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ax val="0.62"/>
          <c:min val="0.4"/>
        </c:scaling>
        <c:delete val="0"/>
        <c:axPos val="b"/>
        <c:majorGridlines>
          <c:spPr>
            <a:ln w="6350" cap="flat">
              <a:solidFill>
                <a:srgbClr val="DDE1E6"/>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AUC per check, taxpayers with no top-up history (5 dates)</a:t>
            </a:r>
          </a:p>
        </c:rich>
      </c:tx>
      <c:layout/>
      <c:overlay val="0"/>
    </c:title>
    <c:autoTitleDeleted val="0"/>
    <c:plotArea>
      <c:layout/>
      <c:barChart>
        <c:barDir val="col"/>
        <c:grouping val="clustered"/>
        <c:varyColors val="0"/>
        <c:ser>
          <c:idx val="0"/>
          <c:order val="0"/>
          <c:tx>
            <c:strRef>
              <c:f>Sheet1!$B$1</c:f>
              <c:strCache>
                <c:ptCount val="1"/>
                <c:pt idx="0">
                  <c:v>Track B (monotone boosting)</c:v>
                </c:pt>
              </c:strCache>
            </c:strRef>
          </c:tx>
          <c:spPr>
            <a:solidFill>
              <a:srgbClr val="1F4FD8"/>
            </a:solidFill>
            <a:effectLst/>
          </c:spPr>
          <c:invertIfNegative val="0"/>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Regular traders</c:v>
                  </c:pt>
                  <c:pt idx="1">
                    <c:v>Small traders</c:v>
                  </c:pt>
                </c:lvl>
              </c:multiLvlStrCache>
            </c:multiLvlStrRef>
          </c:cat>
          <c:val>
            <c:numRef>
              <c:f>Sheet1!$B$2:$B$3</c:f>
              <c:numCache>
                <c:formatCode>General</c:formatCode>
                <c:ptCount val="2"/>
                <c:pt idx="0">
                  <c:v>0.605</c:v>
                </c:pt>
                <c:pt idx="1">
                  <c:v>0.583</c:v>
                </c:pt>
              </c:numCache>
            </c:numRef>
          </c:val>
        </c:ser>
        <c:ser>
          <c:idx val="1"/>
          <c:order val="1"/>
          <c:tx>
            <c:strRef>
              <c:f>Sheet1!$C$1</c:f>
              <c:strCache>
                <c:ptCount val="1"/>
                <c:pt idx="0">
                  <c:v>Track A on the same taxpayers</c:v>
                </c:pt>
              </c:strCache>
            </c:strRef>
          </c:tx>
          <c:spPr>
            <a:solidFill>
              <a:srgbClr val="B88A00"/>
            </a:solidFill>
            <a:effectLst/>
          </c:spPr>
          <c:invertIfNegative val="0"/>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Regular traders</c:v>
                  </c:pt>
                  <c:pt idx="1">
                    <c:v>Small traders</c:v>
                  </c:pt>
                </c:lvl>
              </c:multiLvlStrCache>
            </c:multiLvlStrRef>
          </c:cat>
          <c:val>
            <c:numRef>
              <c:f>Sheet1!$C$2:$C$3</c:f>
              <c:numCache>
                <c:formatCode>General</c:formatCode>
                <c:ptCount val="2"/>
                <c:pt idx="0">
                  <c:v>0.557</c:v>
                </c:pt>
                <c:pt idx="1">
                  <c:v>0.536</c:v>
                </c:pt>
              </c:numCache>
            </c:numRef>
          </c:val>
        </c:ser>
        <c:ser>
          <c:idx val="2"/>
          <c:order val="2"/>
          <c:tx>
            <c:strRef>
              <c:f>Sheet1!$D$1</c:f>
              <c:strCache>
                <c:ptCount val="1"/>
                <c:pt idx="0">
                  <c:v>Chance</c:v>
                </c:pt>
              </c:strCache>
            </c:strRef>
          </c:tx>
          <c:spPr>
            <a:solidFill>
              <a:srgbClr val="B8C0CA"/>
            </a:solidFill>
            <a:effectLst/>
          </c:spPr>
          <c:invertIfNegative val="0"/>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cat>
            <c:multiLvlStrRef>
              <c:f>Sheet1!$A$2:$A$3</c:f>
              <c:multiLvlStrCache>
                <c:ptCount val="2"/>
                <c:lvl>
                  <c:pt idx="0">
                    <c:v>Regular traders</c:v>
                  </c:pt>
                  <c:pt idx="1">
                    <c:v>Small traders</c:v>
                  </c:pt>
                </c:lvl>
              </c:multiLvlStrCache>
            </c:multiLvlStrRef>
          </c:cat>
          <c:val>
            <c:numRef>
              <c:f>Sheet1!$D$2:$D$3</c:f>
              <c:numCache>
                <c:formatCode>General</c:formatCode>
                <c:ptCount val="2"/>
                <c:pt idx="0">
                  <c:v>0.5</c:v>
                </c:pt>
                <c:pt idx="1">
                  <c:v>0.5</c:v>
                </c:pt>
              </c:numCache>
            </c:numRef>
          </c:val>
        </c:ser>
        <c:dLbls>
          <c:numFmt formatCode="0.00"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6B7785"/>
                </a:solidFill>
                <a:latin typeface="+mn-lt"/>
              </a:defRPr>
            </a:pPr>
            <a:endParaRPr lang="en-US"/>
          </a:p>
        </c:txPr>
        <c:crossAx val="2094734552"/>
        <c:crosses val="autoZero"/>
        <c:auto val="1"/>
        <c:lblAlgn val="ctr"/>
        <c:noMultiLvlLbl val="1"/>
      </c:catAx>
      <c:valAx>
        <c:axId val="2094734552"/>
        <c:scaling>
          <c:orientation val="minMax"/>
          <c:max val="0.66"/>
          <c:min val="0.4"/>
        </c:scaling>
        <c:delete val="0"/>
        <c:axPos val="l"/>
        <c:majorGridlines>
          <c:spPr>
            <a:ln w="6350" cap="flat">
              <a:solidFill>
                <a:srgbClr val="DDE1E6"/>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7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session: walk through how the agreed risk parameters became features, what the data told us (EDA), how each feature contributes, both tracks of the model, how we measure success and why, and how each decision was formed. Every number on these slides comes from the project code and is recorded in the decision log (99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summary. Track A is the scorecard on compliance history. Track B looks at trading behaviour for taxpayers with no history. Validated on 18 dates over nine years with the main measure, AUC per check. The bands work: VERY HIGH checks find something 45% of the time, VERY LOW 3%. Track B is promising but not yet proven; the blind review will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Roughly 90 minutes plus questions. The heart of it is parts 2 to 4: features and EDA, as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began as a way to find low-risk taxpayers for the AEO programme. It widened to risk profiling of the whole IM4 and IM7 base: an honest, consistent profile that follows each taxpayer over time, and later feeds the Entry and Agent risk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 the statistics into the mission. Checks are expensive: officer time and delays for compliant traders. A ranking that puts the riskiest first means each check finds more, so more revenue per officer hour, while the large compliant majority can be facilitated. Consistency and written reasons support fairness and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Scores sheet columns. The Overall Risk Band is what officers act on; it is the higher of the History Risk Band and the Risk Behaviour Flag (capped at HIGH until Track B is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Engineering built the view for this project. One row per declaration item. We score IM4 (home use) and IM7 (warehousing): other regimes carry guarantees or suspended amounts, not duty paid. The data before September 2014 is a start-up period and a suspect bump, so validation starts from Sep 2017 with three years of history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rule came from a query in the EDA stage (decisions 1 to 18). The two that matter most: duplicated item rows (up to 522 copies) would have inflated every count, and the top_up_amt column turned out to hold the final tax, not the top-up, so the top-up is computed as final minus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EDA finding. 87% of taxpayers have fewer than 10 declarations in 24 months. A rate on 2 declarations swings from 0% to 50% on one event, so before any fix they filled 84% of the HIGH band. Credibility weighting pulls a small-count rate towards the average, and only ever down, so clean small traders are not given risk they never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Hue drops a query after about 30 minutes and cuts downloads at 100,000 rows. One date of the full feature query takes about 30 minutes. So: split queries (5 parts per date) and a long run of additive half-year counts in 12 one-year pieces. Zeppelin would do all of this in one run but is blocked on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 20 was dropped by choice. The 11 blocked ones need data that is not in the view: earlier versions of a declaration, boxes 45 and 46, penalties, agent TIN. They are listed so the DE request is precise when the time 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officer parameter was turned into a measurable rate over the history window, then a 0 to 1 scale between a minimum risk level (0 points below) and a maximum (full points at or above). Weight is likelihood times impact over the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engineering decisions people ask about. PAR_045T: the officers' 10% maximum gave 35% of regular traders full points, so the scale stopped ranking; 40% keeps it ranking and the minimum risk level stays at their 3%. PAR_048 over original tax exploded on tiny denominators (UGX 29 original tax gave a ratio of 4,399).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in order. Points are additive and every point can be traced to a parameter and a reason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AUC per check of each feature on its own (0.5 = chance) over six dates. Right: share of all points among taxpayers at HIGH and above. The top-up share and amendments are strong alone; the top-up share, severe top-ups and amendments carry 91% of the points that put taxpayers in HIGH and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Ablation: remove one parameter, rescore, measure AUC per check. Only the top-up share costs meaningfully (0.019). The small five barely move the score against top-ups; that does not make them useless, because top-ups are the only outcome we can see. They cover undervaluation, reductions and movement that top-ups cannot measure. Their weights are for the officers to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groups: HDBSCAN clustering left 77% of regular traders without a group because trade is a smooth continuum, so we use main goods (HS section) by size tier: 48 named groups. The pattern check (Isolation Forest) lowered lift at every cut-off when given points, so it is a note with no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misleading here: only about 9% of checks find a top-up, so a model that says nothing is found is right 91% of the time and useless. Per taxpayer measures reward being checked often. So the main measure is AUC per check, with money beside it, and precision and recall at the lines officers use. This mirrors the officers' own measures: accuracy of checks and additional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dates pooled, per check. VERY HIGH checks found a top-up 45% of the time, VERY LOW 3%. VERY HIGH is 2% of taxpayers but 23% of hits and 37% of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and recall only mean something at a line. With everyone above the line recall is 100% and precision is the average 9%. HIGH and above is the line to quote: 8% of taxpayers, 40% of checks finding something, half of all hits and 55% of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A scored at 18 dates from Sep 2017 to Mar 2026, each judged on the next 6 months. AUC per check 0.74 to 0.86. The one dip (Sep 2024 to Sep 2025) coincides with the hit rate of all checks falling from 11-13% to 7% after March 2024: checks in general started finding less. That is the question for the Risk Officers.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how many years of history to use and how to weight them, on all 18 dates. Halving was the only option better than the old two-year rule on every date. Five years added nothing measurable and needs heavier queries. Adopted as model version 1.0.0-dev5.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Sensitivity: moving any weight by 50% either way keeps 95 to 98% of the same top 5%, so the list does not rest on one judgement. Challengers: learned models gained a little lift but follow past selectivity and are harder to explain; boosting on top of the scorecard is the round 2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never told who is AEO. 298 current AEO members (flag Y in the last 12 months). 87% land in VERY LOW against 81% of others; one at HIGH and none at VERY HIGH. In the 6 months after Mar 2026, checks on AEO members found a top-up 1.7% of the time against 7.3%. Kept as a check, not a score input, because AEO status is a customs decision and AEO members are checked 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A can only score what customs already found. 69% of taxpayers have no top-up history, and about half of all hits come from taxpayers below HIGH. An importer who undervalues and has never been caught scores zero on Track A. Track B looks at how they trade, using nothing customs did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Seventeen features in four families. The version 2 features (marked) exist on one full date so far; the model trains on the features every date has, so v2 features join once older dates are re-pulled in the new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 per check of each feature alone, within taxpayers with no top-up history, over 7 dates. Station spread, goods spread and the price benchmark carry the most; sudden rises point the wrong way. Against top-ups every signal is modest, as expected: top-ups only show the part of Track B's target customs already catches.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test dates, Mar 2024 to Mar 2026, each trained only on earlier dates. Monotone boosting is the production Track B model. A real but modest signal against top-ups; consistent. The decisive test is the blind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506 of the 510 live flags have "many different kinds of goods per declaration" as their first reason, and the median flagged taxpayer has 1 declaration. The flag is dominated by one feature on one-declaration traders. It needs fixing before Track B goes live: cap any one feature's share of the score, require at least two independent signals, and train on the version 2 features once all dates have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flagged taxpayers the workbook lists the entries priced furthest below other importers of the same line and origin, with entry number and station. The blind review mixes 25 flagged with 25 unflagged taxpayers under codes R01 to R50; officers judge without knowing which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choice had to pass the same bar: tested out of time, measured per check with money beside it, compared against a simple baseline and against the alternatives, recorded with its evidence. 99 decisions so far, each reproducible from the code. The settings fingerprint on every output ties a score to the exact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in stages. Stages 1 to 6 built and tested Track A; round 2 added Track B, the long run, the measurement change and recency.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clear about limits is part of the evidence. These are the questions a reviewer will ask; each has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lists: what Data Science will do, and what we need from others. The asks for Stella are in the right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Pre-run before the meeting so outputs exist; in the meeting run the scoring command live (about 2 minutes) and open the workbook. Avoid the long-run performance command (over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precise data each blocked parameter needs, for a future DE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Averages over four out-of-time tests (Sep 2024 to Mar 2026), lift at the top 5%; better/worse = 90% paired bootstrap interval excludes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 src/ctrp/core.py; the fingerprint on every output changes when any of these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5440680"/>
            <a:ext cx="9509760" cy="640080"/>
          </a:xfrm>
          <a:prstGeom prst="rect">
            <a:avLst/>
          </a:prstGeom>
          <a:noFill/>
          <a:ln/>
        </p:spPr>
        <p:txBody>
          <a:bodyPr wrap="square" rtlCol="0"/>
          <a:lstStyle>
            <a:lvl1pPr algn="l" indent="0" marL="0">
              <a:buNone/>
              <a:defRPr lang="en-US" sz="2800" b="1" dirty="0">
                <a:solidFill>
                  <a:srgbClr val="FFFFFF"/>
                </a:solidFill>
                <a:latin typeface="Bookman Old Style" pitchFamily="34" charset="0"/>
                <a:ea typeface="Bookman Old Style" pitchFamily="34" charset="-122"/>
                <a:cs typeface="Bookman Old Style" pitchFamily="34" charset="-120"/>
              </a:defRPr>
            </a:lvl1pPr>
          </a:lstStyle>
          <a:p>
            <a:pPr algn="l" indent="0" marL="0">
              <a:buNone/>
            </a:pPr>
            <a:endParaRPr lang="en-US" sz="2800" dirty="0"/>
          </a:p>
        </p:txBody>
      </p:sp>
      <p:sp>
        <p:nvSpPr>
          <p:cNvPr id="3" name="Text 0"/>
          <p:cNvSpPr/>
          <p:nvPr>
            <p:ph idx="101" type="body" hasCustomPrompt="1"/>
          </p:nvPr>
        </p:nvSpPr>
        <p:spPr>
          <a:xfrm>
            <a:off x="822960" y="6053328"/>
            <a:ext cx="9509760" cy="685800"/>
          </a:xfrm>
          <a:prstGeom prst="rect">
            <a:avLst/>
          </a:prstGeom>
          <a:noFill/>
          <a:ln/>
        </p:spPr>
        <p:txBody>
          <a:bodyPr wrap="square" rtlCol="0"/>
          <a:lstStyle>
            <a:lvl1pPr indent="0" marL="0">
              <a:buNone/>
              <a:defRPr lang="en-US" sz="1500" dirty="0">
                <a:solidFill>
                  <a:srgbClr val="FFFFFF"/>
                </a:solidFill>
                <a:latin typeface="Calibri" pitchFamily="34" charset="0"/>
                <a:ea typeface="Calibri" pitchFamily="34" charset="-122"/>
                <a:cs typeface="Calibri" pitchFamily="34" charset="-120"/>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2331720"/>
            <a:ext cx="10058400" cy="1463040"/>
          </a:xfrm>
          <a:prstGeom prst="rect">
            <a:avLst/>
          </a:prstGeom>
          <a:solidFill>
            <a:srgbClr val="0D3FFE"/>
          </a:solidFill>
          <a:ln w="12700">
            <a:solidFill>
              <a:srgbClr val="0D3FFE"/>
            </a:solidFill>
            <a:prstDash val="solid"/>
          </a:ln>
        </p:spPr>
      </p:sp>
      <p:sp>
        <p:nvSpPr>
          <p:cNvPr id="3" name="Shape 1"/>
          <p:cNvSpPr/>
          <p:nvPr/>
        </p:nvSpPr>
        <p:spPr>
          <a:xfrm>
            <a:off x="0" y="3794760"/>
            <a:ext cx="10058400" cy="73152"/>
          </a:xfrm>
          <a:prstGeom prst="rect">
            <a:avLst/>
          </a:prstGeom>
          <a:solidFill>
            <a:srgbClr val="FFE600"/>
          </a:solidFill>
          <a:ln w="12700">
            <a:solidFill>
              <a:srgbClr val="FFE600"/>
            </a:solidFill>
            <a:prstDash val="solid"/>
          </a:ln>
        </p:spPr>
      </p:sp>
      <p:sp>
        <p:nvSpPr>
          <p:cNvPr id="4" name="Text 2"/>
          <p:cNvSpPr/>
          <p:nvPr>
            <p:ph idx="102" type="title" hasCustomPrompt="1"/>
          </p:nvPr>
        </p:nvSpPr>
        <p:spPr>
          <a:xfrm>
            <a:off x="731520" y="2468880"/>
            <a:ext cx="9144000" cy="1188720"/>
          </a:xfrm>
          <a:prstGeom prst="rect">
            <a:avLst/>
          </a:prstGeom>
          <a:noFill/>
          <a:ln/>
        </p:spPr>
        <p:txBody>
          <a:bodyPr wrap="square" rtlCol="0"/>
          <a:lstStyle>
            <a:lvl1pPr algn="l" indent="0" marL="0">
              <a:buNone/>
              <a:defRPr lang="en-US" sz="3400" b="1" dirty="0">
                <a:solidFill>
                  <a:srgbClr val="FFFFFF"/>
                </a:solidFill>
                <a:latin typeface="Bookman Old Style" pitchFamily="34" charset="0"/>
                <a:ea typeface="Bookman Old Style" pitchFamily="34" charset="-122"/>
                <a:cs typeface="Bookman Old Style" pitchFamily="34" charset="-120"/>
              </a:defRPr>
            </a:lvl1pPr>
          </a:lstStyle>
          <a:p>
            <a:pPr algn="l" indent="0" marL="0">
              <a:buNone/>
            </a:pPr>
            <a:endParaRPr lang="en-US" sz="3400" dirty="0"/>
          </a:p>
        </p:txBody>
      </p:sp>
      <p:sp>
        <p:nvSpPr>
          <p:cNvPr id="5" name="Text 2"/>
          <p:cNvSpPr/>
          <p:nvPr>
            <p:ph idx="103" type="body" hasCustomPrompt="1"/>
          </p:nvPr>
        </p:nvSpPr>
        <p:spPr>
          <a:xfrm>
            <a:off x="731520" y="4069080"/>
            <a:ext cx="9144000" cy="914400"/>
          </a:xfrm>
          <a:prstGeom prst="rect">
            <a:avLst/>
          </a:prstGeom>
          <a:noFill/>
          <a:ln/>
        </p:spPr>
        <p:txBody>
          <a:bodyPr wrap="square" rtlCol="0"/>
          <a:lstStyle>
            <a:lvl1pPr indent="0" marL="0">
              <a:buNone/>
              <a:defRPr lang="en-US" sz="1800" dirty="0">
                <a:solidFill>
                  <a:srgbClr val="102A83"/>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6" name="Text 2"/>
          <p:cNvSpPr/>
          <p:nvPr/>
        </p:nvSpPr>
        <p:spPr>
          <a:xfrm>
            <a:off x="457200" y="6620256"/>
            <a:ext cx="7315200" cy="219456"/>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CTRP progress review  |  Data Science, ITID  |  15 October 2026</a:t>
            </a:r>
            <a:endParaRPr lang="en-US" sz="90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lstStyle>
            <a:lvl1pPr algn="l" indent="0" marL="0">
              <a:buNone/>
              <a:defRPr lang="en-US" sz="2400" b="1" dirty="0">
                <a:solidFill>
                  <a:srgbClr val="102A83"/>
                </a:solidFill>
                <a:latin typeface="Calibri" pitchFamily="34" charset="0"/>
                <a:ea typeface="Calibri" pitchFamily="34" charset="-122"/>
                <a:cs typeface="Calibri" pitchFamily="34" charset="-120"/>
              </a:defRPr>
            </a:lvl1pPr>
          </a:lstStyle>
          <a:p>
            <a:pPr algn="l" indent="0" marL="0">
              <a:buNone/>
            </a:pPr>
            <a:endParaRPr lang="en-US" sz="2400" dirty="0"/>
          </a:p>
        </p:txBody>
      </p:sp>
      <p:sp>
        <p:nvSpPr>
          <p:cNvPr id="3" name="Text 0"/>
          <p:cNvSpPr/>
          <p:nvPr/>
        </p:nvSpPr>
        <p:spPr>
          <a:xfrm>
            <a:off x="457200" y="6620256"/>
            <a:ext cx="7315200" cy="219456"/>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CTRP progress review  |  Data Science, ITID  |  15 October 2026</a:t>
            </a:r>
            <a:endParaRPr lang="en-US" sz="90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5440680"/>
            <a:ext cx="9509760" cy="640080"/>
          </a:xfrm>
          <a:prstGeom prst="rect">
            <a:avLst/>
          </a:prstGeom>
          <a:noFill/>
          <a:ln/>
        </p:spPr>
        <p:txBody>
          <a:bodyPr wrap="square" rtlCol="0" anchor="ctr"/>
          <a:lstStyle/>
          <a:p>
            <a:pPr algn="l" indent="0" marL="0">
              <a:buNone/>
            </a:pPr>
            <a:r>
              <a:rPr lang="en-US" sz="2800" b="1" dirty="0">
                <a:solidFill>
                  <a:srgbClr val="FFFFFF"/>
                </a:solidFill>
                <a:latin typeface="Bookman Old Style" pitchFamily="34" charset="0"/>
                <a:ea typeface="Bookman Old Style" pitchFamily="34" charset="-122"/>
                <a:cs typeface="Bookman Old Style" pitchFamily="34" charset="-120"/>
              </a:rPr>
              <a:t>Customs Taxpayer Risk Profiling Model</a:t>
            </a:r>
            <a:endParaRPr lang="en-US" sz="2800" dirty="0"/>
          </a:p>
        </p:txBody>
      </p:sp>
      <p:sp>
        <p:nvSpPr>
          <p:cNvPr id="3" name="Text 0"/>
          <p:cNvSpPr/>
          <p:nvPr>
            <p:ph idx="101" type="body" hasCustomPrompt="1"/>
          </p:nvPr>
        </p:nvSpPr>
        <p:spPr>
          <a:xfrm>
            <a:off x="822960" y="6053328"/>
            <a:ext cx="9509760" cy="685800"/>
          </a:xfrm>
          <a:prstGeom prst="rect">
            <a:avLst/>
          </a:prstGeom>
          <a:noFill/>
          <a:ln/>
        </p:spPr>
        <p:txBody>
          <a:bodyPr wrap="square" rtlCol="0" anchor="t"/>
          <a:lstStyle/>
          <a:p>
            <a:pPr indent="0" marL="0">
              <a:buNone/>
            </a:pPr>
            <a:r>
              <a:rPr lang="en-US" sz="1500" dirty="0">
                <a:solidFill>
                  <a:srgbClr val="FFFFFF"/>
                </a:solidFill>
                <a:latin typeface="Calibri" pitchFamily="34" charset="0"/>
                <a:ea typeface="Calibri" pitchFamily="34" charset="-122"/>
                <a:cs typeface="Calibri" pitchFamily="34" charset="-120"/>
              </a:rPr>
              <a:t>Progress review: features, evidence and decisions</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Data Science Section, ITID  |  15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The model in one slide</a:t>
            </a:r>
            <a:endParaRPr lang="en-US" sz="2400" dirty="0"/>
          </a:p>
        </p:txBody>
      </p:sp>
      <p:sp>
        <p:nvSpPr>
          <p:cNvPr id="4" name="Text 1"/>
          <p:cNvSpPr txBox="1"/>
          <p:nvPr/>
        </p:nvSpPr>
        <p:spPr>
          <a:xfrm>
            <a:off x="457200" y="1283578"/>
            <a:ext cx="2274664" cy="933628"/>
          </a:xfrm>
          <a:prstGeom prst="rect">
            <a:avLst/>
          </a:prstGeom>
          <a:noFill/>
          <a:ln/>
        </p:spPr>
        <p:txBody>
          <a:bodyPr wrap="square" lIns="0" tIns="0" rIns="0" bIns="0" rtlCol="0" anchor="b"/>
          <a:lstStyle/>
          <a:p>
            <a:pPr indent="0" marL="0">
              <a:buNone/>
            </a:pPr>
            <a:r>
              <a:rPr lang="en-US" sz="4200" b="1" dirty="0">
                <a:solidFill>
                  <a:srgbClr val="1F4FD8"/>
                </a:solidFill>
                <a:latin typeface="Calibri" pitchFamily="34" charset="0"/>
                <a:ea typeface="Calibri" pitchFamily="34" charset="-122"/>
                <a:cs typeface="Calibri" pitchFamily="34" charset="-120"/>
              </a:rPr>
              <a:t>57,501</a:t>
            </a:r>
            <a:endParaRPr lang="en-US" sz="4200" dirty="0"/>
          </a:p>
        </p:txBody>
      </p:sp>
      <p:sp>
        <p:nvSpPr>
          <p:cNvPr id="5" name="Text 2"/>
          <p:cNvSpPr txBox="1"/>
          <p:nvPr/>
        </p:nvSpPr>
        <p:spPr>
          <a:xfrm>
            <a:off x="457200" y="2266345"/>
            <a:ext cx="2274664"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IM4 and IM7 taxpayers scored every run, each with written reasons</a:t>
            </a:r>
            <a:endParaRPr lang="en-US" sz="1450" dirty="0"/>
          </a:p>
        </p:txBody>
      </p:sp>
      <p:sp>
        <p:nvSpPr>
          <p:cNvPr id="6" name="Text 3"/>
          <p:cNvSpPr txBox="1"/>
          <p:nvPr/>
        </p:nvSpPr>
        <p:spPr>
          <a:xfrm>
            <a:off x="2934960" y="1283578"/>
            <a:ext cx="2274664" cy="933628"/>
          </a:xfrm>
          <a:prstGeom prst="rect">
            <a:avLst/>
          </a:prstGeom>
          <a:noFill/>
          <a:ln/>
        </p:spPr>
        <p:txBody>
          <a:bodyPr wrap="square" lIns="0" tIns="0" rIns="0" bIns="0" rtlCol="0" anchor="b"/>
          <a:lstStyle/>
          <a:p>
            <a:pPr indent="0" marL="0">
              <a:buNone/>
            </a:pPr>
            <a:r>
              <a:rPr lang="en-US" sz="4200" b="1" dirty="0">
                <a:solidFill>
                  <a:srgbClr val="1F4FD8"/>
                </a:solidFill>
                <a:latin typeface="Calibri" pitchFamily="34" charset="0"/>
                <a:ea typeface="Calibri" pitchFamily="34" charset="-122"/>
                <a:cs typeface="Calibri" pitchFamily="34" charset="-120"/>
              </a:rPr>
              <a:t>0.82</a:t>
            </a:r>
            <a:endParaRPr lang="en-US" sz="4200" dirty="0"/>
          </a:p>
        </p:txBody>
      </p:sp>
      <p:sp>
        <p:nvSpPr>
          <p:cNvPr id="7" name="Text 4"/>
          <p:cNvSpPr txBox="1"/>
          <p:nvPr/>
        </p:nvSpPr>
        <p:spPr>
          <a:xfrm>
            <a:off x="2934960" y="2266345"/>
            <a:ext cx="2274664"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average AUC per check over 18 dates since 2017 (0.74 to 0.86); chance is 0.50</a:t>
            </a:r>
            <a:endParaRPr lang="en-US" sz="1450" dirty="0"/>
          </a:p>
        </p:txBody>
      </p:sp>
      <p:sp>
        <p:nvSpPr>
          <p:cNvPr id="8" name="Text 5"/>
          <p:cNvSpPr txBox="1"/>
          <p:nvPr/>
        </p:nvSpPr>
        <p:spPr>
          <a:xfrm>
            <a:off x="5412719" y="1283578"/>
            <a:ext cx="2274664" cy="933628"/>
          </a:xfrm>
          <a:prstGeom prst="rect">
            <a:avLst/>
          </a:prstGeom>
          <a:noFill/>
          <a:ln/>
        </p:spPr>
        <p:txBody>
          <a:bodyPr wrap="square" lIns="0" tIns="0" rIns="0" bIns="0" rtlCol="0" anchor="b"/>
          <a:lstStyle/>
          <a:p>
            <a:pPr indent="0" marL="0">
              <a:buNone/>
            </a:pPr>
            <a:r>
              <a:rPr lang="en-US" sz="4200" b="1" dirty="0">
                <a:solidFill>
                  <a:srgbClr val="B88A00"/>
                </a:solidFill>
                <a:latin typeface="Calibri" pitchFamily="34" charset="0"/>
                <a:ea typeface="Calibri" pitchFamily="34" charset="-122"/>
                <a:cs typeface="Calibri" pitchFamily="34" charset="-120"/>
              </a:rPr>
              <a:t>8%</a:t>
            </a:r>
            <a:endParaRPr lang="en-US" sz="4200" dirty="0"/>
          </a:p>
        </p:txBody>
      </p:sp>
      <p:sp>
        <p:nvSpPr>
          <p:cNvPr id="9" name="Text 6"/>
          <p:cNvSpPr txBox="1"/>
          <p:nvPr/>
        </p:nvSpPr>
        <p:spPr>
          <a:xfrm>
            <a:off x="5412719" y="2266345"/>
            <a:ext cx="2274664"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of taxpayers (HIGH and above) carry about half of all hits and 55% of top-up money</a:t>
            </a:r>
            <a:endParaRPr lang="en-US" sz="1450" dirty="0"/>
          </a:p>
        </p:txBody>
      </p:sp>
      <p:sp>
        <p:nvSpPr>
          <p:cNvPr id="10" name="Text 7"/>
          <p:cNvSpPr txBox="1"/>
          <p:nvPr/>
        </p:nvSpPr>
        <p:spPr>
          <a:xfrm>
            <a:off x="7890479" y="1283578"/>
            <a:ext cx="2355902" cy="933628"/>
          </a:xfrm>
          <a:prstGeom prst="rect">
            <a:avLst/>
          </a:prstGeom>
          <a:noFill/>
          <a:ln/>
        </p:spPr>
        <p:txBody>
          <a:bodyPr wrap="square" lIns="0" tIns="0" rIns="0" bIns="0" rtlCol="0" anchor="b"/>
          <a:lstStyle/>
          <a:p>
            <a:pPr indent="0" marL="0">
              <a:buNone/>
            </a:pPr>
            <a:r>
              <a:rPr lang="en-US" sz="4200" b="1" dirty="0">
                <a:solidFill>
                  <a:srgbClr val="B88A00"/>
                </a:solidFill>
                <a:latin typeface="Calibri" pitchFamily="34" charset="0"/>
                <a:ea typeface="Calibri" pitchFamily="34" charset="-122"/>
                <a:cs typeface="Calibri" pitchFamily="34" charset="-120"/>
              </a:rPr>
              <a:t>14x</a:t>
            </a:r>
            <a:endParaRPr lang="en-US" sz="4200" dirty="0"/>
          </a:p>
        </p:txBody>
      </p:sp>
      <p:sp>
        <p:nvSpPr>
          <p:cNvPr id="11" name="Text 8"/>
          <p:cNvSpPr txBox="1"/>
          <p:nvPr/>
        </p:nvSpPr>
        <p:spPr>
          <a:xfrm>
            <a:off x="7890479" y="2266345"/>
            <a:ext cx="2355902"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VERY HIGH checks find a top-up 45% of the time; VERY LOW checks 3%</a:t>
            </a:r>
            <a:endParaRPr lang="en-US" sz="1450" dirty="0"/>
          </a:p>
        </p:txBody>
      </p:sp>
      <p:sp>
        <p:nvSpPr>
          <p:cNvPr id="12" name="Where it stands"/>
          <p:cNvSpPr/>
          <p:nvPr/>
        </p:nvSpPr>
        <p:spPr>
          <a:xfrm>
            <a:off x="457200" y="3937047"/>
            <a:ext cx="4793043" cy="2260363"/>
          </a:xfrm>
          <a:prstGeom prst="roundRect">
            <a:avLst>
              <a:gd name="adj" fmla="val 3236"/>
            </a:avLst>
          </a:prstGeom>
          <a:solidFill>
            <a:srgbClr val="E6ECFF"/>
          </a:solidFill>
          <a:ln w="12700">
            <a:solidFill>
              <a:srgbClr val="E6ECFF"/>
            </a:solidFill>
            <a:prstDash val="solid"/>
          </a:ln>
        </p:spPr>
      </p:sp>
      <p:sp>
        <p:nvSpPr>
          <p:cNvPr id="13" name="Text 10"/>
          <p:cNvSpPr txBox="1"/>
          <p:nvPr/>
        </p:nvSpPr>
        <p:spPr>
          <a:xfrm>
            <a:off x="619676" y="4084462"/>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Where it stands</a:t>
            </a:r>
            <a:endParaRPr lang="en-US" sz="1500" dirty="0"/>
          </a:p>
        </p:txBody>
      </p:sp>
      <p:sp>
        <p:nvSpPr>
          <p:cNvPr id="14" name="Text 11"/>
          <p:cNvSpPr txBox="1"/>
          <p:nvPr/>
        </p:nvSpPr>
        <p:spPr>
          <a:xfrm>
            <a:off x="619676" y="4546363"/>
            <a:ext cx="4468091" cy="1523288"/>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Track A (compliance history) validated on 18 dates since 2017 and running on the live list. Track B (trading behaviour) built and tested on 5 dates; a blind review by officers is ready to prove or disprove it.</a:t>
            </a:r>
            <a:endParaRPr lang="en-US" sz="1450" dirty="0"/>
          </a:p>
        </p:txBody>
      </p:sp>
      <p:sp>
        <p:nvSpPr>
          <p:cNvPr id="15" name="What it needs next"/>
          <p:cNvSpPr/>
          <p:nvPr/>
        </p:nvSpPr>
        <p:spPr>
          <a:xfrm>
            <a:off x="5493957" y="3937047"/>
            <a:ext cx="4793043" cy="2260363"/>
          </a:xfrm>
          <a:prstGeom prst="roundRect">
            <a:avLst>
              <a:gd name="adj" fmla="val 3236"/>
            </a:avLst>
          </a:prstGeom>
          <a:solidFill>
            <a:srgbClr val="FFF4C7"/>
          </a:solidFill>
          <a:ln w="12700">
            <a:solidFill>
              <a:srgbClr val="FFF4C7"/>
            </a:solidFill>
            <a:prstDash val="solid"/>
          </a:ln>
        </p:spPr>
      </p:sp>
      <p:sp>
        <p:nvSpPr>
          <p:cNvPr id="16" name="Text 13"/>
          <p:cNvSpPr txBox="1"/>
          <p:nvPr/>
        </p:nvSpPr>
        <p:spPr>
          <a:xfrm>
            <a:off x="5656433" y="4084462"/>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What it needs next</a:t>
            </a:r>
            <a:endParaRPr lang="en-US" sz="1500" dirty="0"/>
          </a:p>
        </p:txBody>
      </p:sp>
      <p:sp>
        <p:nvSpPr>
          <p:cNvPr id="17" name="Text 14"/>
          <p:cNvSpPr txBox="1"/>
          <p:nvPr/>
        </p:nvSpPr>
        <p:spPr>
          <a:xfrm>
            <a:off x="5656433" y="4546363"/>
            <a:ext cx="4468091" cy="1523288"/>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Risk Officers to confirm weights and thresholds, answer what changed in March 2024 and set capacity; verdicts on the blind review; Zeppelin access to automate the pulls.</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Today's agenda</a:t>
            </a:r>
            <a:endParaRPr lang="en-US" sz="2400" dirty="0"/>
          </a:p>
        </p:txBody>
      </p:sp>
      <p:sp>
        <p:nvSpPr>
          <p:cNvPr id="4" name="agenda dot 1"/>
          <p:cNvSpPr/>
          <p:nvPr/>
        </p:nvSpPr>
        <p:spPr>
          <a:xfrm>
            <a:off x="457200" y="1234440"/>
            <a:ext cx="406190" cy="491383"/>
          </a:xfrm>
          <a:prstGeom prst="ellipse">
            <a:avLst/>
          </a:prstGeom>
          <a:solidFill>
            <a:srgbClr val="102A83"/>
          </a:solidFill>
          <a:ln w="12700">
            <a:solidFill>
              <a:srgbClr val="FFFFFF"/>
            </a:solidFill>
            <a:prstDash val="solid"/>
          </a:ln>
        </p:spPr>
      </p:sp>
      <p:sp>
        <p:nvSpPr>
          <p:cNvPr id="5" name="Text 2"/>
          <p:cNvSpPr txBox="1"/>
          <p:nvPr/>
        </p:nvSpPr>
        <p:spPr>
          <a:xfrm>
            <a:off x="457200" y="1234440"/>
            <a:ext cx="406190" cy="491383"/>
          </a:xfrm>
          <a:prstGeom prst="rect">
            <a:avLst/>
          </a:prstGeom>
          <a:noFill/>
          <a:ln/>
        </p:spPr>
        <p:txBody>
          <a:bodyPr wrap="square" lIns="0" tIns="0" rIns="0" bIns="0" rtlCol="0" anchor="ctr"/>
          <a:lstStyle/>
          <a:p>
            <a:pPr algn="ctr" indent="0" marL="0">
              <a:buNone/>
            </a:pPr>
            <a:r>
              <a:rPr lang="en-US" sz="1450" b="1" dirty="0">
                <a:solidFill>
                  <a:srgbClr val="FFFFFF"/>
                </a:solidFill>
              </a:rPr>
              <a:t>1</a:t>
            </a:r>
            <a:endParaRPr lang="en-US" sz="1450" dirty="0"/>
          </a:p>
        </p:txBody>
      </p:sp>
      <p:sp>
        <p:nvSpPr>
          <p:cNvPr id="6" name="Text 3"/>
          <p:cNvSpPr txBox="1"/>
          <p:nvPr/>
        </p:nvSpPr>
        <p:spPr>
          <a:xfrm>
            <a:off x="1066485" y="1214785"/>
            <a:ext cx="3736949" cy="540521"/>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Purpose and journey</a:t>
            </a:r>
            <a:endParaRPr lang="en-US" sz="1600" dirty="0"/>
          </a:p>
        </p:txBody>
      </p:sp>
      <p:sp>
        <p:nvSpPr>
          <p:cNvPr id="7" name="Text 4"/>
          <p:cNvSpPr txBox="1"/>
          <p:nvPr/>
        </p:nvSpPr>
        <p:spPr>
          <a:xfrm>
            <a:off x="4925291" y="1214785"/>
            <a:ext cx="5361709" cy="540521"/>
          </a:xfrm>
          <a:prstGeom prst="rect">
            <a:avLst/>
          </a:prstGeom>
          <a:noFill/>
          <a:ln/>
        </p:spPr>
        <p:txBody>
          <a:bodyPr wrap="square" lIns="0" tIns="0" rIns="0" bIns="0" rtlCol="0" anchor="ctr"/>
          <a:lstStyle/>
          <a:p>
            <a:pPr indent="0" marL="0">
              <a:buNone/>
            </a:pPr>
            <a:r>
              <a:rPr lang="en-US" sz="1450" dirty="0">
                <a:solidFill>
                  <a:srgbClr val="102A83"/>
                </a:solidFill>
              </a:rPr>
              <a:t>From AEO low-risk list to risk profiling for the whole base</a:t>
            </a:r>
            <a:endParaRPr lang="en-US" sz="1450" dirty="0"/>
          </a:p>
        </p:txBody>
      </p:sp>
      <p:sp>
        <p:nvSpPr>
          <p:cNvPr id="8" name="agenda dot 2"/>
          <p:cNvSpPr/>
          <p:nvPr/>
        </p:nvSpPr>
        <p:spPr>
          <a:xfrm>
            <a:off x="457200" y="1942032"/>
            <a:ext cx="406190" cy="491383"/>
          </a:xfrm>
          <a:prstGeom prst="ellipse">
            <a:avLst/>
          </a:prstGeom>
          <a:solidFill>
            <a:srgbClr val="B88A00"/>
          </a:solidFill>
          <a:ln w="12700">
            <a:solidFill>
              <a:srgbClr val="FFFFFF"/>
            </a:solidFill>
            <a:prstDash val="solid"/>
          </a:ln>
        </p:spPr>
      </p:sp>
      <p:sp>
        <p:nvSpPr>
          <p:cNvPr id="9" name="Text 6"/>
          <p:cNvSpPr txBox="1"/>
          <p:nvPr/>
        </p:nvSpPr>
        <p:spPr>
          <a:xfrm>
            <a:off x="457200" y="1942032"/>
            <a:ext cx="406190" cy="491383"/>
          </a:xfrm>
          <a:prstGeom prst="rect">
            <a:avLst/>
          </a:prstGeom>
          <a:noFill/>
          <a:ln/>
        </p:spPr>
        <p:txBody>
          <a:bodyPr wrap="square" lIns="0" tIns="0" rIns="0" bIns="0" rtlCol="0" anchor="ctr"/>
          <a:lstStyle/>
          <a:p>
            <a:pPr algn="ctr" indent="0" marL="0">
              <a:buNone/>
            </a:pPr>
            <a:r>
              <a:rPr lang="en-US" sz="1450" b="1" dirty="0">
                <a:solidFill>
                  <a:srgbClr val="FFFFFF"/>
                </a:solidFill>
              </a:rPr>
              <a:t>2</a:t>
            </a:r>
            <a:endParaRPr lang="en-US" sz="1450" dirty="0"/>
          </a:p>
        </p:txBody>
      </p:sp>
      <p:sp>
        <p:nvSpPr>
          <p:cNvPr id="10" name="Text 7"/>
          <p:cNvSpPr txBox="1"/>
          <p:nvPr/>
        </p:nvSpPr>
        <p:spPr>
          <a:xfrm>
            <a:off x="1066485" y="1922376"/>
            <a:ext cx="3736949" cy="540521"/>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Data and EDA</a:t>
            </a:r>
            <a:endParaRPr lang="en-US" sz="1600" dirty="0"/>
          </a:p>
        </p:txBody>
      </p:sp>
      <p:sp>
        <p:nvSpPr>
          <p:cNvPr id="11" name="Text 8"/>
          <p:cNvSpPr txBox="1"/>
          <p:nvPr/>
        </p:nvSpPr>
        <p:spPr>
          <a:xfrm>
            <a:off x="4925291" y="1922376"/>
            <a:ext cx="5361709" cy="540521"/>
          </a:xfrm>
          <a:prstGeom prst="rect">
            <a:avLst/>
          </a:prstGeom>
          <a:noFill/>
          <a:ln/>
        </p:spPr>
        <p:txBody>
          <a:bodyPr wrap="square" lIns="0" tIns="0" rIns="0" bIns="0" rtlCol="0" anchor="ctr"/>
          <a:lstStyle/>
          <a:p>
            <a:pPr indent="0" marL="0">
              <a:buNone/>
            </a:pPr>
            <a:r>
              <a:rPr lang="en-US" sz="1450" dirty="0">
                <a:solidFill>
                  <a:srgbClr val="102A83"/>
                </a:solidFill>
              </a:rPr>
              <a:t>What the data looks like and the cleaning rules it forced</a:t>
            </a:r>
            <a:endParaRPr lang="en-US" sz="1450" dirty="0"/>
          </a:p>
        </p:txBody>
      </p:sp>
      <p:sp>
        <p:nvSpPr>
          <p:cNvPr id="12" name="agenda dot 3"/>
          <p:cNvSpPr/>
          <p:nvPr/>
        </p:nvSpPr>
        <p:spPr>
          <a:xfrm>
            <a:off x="457200" y="2649624"/>
            <a:ext cx="406190" cy="491383"/>
          </a:xfrm>
          <a:prstGeom prst="ellipse">
            <a:avLst/>
          </a:prstGeom>
          <a:solidFill>
            <a:srgbClr val="B88A00"/>
          </a:solidFill>
          <a:ln w="12700">
            <a:solidFill>
              <a:srgbClr val="FFFFFF"/>
            </a:solidFill>
            <a:prstDash val="solid"/>
          </a:ln>
        </p:spPr>
      </p:sp>
      <p:sp>
        <p:nvSpPr>
          <p:cNvPr id="13" name="Text 10"/>
          <p:cNvSpPr txBox="1"/>
          <p:nvPr/>
        </p:nvSpPr>
        <p:spPr>
          <a:xfrm>
            <a:off x="457200" y="2649624"/>
            <a:ext cx="406190" cy="491383"/>
          </a:xfrm>
          <a:prstGeom prst="rect">
            <a:avLst/>
          </a:prstGeom>
          <a:noFill/>
          <a:ln/>
        </p:spPr>
        <p:txBody>
          <a:bodyPr wrap="square" lIns="0" tIns="0" rIns="0" bIns="0" rtlCol="0" anchor="ctr"/>
          <a:lstStyle/>
          <a:p>
            <a:pPr algn="ctr" indent="0" marL="0">
              <a:buNone/>
            </a:pPr>
            <a:r>
              <a:rPr lang="en-US" sz="1450" b="1" dirty="0">
                <a:solidFill>
                  <a:srgbClr val="FFFFFF"/>
                </a:solidFill>
              </a:rPr>
              <a:t>3</a:t>
            </a:r>
            <a:endParaRPr lang="en-US" sz="1450" dirty="0"/>
          </a:p>
        </p:txBody>
      </p:sp>
      <p:sp>
        <p:nvSpPr>
          <p:cNvPr id="14" name="Text 11"/>
          <p:cNvSpPr txBox="1"/>
          <p:nvPr/>
        </p:nvSpPr>
        <p:spPr>
          <a:xfrm>
            <a:off x="1066485" y="2629968"/>
            <a:ext cx="3736949" cy="540521"/>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From parameters to features</a:t>
            </a:r>
            <a:endParaRPr lang="en-US" sz="1600" dirty="0"/>
          </a:p>
        </p:txBody>
      </p:sp>
      <p:sp>
        <p:nvSpPr>
          <p:cNvPr id="15" name="Text 12"/>
          <p:cNvSpPr txBox="1"/>
          <p:nvPr/>
        </p:nvSpPr>
        <p:spPr>
          <a:xfrm>
            <a:off x="4925291" y="2629968"/>
            <a:ext cx="5361709" cy="540521"/>
          </a:xfrm>
          <a:prstGeom prst="rect">
            <a:avLst/>
          </a:prstGeom>
          <a:noFill/>
          <a:ln/>
        </p:spPr>
        <p:txBody>
          <a:bodyPr wrap="square" lIns="0" tIns="0" rIns="0" bIns="0" rtlCol="0" anchor="ctr"/>
          <a:lstStyle/>
          <a:p>
            <a:pPr indent="0" marL="0">
              <a:buNone/>
            </a:pPr>
            <a:r>
              <a:rPr lang="en-US" sz="1450" dirty="0">
                <a:solidFill>
                  <a:srgbClr val="102A83"/>
                </a:solidFill>
              </a:rPr>
              <a:t>Mapping, building, choosing and how each contributes</a:t>
            </a:r>
            <a:endParaRPr lang="en-US" sz="1450" dirty="0"/>
          </a:p>
        </p:txBody>
      </p:sp>
      <p:sp>
        <p:nvSpPr>
          <p:cNvPr id="16" name="agenda dot 4"/>
          <p:cNvSpPr/>
          <p:nvPr/>
        </p:nvSpPr>
        <p:spPr>
          <a:xfrm>
            <a:off x="457200" y="3357215"/>
            <a:ext cx="406190" cy="491383"/>
          </a:xfrm>
          <a:prstGeom prst="ellipse">
            <a:avLst/>
          </a:prstGeom>
          <a:solidFill>
            <a:srgbClr val="B88A00"/>
          </a:solidFill>
          <a:ln w="12700">
            <a:solidFill>
              <a:srgbClr val="FFFFFF"/>
            </a:solidFill>
            <a:prstDash val="solid"/>
          </a:ln>
        </p:spPr>
      </p:sp>
      <p:sp>
        <p:nvSpPr>
          <p:cNvPr id="17" name="Text 14"/>
          <p:cNvSpPr txBox="1"/>
          <p:nvPr/>
        </p:nvSpPr>
        <p:spPr>
          <a:xfrm>
            <a:off x="457200" y="3357215"/>
            <a:ext cx="406190" cy="491383"/>
          </a:xfrm>
          <a:prstGeom prst="rect">
            <a:avLst/>
          </a:prstGeom>
          <a:noFill/>
          <a:ln/>
        </p:spPr>
        <p:txBody>
          <a:bodyPr wrap="square" lIns="0" tIns="0" rIns="0" bIns="0" rtlCol="0" anchor="ctr"/>
          <a:lstStyle/>
          <a:p>
            <a:pPr algn="ctr" indent="0" marL="0">
              <a:buNone/>
            </a:pPr>
            <a:r>
              <a:rPr lang="en-US" sz="1450" b="1" dirty="0">
                <a:solidFill>
                  <a:srgbClr val="FFFFFF"/>
                </a:solidFill>
              </a:rPr>
              <a:t>4</a:t>
            </a:r>
            <a:endParaRPr lang="en-US" sz="1450" dirty="0"/>
          </a:p>
        </p:txBody>
      </p:sp>
      <p:sp>
        <p:nvSpPr>
          <p:cNvPr id="18" name="Text 15"/>
          <p:cNvSpPr txBox="1"/>
          <p:nvPr/>
        </p:nvSpPr>
        <p:spPr>
          <a:xfrm>
            <a:off x="1066485" y="3337560"/>
            <a:ext cx="3736949" cy="540521"/>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Track A: does it work?</a:t>
            </a:r>
            <a:endParaRPr lang="en-US" sz="1600" dirty="0"/>
          </a:p>
        </p:txBody>
      </p:sp>
      <p:sp>
        <p:nvSpPr>
          <p:cNvPr id="19" name="Text 16"/>
          <p:cNvSpPr txBox="1"/>
          <p:nvPr/>
        </p:nvSpPr>
        <p:spPr>
          <a:xfrm>
            <a:off x="4925291" y="3337560"/>
            <a:ext cx="5361709" cy="540521"/>
          </a:xfrm>
          <a:prstGeom prst="rect">
            <a:avLst/>
          </a:prstGeom>
          <a:noFill/>
          <a:ln/>
        </p:spPr>
        <p:txBody>
          <a:bodyPr wrap="square" lIns="0" tIns="0" rIns="0" bIns="0" rtlCol="0" anchor="ctr"/>
          <a:lstStyle/>
          <a:p>
            <a:pPr indent="0" marL="0">
              <a:buNone/>
            </a:pPr>
            <a:r>
              <a:rPr lang="en-US" sz="1450" dirty="0">
                <a:solidFill>
                  <a:srgbClr val="102A83"/>
                </a:solidFill>
              </a:rPr>
              <a:t>Success measures, nine years of evidence, robustness</a:t>
            </a:r>
            <a:endParaRPr lang="en-US" sz="1450" dirty="0"/>
          </a:p>
        </p:txBody>
      </p:sp>
      <p:sp>
        <p:nvSpPr>
          <p:cNvPr id="20" name="agenda dot 5"/>
          <p:cNvSpPr/>
          <p:nvPr/>
        </p:nvSpPr>
        <p:spPr>
          <a:xfrm>
            <a:off x="457200" y="4064807"/>
            <a:ext cx="406190" cy="491383"/>
          </a:xfrm>
          <a:prstGeom prst="ellipse">
            <a:avLst/>
          </a:prstGeom>
          <a:solidFill>
            <a:srgbClr val="B88A00"/>
          </a:solidFill>
          <a:ln w="12700">
            <a:solidFill>
              <a:srgbClr val="FFFFFF"/>
            </a:solidFill>
            <a:prstDash val="solid"/>
          </a:ln>
        </p:spPr>
      </p:sp>
      <p:sp>
        <p:nvSpPr>
          <p:cNvPr id="21" name="Text 18"/>
          <p:cNvSpPr txBox="1"/>
          <p:nvPr/>
        </p:nvSpPr>
        <p:spPr>
          <a:xfrm>
            <a:off x="457200" y="4064807"/>
            <a:ext cx="406190" cy="491383"/>
          </a:xfrm>
          <a:prstGeom prst="rect">
            <a:avLst/>
          </a:prstGeom>
          <a:noFill/>
          <a:ln/>
        </p:spPr>
        <p:txBody>
          <a:bodyPr wrap="square" lIns="0" tIns="0" rIns="0" bIns="0" rtlCol="0" anchor="ctr"/>
          <a:lstStyle/>
          <a:p>
            <a:pPr algn="ctr" indent="0" marL="0">
              <a:buNone/>
            </a:pPr>
            <a:r>
              <a:rPr lang="en-US" sz="1450" b="1" dirty="0">
                <a:solidFill>
                  <a:srgbClr val="FFFFFF"/>
                </a:solidFill>
              </a:rPr>
              <a:t>5</a:t>
            </a:r>
            <a:endParaRPr lang="en-US" sz="1450" dirty="0"/>
          </a:p>
        </p:txBody>
      </p:sp>
      <p:sp>
        <p:nvSpPr>
          <p:cNvPr id="22" name="Text 19"/>
          <p:cNvSpPr txBox="1"/>
          <p:nvPr/>
        </p:nvSpPr>
        <p:spPr>
          <a:xfrm>
            <a:off x="1066485" y="4045152"/>
            <a:ext cx="3736949" cy="540521"/>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Track B: risk without a record</a:t>
            </a:r>
            <a:endParaRPr lang="en-US" sz="1600" dirty="0"/>
          </a:p>
        </p:txBody>
      </p:sp>
      <p:sp>
        <p:nvSpPr>
          <p:cNvPr id="23" name="Text 20"/>
          <p:cNvSpPr txBox="1"/>
          <p:nvPr/>
        </p:nvSpPr>
        <p:spPr>
          <a:xfrm>
            <a:off x="4925291" y="4045152"/>
            <a:ext cx="5361709" cy="540521"/>
          </a:xfrm>
          <a:prstGeom prst="rect">
            <a:avLst/>
          </a:prstGeom>
          <a:noFill/>
          <a:ln/>
        </p:spPr>
        <p:txBody>
          <a:bodyPr wrap="square" lIns="0" tIns="0" rIns="0" bIns="0" rtlCol="0" anchor="ctr"/>
          <a:lstStyle/>
          <a:p>
            <a:pPr indent="0" marL="0">
              <a:buNone/>
            </a:pPr>
            <a:r>
              <a:rPr lang="en-US" sz="1450" dirty="0">
                <a:solidFill>
                  <a:srgbClr val="102A83"/>
                </a:solidFill>
              </a:rPr>
              <a:t>Behaviour features, results so far, what still needs fixing</a:t>
            </a:r>
            <a:endParaRPr lang="en-US" sz="1450" dirty="0"/>
          </a:p>
        </p:txBody>
      </p:sp>
      <p:sp>
        <p:nvSpPr>
          <p:cNvPr id="24" name="agenda dot 6"/>
          <p:cNvSpPr/>
          <p:nvPr/>
        </p:nvSpPr>
        <p:spPr>
          <a:xfrm>
            <a:off x="457200" y="4772399"/>
            <a:ext cx="406190" cy="491383"/>
          </a:xfrm>
          <a:prstGeom prst="ellipse">
            <a:avLst/>
          </a:prstGeom>
          <a:solidFill>
            <a:srgbClr val="102A83"/>
          </a:solidFill>
          <a:ln w="12700">
            <a:solidFill>
              <a:srgbClr val="FFFFFF"/>
            </a:solidFill>
            <a:prstDash val="solid"/>
          </a:ln>
        </p:spPr>
      </p:sp>
      <p:sp>
        <p:nvSpPr>
          <p:cNvPr id="25" name="Text 22"/>
          <p:cNvSpPr txBox="1"/>
          <p:nvPr/>
        </p:nvSpPr>
        <p:spPr>
          <a:xfrm>
            <a:off x="457200" y="4772399"/>
            <a:ext cx="406190" cy="491383"/>
          </a:xfrm>
          <a:prstGeom prst="rect">
            <a:avLst/>
          </a:prstGeom>
          <a:noFill/>
          <a:ln/>
        </p:spPr>
        <p:txBody>
          <a:bodyPr wrap="square" lIns="0" tIns="0" rIns="0" bIns="0" rtlCol="0" anchor="ctr"/>
          <a:lstStyle/>
          <a:p>
            <a:pPr algn="ctr" indent="0" marL="0">
              <a:buNone/>
            </a:pPr>
            <a:r>
              <a:rPr lang="en-US" sz="1450" b="1" dirty="0">
                <a:solidFill>
                  <a:srgbClr val="FFFFFF"/>
                </a:solidFill>
              </a:rPr>
              <a:t>6</a:t>
            </a:r>
            <a:endParaRPr lang="en-US" sz="1450" dirty="0"/>
          </a:p>
        </p:txBody>
      </p:sp>
      <p:sp>
        <p:nvSpPr>
          <p:cNvPr id="26" name="Text 23"/>
          <p:cNvSpPr txBox="1"/>
          <p:nvPr/>
        </p:nvSpPr>
        <p:spPr>
          <a:xfrm>
            <a:off x="1066485" y="4752744"/>
            <a:ext cx="3736949" cy="540521"/>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Decisions, limits and next steps</a:t>
            </a:r>
            <a:endParaRPr lang="en-US" sz="1600" dirty="0"/>
          </a:p>
        </p:txBody>
      </p:sp>
      <p:sp>
        <p:nvSpPr>
          <p:cNvPr id="27" name="Text 24"/>
          <p:cNvSpPr txBox="1"/>
          <p:nvPr/>
        </p:nvSpPr>
        <p:spPr>
          <a:xfrm>
            <a:off x="4925291" y="4752744"/>
            <a:ext cx="5361709" cy="540521"/>
          </a:xfrm>
          <a:prstGeom prst="rect">
            <a:avLst/>
          </a:prstGeom>
          <a:noFill/>
          <a:ln/>
        </p:spPr>
        <p:txBody>
          <a:bodyPr wrap="square" lIns="0" tIns="0" rIns="0" bIns="0" rtlCol="0" anchor="ctr"/>
          <a:lstStyle/>
          <a:p>
            <a:pPr indent="0" marL="0">
              <a:buNone/>
            </a:pPr>
            <a:r>
              <a:rPr lang="en-US" sz="1450" dirty="0">
                <a:solidFill>
                  <a:srgbClr val="102A83"/>
                </a:solidFill>
              </a:rPr>
              <a:t>How decisions were formed and what we need</a:t>
            </a:r>
            <a:endParaRPr lang="en-US" sz="1450" dirty="0"/>
          </a:p>
        </p:txBody>
      </p:sp>
      <p:sp>
        <p:nvSpPr>
          <p:cNvPr id="28" name="agenda dot 7"/>
          <p:cNvSpPr/>
          <p:nvPr/>
        </p:nvSpPr>
        <p:spPr>
          <a:xfrm>
            <a:off x="457200" y="5479991"/>
            <a:ext cx="406190" cy="491383"/>
          </a:xfrm>
          <a:prstGeom prst="ellipse">
            <a:avLst/>
          </a:prstGeom>
          <a:solidFill>
            <a:srgbClr val="102A83"/>
          </a:solidFill>
          <a:ln w="12700">
            <a:solidFill>
              <a:srgbClr val="FFFFFF"/>
            </a:solidFill>
            <a:prstDash val="solid"/>
          </a:ln>
        </p:spPr>
      </p:sp>
      <p:sp>
        <p:nvSpPr>
          <p:cNvPr id="29" name="Text 26"/>
          <p:cNvSpPr txBox="1"/>
          <p:nvPr/>
        </p:nvSpPr>
        <p:spPr>
          <a:xfrm>
            <a:off x="457200" y="5479991"/>
            <a:ext cx="406190" cy="491383"/>
          </a:xfrm>
          <a:prstGeom prst="rect">
            <a:avLst/>
          </a:prstGeom>
          <a:noFill/>
          <a:ln/>
        </p:spPr>
        <p:txBody>
          <a:bodyPr wrap="square" lIns="0" tIns="0" rIns="0" bIns="0" rtlCol="0" anchor="ctr"/>
          <a:lstStyle/>
          <a:p>
            <a:pPr algn="ctr" indent="0" marL="0">
              <a:buNone/>
            </a:pPr>
            <a:r>
              <a:rPr lang="en-US" sz="1450" b="1" dirty="0">
                <a:solidFill>
                  <a:srgbClr val="FFFFFF"/>
                </a:solidFill>
              </a:rPr>
              <a:t>7</a:t>
            </a:r>
            <a:endParaRPr lang="en-US" sz="1450" dirty="0"/>
          </a:p>
        </p:txBody>
      </p:sp>
      <p:sp>
        <p:nvSpPr>
          <p:cNvPr id="30" name="Text 27"/>
          <p:cNvSpPr txBox="1"/>
          <p:nvPr/>
        </p:nvSpPr>
        <p:spPr>
          <a:xfrm>
            <a:off x="1066485" y="5460335"/>
            <a:ext cx="3736949" cy="540521"/>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Live demo</a:t>
            </a:r>
            <a:endParaRPr lang="en-US" sz="1600" dirty="0"/>
          </a:p>
        </p:txBody>
      </p:sp>
      <p:sp>
        <p:nvSpPr>
          <p:cNvPr id="31" name="Text 28"/>
          <p:cNvSpPr txBox="1"/>
          <p:nvPr/>
        </p:nvSpPr>
        <p:spPr>
          <a:xfrm>
            <a:off x="4925291" y="5460335"/>
            <a:ext cx="5361709" cy="540521"/>
          </a:xfrm>
          <a:prstGeom prst="rect">
            <a:avLst/>
          </a:prstGeom>
          <a:noFill/>
          <a:ln/>
        </p:spPr>
        <p:txBody>
          <a:bodyPr wrap="square" lIns="0" tIns="0" rIns="0" bIns="0" rtlCol="0" anchor="ctr"/>
          <a:lstStyle/>
          <a:p>
            <a:pPr indent="0" marL="0">
              <a:buNone/>
            </a:pPr>
            <a:r>
              <a:rPr lang="en-US" sz="1450" dirty="0">
                <a:solidFill>
                  <a:srgbClr val="102A83"/>
                </a:solidFill>
              </a:rPr>
              <a:t>Score the live list and open the workbook</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731520" y="2468880"/>
            <a:ext cx="9144000" cy="1188720"/>
          </a:xfrm>
          <a:prstGeom prst="rect">
            <a:avLst/>
          </a:prstGeom>
          <a:noFill/>
          <a:ln/>
        </p:spPr>
        <p:txBody>
          <a:bodyPr wrap="square" rtlCol="0" anchor="ctr"/>
          <a:lstStyle/>
          <a:p>
            <a:pPr algn="l" indent="0" marL="0">
              <a:buNone/>
            </a:pPr>
            <a:r>
              <a:rPr lang="en-US" sz="3400" b="1" dirty="0">
                <a:solidFill>
                  <a:srgbClr val="FFFFFF"/>
                </a:solidFill>
                <a:latin typeface="Bookman Old Style" pitchFamily="34" charset="0"/>
                <a:ea typeface="Bookman Old Style" pitchFamily="34" charset="-122"/>
                <a:cs typeface="Bookman Old Style" pitchFamily="34" charset="-120"/>
              </a:rPr>
              <a:t>1  Purpose and journey</a:t>
            </a:r>
            <a:endParaRPr lang="en-US" sz="3400" dirty="0"/>
          </a:p>
        </p:txBody>
      </p:sp>
      <p:sp>
        <p:nvSpPr>
          <p:cNvPr id="3" name="Text 2"/>
          <p:cNvSpPr/>
          <p:nvPr>
            <p:ph idx="103" type="body" hasCustomPrompt="1"/>
          </p:nvPr>
        </p:nvSpPr>
        <p:spPr>
          <a:xfrm>
            <a:off x="731520" y="4069080"/>
            <a:ext cx="9144000" cy="914400"/>
          </a:xfrm>
          <a:prstGeom prst="rect">
            <a:avLst/>
          </a:prstGeom>
          <a:noFill/>
          <a:ln/>
        </p:spPr>
        <p:txBody>
          <a:bodyPr wrap="square" rtlCol="0" anchor="t"/>
          <a:lstStyle/>
          <a:p>
            <a:pPr indent="0" marL="0">
              <a:buNone/>
            </a:pPr>
            <a:r>
              <a:rPr lang="en-US" sz="1800" dirty="0">
                <a:solidFill>
                  <a:srgbClr val="102A83"/>
                </a:solidFill>
                <a:latin typeface="Calibri" pitchFamily="34" charset="0"/>
                <a:ea typeface="Calibri" pitchFamily="34" charset="-122"/>
                <a:cs typeface="Calibri" pitchFamily="34" charset="-120"/>
              </a:rPr>
              <a:t>Why the model exists and how its scope grew</a:t>
            </a:r>
            <a:endParaRPr lang="en-US" sz="180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The scope grew from a low-risk list to a risk profile for every importer</a:t>
            </a:r>
            <a:endParaRPr lang="en-US" sz="2400" dirty="0"/>
          </a:p>
        </p:txBody>
      </p:sp>
      <p:sp>
        <p:nvSpPr>
          <p:cNvPr id="4" name="journey Start"/>
          <p:cNvSpPr/>
          <p:nvPr/>
        </p:nvSpPr>
        <p:spPr>
          <a:xfrm>
            <a:off x="457200" y="1676685"/>
            <a:ext cx="1827855" cy="2555193"/>
          </a:xfrm>
          <a:prstGeom prst="roundRect">
            <a:avLst>
              <a:gd name="adj" fmla="val 4002"/>
            </a:avLst>
          </a:prstGeom>
          <a:solidFill>
            <a:srgbClr val="E6ECFF"/>
          </a:solidFill>
          <a:ln w="12700">
            <a:solidFill>
              <a:srgbClr val="E6ECFF"/>
            </a:solidFill>
            <a:prstDash val="solid"/>
          </a:ln>
        </p:spPr>
      </p:sp>
      <p:sp>
        <p:nvSpPr>
          <p:cNvPr id="5" name="Text 2"/>
          <p:cNvSpPr txBox="1"/>
          <p:nvPr/>
        </p:nvSpPr>
        <p:spPr>
          <a:xfrm>
            <a:off x="579057" y="1824100"/>
            <a:ext cx="1584141" cy="491383"/>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Start</a:t>
            </a:r>
            <a:endParaRPr lang="en-US" sz="1600" dirty="0"/>
          </a:p>
        </p:txBody>
      </p:sp>
      <p:sp>
        <p:nvSpPr>
          <p:cNvPr id="6" name="Text 3"/>
          <p:cNvSpPr txBox="1"/>
          <p:nvPr/>
        </p:nvSpPr>
        <p:spPr>
          <a:xfrm>
            <a:off x="579057" y="2364621"/>
            <a:ext cx="1584141" cy="1768979"/>
          </a:xfrm>
          <a:prstGeom prst="rect">
            <a:avLst/>
          </a:prstGeom>
          <a:noFill/>
          <a:ln/>
        </p:spPr>
        <p:txBody>
          <a:bodyPr wrap="square" lIns="0" tIns="0" rIns="0" bIns="0" rtlCol="0" anchor="t"/>
          <a:lstStyle/>
          <a:p>
            <a:pPr indent="0" marL="0">
              <a:buNone/>
            </a:pPr>
            <a:r>
              <a:rPr lang="en-US" sz="1350" dirty="0">
                <a:solidFill>
                  <a:srgbClr val="102A83"/>
                </a:solidFill>
              </a:rPr>
              <a:t>Low-risk taxpayers for the AEO programme</a:t>
            </a:r>
            <a:endParaRPr lang="en-US" sz="1350" dirty="0"/>
          </a:p>
        </p:txBody>
      </p:sp>
      <p:sp>
        <p:nvSpPr>
          <p:cNvPr id="7" name="arrow 0"/>
          <p:cNvSpPr/>
          <p:nvPr/>
        </p:nvSpPr>
        <p:spPr>
          <a:xfrm rot="5400000">
            <a:off x="2301303" y="2806866"/>
            <a:ext cx="129981" cy="294830"/>
          </a:xfrm>
          <a:prstGeom prst="rtTriangle">
            <a:avLst/>
          </a:prstGeom>
          <a:solidFill>
            <a:srgbClr val="6B7785"/>
          </a:solidFill>
          <a:ln w="12700">
            <a:solidFill>
              <a:srgbClr val="6B7785"/>
            </a:solidFill>
            <a:prstDash val="solid"/>
          </a:ln>
        </p:spPr>
      </p:sp>
      <p:sp>
        <p:nvSpPr>
          <p:cNvPr id="8" name="journey Widened"/>
          <p:cNvSpPr/>
          <p:nvPr/>
        </p:nvSpPr>
        <p:spPr>
          <a:xfrm>
            <a:off x="2447531" y="1676685"/>
            <a:ext cx="1827855" cy="2555193"/>
          </a:xfrm>
          <a:prstGeom prst="roundRect">
            <a:avLst>
              <a:gd name="adj" fmla="val 4002"/>
            </a:avLst>
          </a:prstGeom>
          <a:solidFill>
            <a:srgbClr val="E6ECFF"/>
          </a:solidFill>
          <a:ln w="12700">
            <a:solidFill>
              <a:srgbClr val="E6ECFF"/>
            </a:solidFill>
            <a:prstDash val="solid"/>
          </a:ln>
        </p:spPr>
      </p:sp>
      <p:sp>
        <p:nvSpPr>
          <p:cNvPr id="9" name="Text 6"/>
          <p:cNvSpPr txBox="1"/>
          <p:nvPr/>
        </p:nvSpPr>
        <p:spPr>
          <a:xfrm>
            <a:off x="2569388" y="1824100"/>
            <a:ext cx="1584141" cy="491383"/>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Widened</a:t>
            </a:r>
            <a:endParaRPr lang="en-US" sz="1600" dirty="0"/>
          </a:p>
        </p:txBody>
      </p:sp>
      <p:sp>
        <p:nvSpPr>
          <p:cNvPr id="10" name="Text 7"/>
          <p:cNvSpPr txBox="1"/>
          <p:nvPr/>
        </p:nvSpPr>
        <p:spPr>
          <a:xfrm>
            <a:off x="2569388" y="2364621"/>
            <a:ext cx="1584141" cy="1768979"/>
          </a:xfrm>
          <a:prstGeom prst="rect">
            <a:avLst/>
          </a:prstGeom>
          <a:noFill/>
          <a:ln/>
        </p:spPr>
        <p:txBody>
          <a:bodyPr wrap="square" lIns="0" tIns="0" rIns="0" bIns="0" rtlCol="0" anchor="t"/>
          <a:lstStyle/>
          <a:p>
            <a:pPr indent="0" marL="0">
              <a:buNone/>
            </a:pPr>
            <a:r>
              <a:rPr lang="en-US" sz="1350" dirty="0">
                <a:solidFill>
                  <a:srgbClr val="102A83"/>
                </a:solidFill>
              </a:rPr>
              <a:t>Risk profile for every IM4 and IM7 taxpayer, banded VERY LOW to VERY HIGH</a:t>
            </a:r>
            <a:endParaRPr lang="en-US" sz="1350" dirty="0"/>
          </a:p>
        </p:txBody>
      </p:sp>
      <p:sp>
        <p:nvSpPr>
          <p:cNvPr id="11" name="arrow 1"/>
          <p:cNvSpPr/>
          <p:nvPr/>
        </p:nvSpPr>
        <p:spPr>
          <a:xfrm rot="5400000">
            <a:off x="4291634" y="2806866"/>
            <a:ext cx="129981" cy="294830"/>
          </a:xfrm>
          <a:prstGeom prst="rtTriangle">
            <a:avLst/>
          </a:prstGeom>
          <a:solidFill>
            <a:srgbClr val="6B7785"/>
          </a:solidFill>
          <a:ln w="12700">
            <a:solidFill>
              <a:srgbClr val="6B7785"/>
            </a:solidFill>
            <a:prstDash val="solid"/>
          </a:ln>
        </p:spPr>
      </p:sp>
      <p:sp>
        <p:nvSpPr>
          <p:cNvPr id="12" name="journey Two tracks"/>
          <p:cNvSpPr/>
          <p:nvPr/>
        </p:nvSpPr>
        <p:spPr>
          <a:xfrm>
            <a:off x="4437863" y="1676685"/>
            <a:ext cx="1827855" cy="2555193"/>
          </a:xfrm>
          <a:prstGeom prst="roundRect">
            <a:avLst>
              <a:gd name="adj" fmla="val 4002"/>
            </a:avLst>
          </a:prstGeom>
          <a:solidFill>
            <a:srgbClr val="E6ECFF"/>
          </a:solidFill>
          <a:ln w="12700">
            <a:solidFill>
              <a:srgbClr val="E6ECFF"/>
            </a:solidFill>
            <a:prstDash val="solid"/>
          </a:ln>
        </p:spPr>
      </p:sp>
      <p:sp>
        <p:nvSpPr>
          <p:cNvPr id="13" name="Text 10"/>
          <p:cNvSpPr txBox="1"/>
          <p:nvPr/>
        </p:nvSpPr>
        <p:spPr>
          <a:xfrm>
            <a:off x="4559720" y="1824100"/>
            <a:ext cx="1584141" cy="491383"/>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Two tracks</a:t>
            </a:r>
            <a:endParaRPr lang="en-US" sz="1600" dirty="0"/>
          </a:p>
        </p:txBody>
      </p:sp>
      <p:sp>
        <p:nvSpPr>
          <p:cNvPr id="14" name="Text 11"/>
          <p:cNvSpPr txBox="1"/>
          <p:nvPr/>
        </p:nvSpPr>
        <p:spPr>
          <a:xfrm>
            <a:off x="4559720" y="2364621"/>
            <a:ext cx="1584141" cy="1768979"/>
          </a:xfrm>
          <a:prstGeom prst="rect">
            <a:avLst/>
          </a:prstGeom>
          <a:noFill/>
          <a:ln/>
        </p:spPr>
        <p:txBody>
          <a:bodyPr wrap="square" lIns="0" tIns="0" rIns="0" bIns="0" rtlCol="0" anchor="t"/>
          <a:lstStyle/>
          <a:p>
            <a:pPr indent="0" marL="0">
              <a:buNone/>
            </a:pPr>
            <a:r>
              <a:rPr lang="en-US" sz="1350" dirty="0">
                <a:solidFill>
                  <a:srgbClr val="102A83"/>
                </a:solidFill>
              </a:rPr>
              <a:t>Compliance history (Track A) plus trading behaviour (Track B) for those with no record</a:t>
            </a:r>
            <a:endParaRPr lang="en-US" sz="1350" dirty="0"/>
          </a:p>
        </p:txBody>
      </p:sp>
      <p:sp>
        <p:nvSpPr>
          <p:cNvPr id="15" name="arrow 2"/>
          <p:cNvSpPr/>
          <p:nvPr/>
        </p:nvSpPr>
        <p:spPr>
          <a:xfrm rot="5400000">
            <a:off x="6281966" y="2806866"/>
            <a:ext cx="129981" cy="294830"/>
          </a:xfrm>
          <a:prstGeom prst="rtTriangle">
            <a:avLst/>
          </a:prstGeom>
          <a:solidFill>
            <a:srgbClr val="6B7785"/>
          </a:solidFill>
          <a:ln w="12700">
            <a:solidFill>
              <a:srgbClr val="6B7785"/>
            </a:solidFill>
            <a:prstDash val="solid"/>
          </a:ln>
        </p:spPr>
      </p:sp>
      <p:sp>
        <p:nvSpPr>
          <p:cNvPr id="16" name="journey Proven over time"/>
          <p:cNvSpPr/>
          <p:nvPr/>
        </p:nvSpPr>
        <p:spPr>
          <a:xfrm>
            <a:off x="6428194" y="1676685"/>
            <a:ext cx="1827855" cy="2555193"/>
          </a:xfrm>
          <a:prstGeom prst="roundRect">
            <a:avLst>
              <a:gd name="adj" fmla="val 4002"/>
            </a:avLst>
          </a:prstGeom>
          <a:solidFill>
            <a:srgbClr val="E6ECFF"/>
          </a:solidFill>
          <a:ln w="12700">
            <a:solidFill>
              <a:srgbClr val="E6ECFF"/>
            </a:solidFill>
            <a:prstDash val="solid"/>
          </a:ln>
        </p:spPr>
      </p:sp>
      <p:sp>
        <p:nvSpPr>
          <p:cNvPr id="17" name="Text 14"/>
          <p:cNvSpPr txBox="1"/>
          <p:nvPr/>
        </p:nvSpPr>
        <p:spPr>
          <a:xfrm>
            <a:off x="6550051" y="1824100"/>
            <a:ext cx="1584141" cy="491383"/>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Proven over time</a:t>
            </a:r>
            <a:endParaRPr lang="en-US" sz="1600" dirty="0"/>
          </a:p>
        </p:txBody>
      </p:sp>
      <p:sp>
        <p:nvSpPr>
          <p:cNvPr id="18" name="Text 15"/>
          <p:cNvSpPr txBox="1"/>
          <p:nvPr/>
        </p:nvSpPr>
        <p:spPr>
          <a:xfrm>
            <a:off x="6550051" y="2364621"/>
            <a:ext cx="1584141" cy="1768979"/>
          </a:xfrm>
          <a:prstGeom prst="rect">
            <a:avLst/>
          </a:prstGeom>
          <a:noFill/>
          <a:ln/>
        </p:spPr>
        <p:txBody>
          <a:bodyPr wrap="square" lIns="0" tIns="0" rIns="0" bIns="0" rtlCol="0" anchor="t"/>
          <a:lstStyle/>
          <a:p>
            <a:pPr indent="0" marL="0">
              <a:buNone/>
            </a:pPr>
            <a:r>
              <a:rPr lang="en-US" sz="1350" dirty="0">
                <a:solidFill>
                  <a:srgbClr val="102A83"/>
                </a:solidFill>
              </a:rPr>
              <a:t>Nine years of out-of-time validation; recency weighting</a:t>
            </a:r>
            <a:endParaRPr lang="en-US" sz="1350" dirty="0"/>
          </a:p>
        </p:txBody>
      </p:sp>
      <p:sp>
        <p:nvSpPr>
          <p:cNvPr id="19" name="arrow 3"/>
          <p:cNvSpPr/>
          <p:nvPr/>
        </p:nvSpPr>
        <p:spPr>
          <a:xfrm rot="5400000">
            <a:off x="8272297" y="2806866"/>
            <a:ext cx="129981" cy="294830"/>
          </a:xfrm>
          <a:prstGeom prst="rtTriangle">
            <a:avLst/>
          </a:prstGeom>
          <a:solidFill>
            <a:srgbClr val="6B7785"/>
          </a:solidFill>
          <a:ln w="12700">
            <a:solidFill>
              <a:srgbClr val="6B7785"/>
            </a:solidFill>
            <a:prstDash val="solid"/>
          </a:ln>
        </p:spPr>
      </p:sp>
      <p:sp>
        <p:nvSpPr>
          <p:cNvPr id="20" name="journey Next"/>
          <p:cNvSpPr/>
          <p:nvPr/>
        </p:nvSpPr>
        <p:spPr>
          <a:xfrm>
            <a:off x="8418526" y="1676685"/>
            <a:ext cx="1827855" cy="2555193"/>
          </a:xfrm>
          <a:prstGeom prst="roundRect">
            <a:avLst>
              <a:gd name="adj" fmla="val 4002"/>
            </a:avLst>
          </a:prstGeom>
          <a:solidFill>
            <a:srgbClr val="FFF4C7"/>
          </a:solidFill>
          <a:ln w="12700">
            <a:solidFill>
              <a:srgbClr val="FFF4C7"/>
            </a:solidFill>
            <a:prstDash val="solid"/>
          </a:ln>
        </p:spPr>
      </p:sp>
      <p:sp>
        <p:nvSpPr>
          <p:cNvPr id="21" name="Text 18"/>
          <p:cNvSpPr txBox="1"/>
          <p:nvPr/>
        </p:nvSpPr>
        <p:spPr>
          <a:xfrm>
            <a:off x="8540383" y="1824100"/>
            <a:ext cx="1584141" cy="491383"/>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Next</a:t>
            </a:r>
            <a:endParaRPr lang="en-US" sz="1600" dirty="0"/>
          </a:p>
        </p:txBody>
      </p:sp>
      <p:sp>
        <p:nvSpPr>
          <p:cNvPr id="22" name="Text 19"/>
          <p:cNvSpPr txBox="1"/>
          <p:nvPr/>
        </p:nvSpPr>
        <p:spPr>
          <a:xfrm>
            <a:off x="8540383" y="2364621"/>
            <a:ext cx="1584141" cy="1768979"/>
          </a:xfrm>
          <a:prstGeom prst="rect">
            <a:avLst/>
          </a:prstGeom>
          <a:noFill/>
          <a:ln/>
        </p:spPr>
        <p:txBody>
          <a:bodyPr wrap="square" lIns="0" tIns="0" rIns="0" bIns="0" rtlCol="0" anchor="t"/>
          <a:lstStyle/>
          <a:p>
            <a:pPr indent="0" marL="0">
              <a:buNone/>
            </a:pPr>
            <a:r>
              <a:rPr lang="en-US" sz="1350" dirty="0">
                <a:solidFill>
                  <a:srgbClr val="102A83"/>
                </a:solidFill>
              </a:rPr>
              <a:t>Feeds Entry and Agent risk models; BI dashboard for Risk and AEO</a:t>
            </a:r>
            <a:endParaRPr lang="en-US" sz="1350" dirty="0"/>
          </a:p>
        </p:txBody>
      </p:sp>
      <p:sp>
        <p:nvSpPr>
          <p:cNvPr id="23" name="Text 20"/>
          <p:cNvSpPr txBox="1"/>
          <p:nvPr/>
        </p:nvSpPr>
        <p:spPr>
          <a:xfrm>
            <a:off x="457200" y="4624984"/>
            <a:ext cx="9829800" cy="786213"/>
          </a:xfrm>
          <a:prstGeom prst="rect">
            <a:avLst/>
          </a:prstGeom>
          <a:noFill/>
          <a:ln/>
        </p:spPr>
        <p:txBody>
          <a:bodyPr wrap="square" lIns="0" tIns="0" rIns="0" bIns="0" rtlCol="0" anchor="t"/>
          <a:lstStyle/>
          <a:p>
            <a:pPr indent="0" marL="0">
              <a:spcAft>
                <a:spcPts val="600"/>
              </a:spcAft>
              <a:buNone/>
            </a:pPr>
            <a:r>
              <a:rPr lang="en-US" sz="1600" i="1" dirty="0">
                <a:solidFill>
                  <a:srgbClr val="1F4FD8"/>
                </a:solidFill>
                <a:latin typeface="Calibri" pitchFamily="34" charset="0"/>
                <a:ea typeface="Calibri" pitchFamily="34" charset="-122"/>
                <a:cs typeface="Calibri" pitchFamily="34" charset="-120"/>
              </a:rPr>
              <a:t>One profile per taxpayer, scored the same way for everyone, with the reasons written out, that moves as the taxpayer's behaviour moves.</a:t>
            </a:r>
            <a:endParaRPr lang="en-US" sz="160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What this means for revenue collection and the URA mission</a:t>
            </a:r>
            <a:endParaRPr lang="en-US" sz="2400" dirty="0"/>
          </a:p>
        </p:txBody>
      </p:sp>
      <p:sp>
        <p:nvSpPr>
          <p:cNvPr id="4" name="More revenue per check"/>
          <p:cNvSpPr/>
          <p:nvPr/>
        </p:nvSpPr>
        <p:spPr>
          <a:xfrm>
            <a:off x="457200" y="1283578"/>
            <a:ext cx="3127664" cy="2407778"/>
          </a:xfrm>
          <a:prstGeom prst="roundRect">
            <a:avLst>
              <a:gd name="adj" fmla="val 3038"/>
            </a:avLst>
          </a:prstGeom>
          <a:solidFill>
            <a:srgbClr val="E6ECFF"/>
          </a:solidFill>
          <a:ln w="12700">
            <a:solidFill>
              <a:srgbClr val="E6ECFF"/>
            </a:solidFill>
            <a:prstDash val="solid"/>
          </a:ln>
        </p:spPr>
      </p:sp>
      <p:sp>
        <p:nvSpPr>
          <p:cNvPr id="5" name="Text 2"/>
          <p:cNvSpPr txBox="1"/>
          <p:nvPr/>
        </p:nvSpPr>
        <p:spPr>
          <a:xfrm>
            <a:off x="619676" y="1430993"/>
            <a:ext cx="2802712"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More revenue per check</a:t>
            </a:r>
            <a:endParaRPr lang="en-US" sz="1500" dirty="0"/>
          </a:p>
        </p:txBody>
      </p:sp>
      <p:sp>
        <p:nvSpPr>
          <p:cNvPr id="6" name="Text 3"/>
          <p:cNvSpPr txBox="1"/>
          <p:nvPr/>
        </p:nvSpPr>
        <p:spPr>
          <a:xfrm>
            <a:off x="619676" y="1892893"/>
            <a:ext cx="2802712" cy="1670703"/>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Checks on HIGH and above find a top-up about 40% of the time against 9% for all checks: about 4.5 times as productive per officer hour.</a:t>
            </a:r>
            <a:endParaRPr lang="en-US" sz="1450" dirty="0"/>
          </a:p>
        </p:txBody>
      </p:sp>
      <p:sp>
        <p:nvSpPr>
          <p:cNvPr id="7" name="Focus where the money is"/>
          <p:cNvSpPr/>
          <p:nvPr/>
        </p:nvSpPr>
        <p:spPr>
          <a:xfrm>
            <a:off x="3804206" y="1283578"/>
            <a:ext cx="3127664" cy="2407778"/>
          </a:xfrm>
          <a:prstGeom prst="roundRect">
            <a:avLst>
              <a:gd name="adj" fmla="val 3038"/>
            </a:avLst>
          </a:prstGeom>
          <a:solidFill>
            <a:srgbClr val="E6ECFF"/>
          </a:solidFill>
          <a:ln w="12700">
            <a:solidFill>
              <a:srgbClr val="E6ECFF"/>
            </a:solidFill>
            <a:prstDash val="solid"/>
          </a:ln>
        </p:spPr>
      </p:sp>
      <p:sp>
        <p:nvSpPr>
          <p:cNvPr id="8" name="Text 5"/>
          <p:cNvSpPr txBox="1"/>
          <p:nvPr/>
        </p:nvSpPr>
        <p:spPr>
          <a:xfrm>
            <a:off x="3966682" y="1430993"/>
            <a:ext cx="2802712"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Focus where the money is</a:t>
            </a:r>
            <a:endParaRPr lang="en-US" sz="1500" dirty="0"/>
          </a:p>
        </p:txBody>
      </p:sp>
      <p:sp>
        <p:nvSpPr>
          <p:cNvPr id="9" name="Text 6"/>
          <p:cNvSpPr txBox="1"/>
          <p:nvPr/>
        </p:nvSpPr>
        <p:spPr>
          <a:xfrm>
            <a:off x="3966682" y="1892893"/>
            <a:ext cx="2802712" cy="1670703"/>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The riskiest 8% of taxpayers carried 55% of the top-up money in the six months after each date.</a:t>
            </a:r>
            <a:endParaRPr lang="en-US" sz="1450" dirty="0"/>
          </a:p>
        </p:txBody>
      </p:sp>
      <p:sp>
        <p:nvSpPr>
          <p:cNvPr id="10" name="Facilitate the compliant"/>
          <p:cNvSpPr/>
          <p:nvPr/>
        </p:nvSpPr>
        <p:spPr>
          <a:xfrm>
            <a:off x="7151213" y="1283578"/>
            <a:ext cx="3127664" cy="2407778"/>
          </a:xfrm>
          <a:prstGeom prst="roundRect">
            <a:avLst>
              <a:gd name="adj" fmla="val 3038"/>
            </a:avLst>
          </a:prstGeom>
          <a:solidFill>
            <a:srgbClr val="FFF4C7"/>
          </a:solidFill>
          <a:ln w="12700">
            <a:solidFill>
              <a:srgbClr val="FFF4C7"/>
            </a:solidFill>
            <a:prstDash val="solid"/>
          </a:ln>
        </p:spPr>
      </p:sp>
      <p:sp>
        <p:nvSpPr>
          <p:cNvPr id="11" name="Text 8"/>
          <p:cNvSpPr txBox="1"/>
          <p:nvPr/>
        </p:nvSpPr>
        <p:spPr>
          <a:xfrm>
            <a:off x="7313689" y="1430993"/>
            <a:ext cx="2802712"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Facilitate the compliant</a:t>
            </a:r>
            <a:endParaRPr lang="en-US" sz="1500" dirty="0"/>
          </a:p>
        </p:txBody>
      </p:sp>
      <p:sp>
        <p:nvSpPr>
          <p:cNvPr id="12" name="Text 9"/>
          <p:cNvSpPr txBox="1"/>
          <p:nvPr/>
        </p:nvSpPr>
        <p:spPr>
          <a:xfrm>
            <a:off x="7313689" y="1892893"/>
            <a:ext cx="2802712" cy="1670703"/>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81% of taxpayers are VERY LOW: checks on them find a top-up 3% of the time. Lighter treatment speeds trade and frees officers.</a:t>
            </a:r>
            <a:endParaRPr lang="en-US" sz="1450" dirty="0"/>
          </a:p>
        </p:txBody>
      </p:sp>
      <p:sp>
        <p:nvSpPr>
          <p:cNvPr id="13" name="Fair and accountable"/>
          <p:cNvSpPr/>
          <p:nvPr/>
        </p:nvSpPr>
        <p:spPr>
          <a:xfrm>
            <a:off x="457200" y="3937047"/>
            <a:ext cx="4793043" cy="2211224"/>
          </a:xfrm>
          <a:prstGeom prst="roundRect">
            <a:avLst>
              <a:gd name="adj" fmla="val 3308"/>
            </a:avLst>
          </a:prstGeom>
          <a:solidFill>
            <a:srgbClr val="F1F3F6"/>
          </a:solidFill>
          <a:ln w="12700">
            <a:solidFill>
              <a:srgbClr val="F1F3F6"/>
            </a:solidFill>
            <a:prstDash val="solid"/>
          </a:ln>
        </p:spPr>
      </p:sp>
      <p:sp>
        <p:nvSpPr>
          <p:cNvPr id="14" name="Text 11"/>
          <p:cNvSpPr txBox="1"/>
          <p:nvPr/>
        </p:nvSpPr>
        <p:spPr>
          <a:xfrm>
            <a:off x="619676" y="4084462"/>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Fair and accountable</a:t>
            </a:r>
            <a:endParaRPr lang="en-US" sz="1500" dirty="0"/>
          </a:p>
        </p:txBody>
      </p:sp>
      <p:sp>
        <p:nvSpPr>
          <p:cNvPr id="15" name="Text 12"/>
          <p:cNvSpPr txBox="1"/>
          <p:nvPr/>
        </p:nvSpPr>
        <p:spPr>
          <a:xfrm>
            <a:off x="619676" y="4546363"/>
            <a:ext cx="4468091" cy="147415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Every taxpayer scored by the same rules, with reasons in plain words, a model version and a settings fingerprint on every output.</a:t>
            </a:r>
            <a:endParaRPr lang="en-US" sz="1450" dirty="0"/>
          </a:p>
        </p:txBody>
      </p:sp>
      <p:sp>
        <p:nvSpPr>
          <p:cNvPr id="16" name="Find what selectivity misses"/>
          <p:cNvSpPr/>
          <p:nvPr/>
        </p:nvSpPr>
        <p:spPr>
          <a:xfrm>
            <a:off x="5493957" y="3937047"/>
            <a:ext cx="4793043" cy="2211224"/>
          </a:xfrm>
          <a:prstGeom prst="roundRect">
            <a:avLst>
              <a:gd name="adj" fmla="val 3308"/>
            </a:avLst>
          </a:prstGeom>
          <a:solidFill>
            <a:srgbClr val="F1F3F6"/>
          </a:solidFill>
          <a:ln w="12700">
            <a:solidFill>
              <a:srgbClr val="F1F3F6"/>
            </a:solidFill>
            <a:prstDash val="solid"/>
          </a:ln>
        </p:spPr>
      </p:sp>
      <p:sp>
        <p:nvSpPr>
          <p:cNvPr id="17" name="Text 14"/>
          <p:cNvSpPr txBox="1"/>
          <p:nvPr/>
        </p:nvSpPr>
        <p:spPr>
          <a:xfrm>
            <a:off x="5656433" y="4084462"/>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Find what selectivity misses</a:t>
            </a:r>
            <a:endParaRPr lang="en-US" sz="1500" dirty="0"/>
          </a:p>
        </p:txBody>
      </p:sp>
      <p:sp>
        <p:nvSpPr>
          <p:cNvPr id="18" name="Text 15"/>
          <p:cNvSpPr txBox="1"/>
          <p:nvPr/>
        </p:nvSpPr>
        <p:spPr>
          <a:xfrm>
            <a:off x="5656433" y="4546363"/>
            <a:ext cx="4468091" cy="147415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About half of all hits come from taxpayers below HIGH. Track B is built to find risk that has not yet shown up in a record, such as undervaluation never caught.</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What an officer receives: one workbook, one row per taxpayer</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9829800" cy="914400"/>
        </p:xfrm>
        <a:graphic>
          <a:graphicData uri="http://schemas.openxmlformats.org/drawingml/2006/table">
            <a:tbl>
              <a:tblPr/>
              <a:tblGrid>
                <a:gridCol w="2437140"/>
                <a:gridCol w="3736949"/>
                <a:gridCol w="3655711"/>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Column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says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Example (made up)</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History Risk Score / Band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Track A, from the taxpayer's own record, 0 to 100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62 / HIGH</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Reason 1 to 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The three biggest contributors, fixed wording</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18% of declarations needed a top-up (minimum risk level 3%, maximum at 40%)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Risk Behaviour Flag</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Track B: trading behaviour stands out against similar importers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Y / 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Overall Risk Band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The higher of the two tracks; what officers act on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HIGH</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Overall band set by</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Which track decided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Compliance history</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Notes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No points: unusual pattern, limited history, history and pattern disagree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Limited history (under 10 declarations)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Entry evidence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Entries priced furthest below peers, with entry number</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C13130, KEMBA, 2025: 28% of peers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bl>
          </a:graphicData>
        </a:graphic>
      </p:graphicFrame>
      <p:sp>
        <p:nvSpPr>
          <p:cNvPr id="5" name="Text 1"/>
          <p:cNvSpPr txBox="1"/>
          <p:nvPr/>
        </p:nvSpPr>
        <p:spPr>
          <a:xfrm>
            <a:off x="457200" y="5558612"/>
            <a:ext cx="9829800" cy="589660"/>
          </a:xfrm>
          <a:prstGeom prst="rect">
            <a:avLst/>
          </a:prstGeom>
          <a:noFill/>
          <a:ln/>
        </p:spPr>
        <p:txBody>
          <a:bodyPr wrap="square" lIns="0" tIns="0" rIns="0" bIns="0" rtlCol="0" anchor="t"/>
          <a:lstStyle/>
          <a:p>
            <a:pPr indent="0" marL="0">
              <a:spcAft>
                <a:spcPts val="600"/>
              </a:spcAft>
              <a:buNone/>
            </a:pPr>
            <a:r>
              <a:rPr lang="en-US" sz="1250" dirty="0">
                <a:solidFill>
                  <a:srgbClr val="6B7785"/>
                </a:solidFill>
                <a:latin typeface="Calibri" pitchFamily="34" charset="0"/>
                <a:ea typeface="Calibri" pitchFamily="34" charset="-122"/>
                <a:cs typeface="Calibri" pitchFamily="34" charset="-120"/>
              </a:rPr>
              <a:t>Sheets: Read me, Scores, Risk behaviour flags, Small traders, Entry evidence, Reasons, Parameter values, Band summary, Reason codes, Run info.</a:t>
            </a:r>
            <a:endParaRPr lang="en-US" sz="12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731520" y="2468880"/>
            <a:ext cx="9144000" cy="1188720"/>
          </a:xfrm>
          <a:prstGeom prst="rect">
            <a:avLst/>
          </a:prstGeom>
          <a:noFill/>
          <a:ln/>
        </p:spPr>
        <p:txBody>
          <a:bodyPr wrap="square" rtlCol="0" anchor="ctr"/>
          <a:lstStyle/>
          <a:p>
            <a:pPr algn="l" indent="0" marL="0">
              <a:buNone/>
            </a:pPr>
            <a:r>
              <a:rPr lang="en-US" sz="3400" b="1" dirty="0">
                <a:solidFill>
                  <a:srgbClr val="FFFFFF"/>
                </a:solidFill>
                <a:latin typeface="Bookman Old Style" pitchFamily="34" charset="0"/>
                <a:ea typeface="Bookman Old Style" pitchFamily="34" charset="-122"/>
                <a:cs typeface="Bookman Old Style" pitchFamily="34" charset="-120"/>
              </a:rPr>
              <a:t>2  Data and EDA</a:t>
            </a:r>
            <a:endParaRPr lang="en-US" sz="3400" dirty="0"/>
          </a:p>
        </p:txBody>
      </p:sp>
      <p:sp>
        <p:nvSpPr>
          <p:cNvPr id="3" name="Text 2"/>
          <p:cNvSpPr/>
          <p:nvPr>
            <p:ph idx="103" type="body" hasCustomPrompt="1"/>
          </p:nvPr>
        </p:nvSpPr>
        <p:spPr>
          <a:xfrm>
            <a:off x="731520" y="4069080"/>
            <a:ext cx="9144000" cy="914400"/>
          </a:xfrm>
          <a:prstGeom prst="rect">
            <a:avLst/>
          </a:prstGeom>
          <a:noFill/>
          <a:ln/>
        </p:spPr>
        <p:txBody>
          <a:bodyPr wrap="square" rtlCol="0" anchor="t"/>
          <a:lstStyle/>
          <a:p>
            <a:pPr indent="0" marL="0">
              <a:buNone/>
            </a:pPr>
            <a:r>
              <a:rPr lang="en-US" sz="1800" dirty="0">
                <a:solidFill>
                  <a:srgbClr val="102A83"/>
                </a:solidFill>
                <a:latin typeface="Calibri" pitchFamily="34" charset="0"/>
                <a:ea typeface="Calibri" pitchFamily="34" charset="-122"/>
                <a:cs typeface="Calibri" pitchFamily="34" charset="-120"/>
              </a:rPr>
              <a:t>What the data looks like, and the rules it forced on us</a:t>
            </a:r>
            <a:endParaRPr lang="en-US" sz="180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One view, one row per declaration item, from November 2012 to October 2026</a:t>
            </a:r>
            <a:endParaRPr lang="en-US" sz="2400" dirty="0"/>
          </a:p>
        </p:txBody>
      </p:sp>
      <p:sp>
        <p:nvSpPr>
          <p:cNvPr id="4" name="Text 1"/>
          <p:cNvSpPr txBox="1"/>
          <p:nvPr/>
        </p:nvSpPr>
        <p:spPr>
          <a:xfrm>
            <a:off x="457200" y="1283578"/>
            <a:ext cx="2274664" cy="933628"/>
          </a:xfrm>
          <a:prstGeom prst="rect">
            <a:avLst/>
          </a:prstGeom>
          <a:noFill/>
          <a:ln/>
        </p:spPr>
        <p:txBody>
          <a:bodyPr wrap="square" lIns="0" tIns="0" rIns="0" bIns="0" rtlCol="0" anchor="b"/>
          <a:lstStyle/>
          <a:p>
            <a:pPr indent="0" marL="0">
              <a:buNone/>
            </a:pPr>
            <a:r>
              <a:rPr lang="en-US" sz="4200" b="1" dirty="0">
                <a:solidFill>
                  <a:srgbClr val="1F4FD8"/>
                </a:solidFill>
                <a:latin typeface="Calibri" pitchFamily="34" charset="0"/>
                <a:ea typeface="Calibri" pitchFamily="34" charset="-122"/>
                <a:cs typeface="Calibri" pitchFamily="34" charset="-120"/>
              </a:rPr>
              <a:t>1.2M</a:t>
            </a:r>
            <a:endParaRPr lang="en-US" sz="4200" dirty="0"/>
          </a:p>
        </p:txBody>
      </p:sp>
      <p:sp>
        <p:nvSpPr>
          <p:cNvPr id="5" name="Text 2"/>
          <p:cNvSpPr txBox="1"/>
          <p:nvPr/>
        </p:nvSpPr>
        <p:spPr>
          <a:xfrm>
            <a:off x="457200" y="2266345"/>
            <a:ext cx="2274664"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IM4 and IM7 declarations in every 24-month window</a:t>
            </a:r>
            <a:endParaRPr lang="en-US" sz="1450" dirty="0"/>
          </a:p>
        </p:txBody>
      </p:sp>
      <p:sp>
        <p:nvSpPr>
          <p:cNvPr id="6" name="Text 3"/>
          <p:cNvSpPr txBox="1"/>
          <p:nvPr/>
        </p:nvSpPr>
        <p:spPr>
          <a:xfrm>
            <a:off x="2934960" y="1283578"/>
            <a:ext cx="2274664" cy="933628"/>
          </a:xfrm>
          <a:prstGeom prst="rect">
            <a:avLst/>
          </a:prstGeom>
          <a:noFill/>
          <a:ln/>
        </p:spPr>
        <p:txBody>
          <a:bodyPr wrap="square" lIns="0" tIns="0" rIns="0" bIns="0" rtlCol="0" anchor="b"/>
          <a:lstStyle/>
          <a:p>
            <a:pPr indent="0" marL="0">
              <a:buNone/>
            </a:pPr>
            <a:r>
              <a:rPr lang="en-US" sz="4200" b="1" dirty="0">
                <a:solidFill>
                  <a:srgbClr val="1F4FD8"/>
                </a:solidFill>
                <a:latin typeface="Calibri" pitchFamily="34" charset="0"/>
                <a:ea typeface="Calibri" pitchFamily="34" charset="-122"/>
                <a:cs typeface="Calibri" pitchFamily="34" charset="-120"/>
              </a:rPr>
              <a:t>58,161</a:t>
            </a:r>
            <a:endParaRPr lang="en-US" sz="4200" dirty="0"/>
          </a:p>
        </p:txBody>
      </p:sp>
      <p:sp>
        <p:nvSpPr>
          <p:cNvPr id="7" name="Text 4"/>
          <p:cNvSpPr txBox="1"/>
          <p:nvPr/>
        </p:nvSpPr>
        <p:spPr>
          <a:xfrm>
            <a:off x="2934960" y="2266345"/>
            <a:ext cx="2274664"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taxpayers with declarations in the 24 months to Mar 2026</a:t>
            </a:r>
            <a:endParaRPr lang="en-US" sz="1450" dirty="0"/>
          </a:p>
        </p:txBody>
      </p:sp>
      <p:sp>
        <p:nvSpPr>
          <p:cNvPr id="8" name="Text 5"/>
          <p:cNvSpPr txBox="1"/>
          <p:nvPr/>
        </p:nvSpPr>
        <p:spPr>
          <a:xfrm>
            <a:off x="5412719" y="1283578"/>
            <a:ext cx="2274664" cy="933628"/>
          </a:xfrm>
          <a:prstGeom prst="rect">
            <a:avLst/>
          </a:prstGeom>
          <a:noFill/>
          <a:ln/>
        </p:spPr>
        <p:txBody>
          <a:bodyPr wrap="square" lIns="0" tIns="0" rIns="0" bIns="0" rtlCol="0" anchor="b"/>
          <a:lstStyle/>
          <a:p>
            <a:pPr indent="0" marL="0">
              <a:buNone/>
            </a:pPr>
            <a:r>
              <a:rPr lang="en-US" sz="4200" b="1" dirty="0">
                <a:solidFill>
                  <a:srgbClr val="B88A00"/>
                </a:solidFill>
                <a:latin typeface="Calibri" pitchFamily="34" charset="0"/>
                <a:ea typeface="Calibri" pitchFamily="34" charset="-122"/>
                <a:cs typeface="Calibri" pitchFamily="34" charset="-120"/>
              </a:rPr>
              <a:t>2014</a:t>
            </a:r>
            <a:endParaRPr lang="en-US" sz="4200" dirty="0"/>
          </a:p>
        </p:txBody>
      </p:sp>
      <p:sp>
        <p:nvSpPr>
          <p:cNvPr id="9" name="Text 6"/>
          <p:cNvSpPr txBox="1"/>
          <p:nvPr/>
        </p:nvSpPr>
        <p:spPr>
          <a:xfrm>
            <a:off x="5412719" y="2266345"/>
            <a:ext cx="2274664"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stable data from Sep 2014; earlier months are start-up and a suspect bump</a:t>
            </a:r>
            <a:endParaRPr lang="en-US" sz="1450" dirty="0"/>
          </a:p>
        </p:txBody>
      </p:sp>
      <p:sp>
        <p:nvSpPr>
          <p:cNvPr id="10" name="Text 7"/>
          <p:cNvSpPr txBox="1"/>
          <p:nvPr/>
        </p:nvSpPr>
        <p:spPr>
          <a:xfrm>
            <a:off x="7890479" y="1283578"/>
            <a:ext cx="2355902" cy="933628"/>
          </a:xfrm>
          <a:prstGeom prst="rect">
            <a:avLst/>
          </a:prstGeom>
          <a:noFill/>
          <a:ln/>
        </p:spPr>
        <p:txBody>
          <a:bodyPr wrap="square" lIns="0" tIns="0" rIns="0" bIns="0" rtlCol="0" anchor="b"/>
          <a:lstStyle/>
          <a:p>
            <a:pPr indent="0" marL="0">
              <a:buNone/>
            </a:pPr>
            <a:r>
              <a:rPr lang="en-US" sz="4200" b="1" dirty="0">
                <a:solidFill>
                  <a:srgbClr val="B5482B"/>
                </a:solidFill>
                <a:latin typeface="Calibri" pitchFamily="34" charset="0"/>
                <a:ea typeface="Calibri" pitchFamily="34" charset="-122"/>
                <a:cs typeface="Calibri" pitchFamily="34" charset="-120"/>
              </a:rPr>
              <a:t>7%</a:t>
            </a:r>
            <a:endParaRPr lang="en-US" sz="4200" dirty="0"/>
          </a:p>
        </p:txBody>
      </p:sp>
      <p:sp>
        <p:nvSpPr>
          <p:cNvPr id="11" name="Text 8"/>
          <p:cNvSpPr txBox="1"/>
          <p:nvPr/>
        </p:nvSpPr>
        <p:spPr>
          <a:xfrm>
            <a:off x="7890479" y="2266345"/>
            <a:ext cx="2355902"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of checks found a top-up after March 2024, down from 11-13%</a:t>
            </a:r>
            <a:endParaRPr lang="en-US" sz="1450" dirty="0"/>
          </a:p>
        </p:txBody>
      </p:sp>
      <p:sp>
        <p:nvSpPr>
          <p:cNvPr id="12" name="Text 9"/>
          <p:cNvSpPr txBox="1"/>
          <p:nvPr/>
        </p:nvSpPr>
        <p:spPr>
          <a:xfrm>
            <a:off x="457200" y="3937047"/>
            <a:ext cx="9829800" cy="2260363"/>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1B2430"/>
                </a:solidFill>
                <a:latin typeface="Calibri" pitchFamily="34" charset="0"/>
                <a:ea typeface="Calibri" pitchFamily="34" charset="-122"/>
                <a:cs typeface="Calibri" pitchFamily="34" charset="-120"/>
              </a:rPr>
              <a:t>Key fields: declaration and item, date, TIN, original and final tax, top-up and amendment flags, lanes (red, yellow, green, blue), HS code, origin, CPC, station, value, weight, quantity.</a:t>
            </a:r>
            <a:endParaRPr lang="en-US" sz="1450" dirty="0"/>
          </a:p>
          <a:p>
            <a:pPr marL="203200" indent="-203200">
              <a:spcAft>
                <a:spcPts val="800"/>
              </a:spcAft>
              <a:buSzPct val="100000"/>
              <a:buChar char="•"/>
            </a:pPr>
            <a:r>
              <a:rPr lang="en-US" sz="1450" dirty="0">
                <a:solidFill>
                  <a:srgbClr val="1B2430"/>
                </a:solidFill>
                <a:latin typeface="Calibri" pitchFamily="34" charset="0"/>
                <a:ea typeface="Calibri" pitchFamily="34" charset="-122"/>
                <a:cs typeface="Calibri" pitchFamily="34" charset="-120"/>
              </a:rPr>
              <a:t>Scored regimes: IM4 and IM7 only; transit and export carry guarantees, not duty paid.</a:t>
            </a:r>
            <a:endParaRPr lang="en-US" sz="1450" dirty="0"/>
          </a:p>
          <a:p>
            <a:pPr marL="203200" indent="-203200">
              <a:spcAft>
                <a:spcPts val="800"/>
              </a:spcAft>
              <a:buSzPct val="100000"/>
              <a:buChar char="•"/>
            </a:pPr>
            <a:r>
              <a:rPr lang="en-US" sz="1450" dirty="0">
                <a:solidFill>
                  <a:srgbClr val="1B2430"/>
                </a:solidFill>
                <a:latin typeface="Calibri" pitchFamily="34" charset="0"/>
                <a:ea typeface="Calibri" pitchFamily="34" charset="-122"/>
                <a:cs typeface="Calibri" pitchFamily="34" charset="-120"/>
              </a:rPr>
              <a:t>Outcome: a red or yellow check that ended in a top-up (a "hit"), in the 6 months after each date.</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EDA findings that became cleaning rules</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9829800" cy="914400"/>
        </p:xfrm>
        <a:graphic>
          <a:graphicData uri="http://schemas.openxmlformats.org/drawingml/2006/table">
            <a:tbl>
              <a:tblPr/>
              <a:tblGrid>
                <a:gridCol w="3493235"/>
                <a:gridCol w="3249521"/>
                <a:gridCol w="3087045"/>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we found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Evidence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Items repeated up to 522 times, copies identical</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14,219 items duplicated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Keep one row per item</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Tax amounts repeat on every item</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Identical on every item of a declaration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Take tax once per declaration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top_up_amt holds the final tax, not the top-up</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Equals final tax on 99.5% of unflagged declarations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Top-up = flag Y and final above original</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Original tax blank on 37% of unflagged declarations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Blank means unchanged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Fill with the final tax</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14,065 cancelled declarations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Status field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Excluded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Consignee is always the taxpayer in IM4/IM7</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No variation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Consignee features dropped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Price per kg runs from UGX 69 to 17 million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Commodities differ</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Judge prices within each HS code; below 1% of the HS median = keying error</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Fuel priced per litre with specific duties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HS 27 dominated value gaps (UGX 64bn of 76bn)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Fuel left out of price evidence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The small-history problem shaped the whole design</a:t>
            </a:r>
            <a:endParaRPr lang="en-US" sz="2400" dirty="0"/>
          </a:p>
        </p:txBody>
      </p:sp>
      <p:sp>
        <p:nvSpPr>
          <p:cNvPr id="4" name="Text 1"/>
          <p:cNvSpPr txBox="1"/>
          <p:nvPr/>
        </p:nvSpPr>
        <p:spPr>
          <a:xfrm>
            <a:off x="457200" y="1283578"/>
            <a:ext cx="2274664" cy="933628"/>
          </a:xfrm>
          <a:prstGeom prst="rect">
            <a:avLst/>
          </a:prstGeom>
          <a:noFill/>
          <a:ln/>
        </p:spPr>
        <p:txBody>
          <a:bodyPr wrap="square" lIns="0" tIns="0" rIns="0" bIns="0" rtlCol="0" anchor="b"/>
          <a:lstStyle/>
          <a:p>
            <a:pPr indent="0" marL="0">
              <a:buNone/>
            </a:pPr>
            <a:r>
              <a:rPr lang="en-US" sz="4200" b="1" dirty="0">
                <a:solidFill>
                  <a:srgbClr val="B5482B"/>
                </a:solidFill>
                <a:latin typeface="Calibri" pitchFamily="34" charset="0"/>
                <a:ea typeface="Calibri" pitchFamily="34" charset="-122"/>
                <a:cs typeface="Calibri" pitchFamily="34" charset="-120"/>
              </a:rPr>
              <a:t>87%</a:t>
            </a:r>
            <a:endParaRPr lang="en-US" sz="4200" dirty="0"/>
          </a:p>
        </p:txBody>
      </p:sp>
      <p:sp>
        <p:nvSpPr>
          <p:cNvPr id="5" name="Text 2"/>
          <p:cNvSpPr txBox="1"/>
          <p:nvPr/>
        </p:nvSpPr>
        <p:spPr>
          <a:xfrm>
            <a:off x="457200" y="2266345"/>
            <a:ext cx="2274664"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of taxpayers have fewer than 10 declarations in 24 months</a:t>
            </a:r>
            <a:endParaRPr lang="en-US" sz="1450" dirty="0"/>
          </a:p>
        </p:txBody>
      </p:sp>
      <p:sp>
        <p:nvSpPr>
          <p:cNvPr id="6" name="Text 3"/>
          <p:cNvSpPr txBox="1"/>
          <p:nvPr/>
        </p:nvSpPr>
        <p:spPr>
          <a:xfrm>
            <a:off x="457200" y="3249111"/>
            <a:ext cx="2274664" cy="933628"/>
          </a:xfrm>
          <a:prstGeom prst="rect">
            <a:avLst/>
          </a:prstGeom>
          <a:noFill/>
          <a:ln/>
        </p:spPr>
        <p:txBody>
          <a:bodyPr wrap="square" lIns="0" tIns="0" rIns="0" bIns="0" rtlCol="0" anchor="b"/>
          <a:lstStyle/>
          <a:p>
            <a:pPr indent="0" marL="0">
              <a:buNone/>
            </a:pPr>
            <a:r>
              <a:rPr lang="en-US" sz="4200" b="1" dirty="0">
                <a:solidFill>
                  <a:srgbClr val="1F4FD8"/>
                </a:solidFill>
                <a:latin typeface="Calibri" pitchFamily="34" charset="0"/>
                <a:ea typeface="Calibri" pitchFamily="34" charset="-122"/>
                <a:cs typeface="Calibri" pitchFamily="34" charset="-120"/>
              </a:rPr>
              <a:t>9%</a:t>
            </a:r>
            <a:endParaRPr lang="en-US" sz="4200" dirty="0"/>
          </a:p>
        </p:txBody>
      </p:sp>
      <p:sp>
        <p:nvSpPr>
          <p:cNvPr id="7" name="Text 4"/>
          <p:cNvSpPr txBox="1"/>
          <p:nvPr/>
        </p:nvSpPr>
        <p:spPr>
          <a:xfrm>
            <a:off x="457200" y="4231877"/>
            <a:ext cx="2274664"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of declarations and 14% of later hits come from them</a:t>
            </a:r>
            <a:endParaRPr lang="en-US" sz="1450" dirty="0"/>
          </a:p>
        </p:txBody>
      </p:sp>
      <p:sp>
        <p:nvSpPr>
          <p:cNvPr id="8" name="The fix: credibility weighting, one way only"/>
          <p:cNvSpPr/>
          <p:nvPr/>
        </p:nvSpPr>
        <p:spPr>
          <a:xfrm>
            <a:off x="3138055" y="1283578"/>
            <a:ext cx="7148945" cy="2063809"/>
          </a:xfrm>
          <a:prstGeom prst="roundRect">
            <a:avLst>
              <a:gd name="adj" fmla="val 3545"/>
            </a:avLst>
          </a:prstGeom>
          <a:solidFill>
            <a:srgbClr val="E6ECFF"/>
          </a:solidFill>
          <a:ln w="12700">
            <a:solidFill>
              <a:srgbClr val="E6ECFF"/>
            </a:solidFill>
            <a:prstDash val="solid"/>
          </a:ln>
        </p:spPr>
      </p:sp>
      <p:sp>
        <p:nvSpPr>
          <p:cNvPr id="9" name="Text 6"/>
          <p:cNvSpPr txBox="1"/>
          <p:nvPr/>
        </p:nvSpPr>
        <p:spPr>
          <a:xfrm>
            <a:off x="3300531" y="1430993"/>
            <a:ext cx="6823993"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The fix: credibility weighting, one way only</a:t>
            </a:r>
            <a:endParaRPr lang="en-US" sz="1500" dirty="0"/>
          </a:p>
        </p:txBody>
      </p:sp>
      <p:sp>
        <p:nvSpPr>
          <p:cNvPr id="10" name="Text 7"/>
          <p:cNvSpPr txBox="1"/>
          <p:nvPr/>
        </p:nvSpPr>
        <p:spPr>
          <a:xfrm>
            <a:off x="3300531" y="1892893"/>
            <a:ext cx="6823993" cy="1326735"/>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rate used = n / (n + 10) x own rate + 10 / (n + 10) x population average, only when that lowers it.</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n = declarations (items for the price benchmark). A taxpayer with 2 declarations keeps 17% of their own rate; with 40 they keep 80%.</a:t>
            </a:r>
            <a:endParaRPr lang="en-US" sz="1450" dirty="0"/>
          </a:p>
        </p:txBody>
      </p:sp>
      <p:sp>
        <p:nvSpPr>
          <p:cNvPr id="11" name="Effect"/>
          <p:cNvSpPr/>
          <p:nvPr/>
        </p:nvSpPr>
        <p:spPr>
          <a:xfrm>
            <a:off x="3138055" y="3593079"/>
            <a:ext cx="3452616" cy="2555193"/>
          </a:xfrm>
          <a:prstGeom prst="roundRect">
            <a:avLst>
              <a:gd name="adj" fmla="val 2863"/>
            </a:avLst>
          </a:prstGeom>
          <a:solidFill>
            <a:srgbClr val="F1F3F6"/>
          </a:solidFill>
          <a:ln w="12700">
            <a:solidFill>
              <a:srgbClr val="F1F3F6"/>
            </a:solidFill>
            <a:prstDash val="solid"/>
          </a:ln>
        </p:spPr>
      </p:sp>
      <p:sp>
        <p:nvSpPr>
          <p:cNvPr id="12" name="Text 9"/>
          <p:cNvSpPr txBox="1"/>
          <p:nvPr/>
        </p:nvSpPr>
        <p:spPr>
          <a:xfrm>
            <a:off x="3300531" y="3740494"/>
            <a:ext cx="3127664"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Effect</a:t>
            </a:r>
            <a:endParaRPr lang="en-US" sz="1500" dirty="0"/>
          </a:p>
        </p:txBody>
      </p:sp>
      <p:sp>
        <p:nvSpPr>
          <p:cNvPr id="13" name="Text 10"/>
          <p:cNvSpPr txBox="1"/>
          <p:nvPr/>
        </p:nvSpPr>
        <p:spPr>
          <a:xfrm>
            <a:off x="3300531" y="4202394"/>
            <a:ext cx="3127664" cy="1818118"/>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Small-history taxpayers in HIGH or VERY HIGH fell from 5,151 to 2,314 (Mar 2026), with the same lift at the top 1%.</a:t>
            </a:r>
            <a:endParaRPr lang="en-US" sz="1450" dirty="0"/>
          </a:p>
        </p:txBody>
      </p:sp>
      <p:sp>
        <p:nvSpPr>
          <p:cNvPr id="14" name="Tested"/>
          <p:cNvSpPr/>
          <p:nvPr/>
        </p:nvSpPr>
        <p:spPr>
          <a:xfrm>
            <a:off x="6834384" y="3593079"/>
            <a:ext cx="3452616" cy="2555193"/>
          </a:xfrm>
          <a:prstGeom prst="roundRect">
            <a:avLst>
              <a:gd name="adj" fmla="val 2863"/>
            </a:avLst>
          </a:prstGeom>
          <a:solidFill>
            <a:srgbClr val="F1F3F6"/>
          </a:solidFill>
          <a:ln w="12700">
            <a:solidFill>
              <a:srgbClr val="F1F3F6"/>
            </a:solidFill>
            <a:prstDash val="solid"/>
          </a:ln>
        </p:spPr>
      </p:sp>
      <p:sp>
        <p:nvSpPr>
          <p:cNvPr id="15" name="Text 12"/>
          <p:cNvSpPr txBox="1"/>
          <p:nvPr/>
        </p:nvSpPr>
        <p:spPr>
          <a:xfrm>
            <a:off x="6996860" y="3740494"/>
            <a:ext cx="3127664"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Tested</a:t>
            </a:r>
            <a:endParaRPr lang="en-US" sz="1500" dirty="0"/>
          </a:p>
        </p:txBody>
      </p:sp>
      <p:sp>
        <p:nvSpPr>
          <p:cNvPr id="16" name="Text 13"/>
          <p:cNvSpPr txBox="1"/>
          <p:nvPr/>
        </p:nvSpPr>
        <p:spPr>
          <a:xfrm>
            <a:off x="6996860" y="4202394"/>
            <a:ext cx="3127664" cy="1818118"/>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K = 0 (no weighting) loses 46% of hits in the top 5%; K = 20 gains hits but lowers lift. K = 10 kept.</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Getting nine years out of Hue: limits we had to engineer around</a:t>
            </a:r>
            <a:endParaRPr lang="en-US" sz="2400" dirty="0"/>
          </a:p>
        </p:txBody>
      </p:sp>
      <p:sp>
        <p:nvSpPr>
          <p:cNvPr id="4" name="Split queries"/>
          <p:cNvSpPr/>
          <p:nvPr/>
        </p:nvSpPr>
        <p:spPr>
          <a:xfrm>
            <a:off x="457200" y="1283578"/>
            <a:ext cx="3127664" cy="2555193"/>
          </a:xfrm>
          <a:prstGeom prst="roundRect">
            <a:avLst>
              <a:gd name="adj" fmla="val 2863"/>
            </a:avLst>
          </a:prstGeom>
          <a:solidFill>
            <a:srgbClr val="E6ECFF"/>
          </a:solidFill>
          <a:ln w="12700">
            <a:solidFill>
              <a:srgbClr val="E6ECFF"/>
            </a:solidFill>
            <a:prstDash val="solid"/>
          </a:ln>
        </p:spPr>
      </p:sp>
      <p:sp>
        <p:nvSpPr>
          <p:cNvPr id="5" name="Text 2"/>
          <p:cNvSpPr txBox="1"/>
          <p:nvPr/>
        </p:nvSpPr>
        <p:spPr>
          <a:xfrm>
            <a:off x="619676" y="1430993"/>
            <a:ext cx="2802712"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Split queries</a:t>
            </a:r>
            <a:endParaRPr lang="en-US" sz="1500" dirty="0"/>
          </a:p>
        </p:txBody>
      </p:sp>
      <p:sp>
        <p:nvSpPr>
          <p:cNvPr id="6" name="Text 3"/>
          <p:cNvSpPr txBox="1"/>
          <p:nvPr/>
        </p:nvSpPr>
        <p:spPr>
          <a:xfrm>
            <a:off x="619676" y="1892893"/>
            <a:ext cx="2802712" cy="1818118"/>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The full feature query cut by code into 5 parts per date; each finishes inside Hue's limit and the parts merge back exactly.</a:t>
            </a:r>
            <a:endParaRPr lang="en-US" sz="1450" dirty="0"/>
          </a:p>
        </p:txBody>
      </p:sp>
      <p:sp>
        <p:nvSpPr>
          <p:cNvPr id="7" name="The long run"/>
          <p:cNvSpPr/>
          <p:nvPr/>
        </p:nvSpPr>
        <p:spPr>
          <a:xfrm>
            <a:off x="3804206" y="1283578"/>
            <a:ext cx="3127664" cy="2555193"/>
          </a:xfrm>
          <a:prstGeom prst="roundRect">
            <a:avLst>
              <a:gd name="adj" fmla="val 2863"/>
            </a:avLst>
          </a:prstGeom>
          <a:solidFill>
            <a:srgbClr val="E6ECFF"/>
          </a:solidFill>
          <a:ln w="12700">
            <a:solidFill>
              <a:srgbClr val="E6ECFF"/>
            </a:solidFill>
            <a:prstDash val="solid"/>
          </a:ln>
        </p:spPr>
      </p:sp>
      <p:sp>
        <p:nvSpPr>
          <p:cNvPr id="8" name="Text 5"/>
          <p:cNvSpPr txBox="1"/>
          <p:nvPr/>
        </p:nvSpPr>
        <p:spPr>
          <a:xfrm>
            <a:off x="3966682" y="1430993"/>
            <a:ext cx="2802712"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The long run</a:t>
            </a:r>
            <a:endParaRPr lang="en-US" sz="1500" dirty="0"/>
          </a:p>
        </p:txBody>
      </p:sp>
      <p:sp>
        <p:nvSpPr>
          <p:cNvPr id="9" name="Text 6"/>
          <p:cNvSpPr txBox="1"/>
          <p:nvPr/>
        </p:nvSpPr>
        <p:spPr>
          <a:xfrm>
            <a:off x="3966682" y="1892893"/>
            <a:ext cx="2802712" cy="1818118"/>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One pass of additive counts per taxpayer per half-year, Oct 2014 to Sep 2026, in 12 pieces of 30,000 to 49,000 rows.</a:t>
            </a:r>
            <a:endParaRPr lang="en-US" sz="1450" dirty="0"/>
          </a:p>
        </p:txBody>
      </p:sp>
      <p:sp>
        <p:nvSpPr>
          <p:cNvPr id="10" name="Checked"/>
          <p:cNvSpPr/>
          <p:nvPr/>
        </p:nvSpPr>
        <p:spPr>
          <a:xfrm>
            <a:off x="7151213" y="1283578"/>
            <a:ext cx="3127664" cy="2555193"/>
          </a:xfrm>
          <a:prstGeom prst="roundRect">
            <a:avLst>
              <a:gd name="adj" fmla="val 2863"/>
            </a:avLst>
          </a:prstGeom>
          <a:solidFill>
            <a:srgbClr val="FFF4C7"/>
          </a:solidFill>
          <a:ln w="12700">
            <a:solidFill>
              <a:srgbClr val="FFF4C7"/>
            </a:solidFill>
            <a:prstDash val="solid"/>
          </a:ln>
        </p:spPr>
      </p:sp>
      <p:sp>
        <p:nvSpPr>
          <p:cNvPr id="11" name="Text 8"/>
          <p:cNvSpPr txBox="1"/>
          <p:nvPr/>
        </p:nvSpPr>
        <p:spPr>
          <a:xfrm>
            <a:off x="7313689" y="1430993"/>
            <a:ext cx="2802712"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Checked</a:t>
            </a:r>
            <a:endParaRPr lang="en-US" sz="1500" dirty="0"/>
          </a:p>
        </p:txBody>
      </p:sp>
      <p:sp>
        <p:nvSpPr>
          <p:cNvPr id="12" name="Text 9"/>
          <p:cNvSpPr txBox="1"/>
          <p:nvPr/>
        </p:nvSpPr>
        <p:spPr>
          <a:xfrm>
            <a:off x="7313689" y="1892893"/>
            <a:ext cx="2802712" cy="1818118"/>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Against the six dates pulled in full: same taxpayers, and 99.5 to 100% matching on every measure.</a:t>
            </a:r>
            <a:endParaRPr lang="en-US" sz="1450" dirty="0"/>
          </a:p>
        </p:txBody>
      </p:sp>
      <p:sp>
        <p:nvSpPr>
          <p:cNvPr id="13" name="Text 10"/>
          <p:cNvSpPr txBox="1"/>
          <p:nvPr/>
        </p:nvSpPr>
        <p:spPr>
          <a:xfrm>
            <a:off x="457200" y="4133601"/>
            <a:ext cx="9829800" cy="1965533"/>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1B2430"/>
                </a:solidFill>
                <a:latin typeface="Calibri" pitchFamily="34" charset="0"/>
                <a:ea typeface="Calibri" pitchFamily="34" charset="-122"/>
                <a:cs typeface="Calibri" pitchFamily="34" charset="-120"/>
              </a:rPr>
              <a:t>Every extract passes automatic checks: one row per TIN, valid TINs, rates in range, hits never above checks, no round-number cut-offs.</a:t>
            </a:r>
            <a:endParaRPr lang="en-US" sz="1450" dirty="0"/>
          </a:p>
          <a:p>
            <a:pPr marL="203200" indent="-203200">
              <a:spcAft>
                <a:spcPts val="800"/>
              </a:spcAft>
              <a:buSzPct val="100000"/>
              <a:buChar char="•"/>
            </a:pPr>
            <a:r>
              <a:rPr lang="en-US" sz="1450" dirty="0">
                <a:solidFill>
                  <a:srgbClr val="1B2430"/>
                </a:solidFill>
                <a:latin typeface="Calibri" pitchFamily="34" charset="0"/>
                <a:ea typeface="Calibri" pitchFamily="34" charset="-122"/>
                <a:cs typeface="Calibri" pitchFamily="34" charset="-120"/>
              </a:rPr>
              <a:t>Tested on a local copy of Spark: the split parts, the Zeppelin path and the long run each equal the full query.</a:t>
            </a:r>
            <a:endParaRPr lang="en-US" sz="1450" dirty="0"/>
          </a:p>
          <a:p>
            <a:pPr marL="203200" indent="-203200">
              <a:spcAft>
                <a:spcPts val="800"/>
              </a:spcAft>
              <a:buSzPct val="100000"/>
              <a:buChar char="•"/>
            </a:pPr>
            <a:r>
              <a:rPr lang="en-US" sz="1450" dirty="0">
                <a:solidFill>
                  <a:srgbClr val="1B2430"/>
                </a:solidFill>
                <a:latin typeface="Calibri" pitchFamily="34" charset="0"/>
                <a:ea typeface="Calibri" pitchFamily="34" charset="-122"/>
                <a:cs typeface="Calibri" pitchFamily="34" charset="-120"/>
              </a:rPr>
              <a:t>Zeppelin access (DE ticket) would replace all of this with one run.</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731520" y="2468880"/>
            <a:ext cx="9144000" cy="1188720"/>
          </a:xfrm>
          <a:prstGeom prst="rect">
            <a:avLst/>
          </a:prstGeom>
          <a:noFill/>
          <a:ln/>
        </p:spPr>
        <p:txBody>
          <a:bodyPr wrap="square" rtlCol="0" anchor="ctr"/>
          <a:lstStyle/>
          <a:p>
            <a:pPr algn="l" indent="0" marL="0">
              <a:buNone/>
            </a:pPr>
            <a:r>
              <a:rPr lang="en-US" sz="3400" b="1" dirty="0">
                <a:solidFill>
                  <a:srgbClr val="FFFFFF"/>
                </a:solidFill>
                <a:latin typeface="Bookman Old Style" pitchFamily="34" charset="0"/>
                <a:ea typeface="Bookman Old Style" pitchFamily="34" charset="-122"/>
                <a:cs typeface="Bookman Old Style" pitchFamily="34" charset="-120"/>
              </a:rPr>
              <a:t>3  From parameters to features</a:t>
            </a:r>
            <a:endParaRPr lang="en-US" sz="3400" dirty="0"/>
          </a:p>
        </p:txBody>
      </p:sp>
      <p:sp>
        <p:nvSpPr>
          <p:cNvPr id="3" name="Text 2"/>
          <p:cNvSpPr/>
          <p:nvPr>
            <p:ph idx="103" type="body" hasCustomPrompt="1"/>
          </p:nvPr>
        </p:nvSpPr>
        <p:spPr>
          <a:xfrm>
            <a:off x="731520" y="4069080"/>
            <a:ext cx="9144000" cy="914400"/>
          </a:xfrm>
          <a:prstGeom prst="rect">
            <a:avLst/>
          </a:prstGeom>
          <a:noFill/>
          <a:ln/>
        </p:spPr>
        <p:txBody>
          <a:bodyPr wrap="square" rtlCol="0" anchor="t"/>
          <a:lstStyle/>
          <a:p>
            <a:pPr indent="0" marL="0">
              <a:buNone/>
            </a:pPr>
            <a:r>
              <a:rPr lang="en-US" sz="1800" dirty="0">
                <a:solidFill>
                  <a:srgbClr val="102A83"/>
                </a:solidFill>
                <a:latin typeface="Calibri" pitchFamily="34" charset="0"/>
                <a:ea typeface="Calibri" pitchFamily="34" charset="-122"/>
                <a:cs typeface="Calibri" pitchFamily="34" charset="-120"/>
              </a:rPr>
              <a:t>How the agreed parameters were mapped, built, chosen and weighed</a:t>
            </a:r>
            <a:endParaRPr lang="en-US" sz="180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Of the 20 agreed parameters, 8 are scored, 2 are built and 11 are blocked by data</a:t>
            </a:r>
            <a:endParaRPr lang="en-US" sz="2400" dirty="0"/>
          </a:p>
        </p:txBody>
      </p:sp>
      <p:graphicFrame>
        <p:nvGraphicFramePr>
          <p:cNvPr id="4" name="Chart 0" descr=""/>
          <p:cNvGraphicFramePr/>
          <p:nvPr/>
        </p:nvGraphicFramePr>
        <p:xfrm>
          <a:off x="457200" y="1283578"/>
          <a:ext cx="3736949" cy="3341406"/>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437863" y="1283578"/>
          <a:ext cx="5849137" cy="914400"/>
        </p:xfrm>
        <a:graphic>
          <a:graphicData uri="http://schemas.openxmlformats.org/drawingml/2006/table">
            <a:tbl>
              <a:tblPr/>
              <a:tblGrid>
                <a:gridCol w="1299808"/>
                <a:gridCol w="4549329"/>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Status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Parameters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r>
              <a:tr h="0">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Scored (8)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PAR_045T share topped up, PAR_077 severe top-ups, PAR_045 amendments, PAR_048 top-ups over tax, PAR_076 value below benchmark, PAR_066 tax reduced, PAR_105 recent top-up, PAR_023 station movement</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Built (2)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PAR_067 unit value reduced (price against own history), PAR_053 tax forgone through exemptions (exemption and watch-list APC use)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Blocked (11)</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PAR_012, 015, 016, 039, 040, 051, 054, 075, 096 (need declaration versions, boxes 45/46, penalties); PAR_078, 173 (agent TIN: agent model)</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bl>
          </a:graphicData>
        </a:graphic>
      </p:graphicFrame>
      <p:sp>
        <p:nvSpPr>
          <p:cNvPr id="6" name="Text 1"/>
          <p:cNvSpPr txBox="1"/>
          <p:nvPr/>
        </p:nvSpPr>
        <p:spPr>
          <a:xfrm>
            <a:off x="457200" y="5214644"/>
            <a:ext cx="9829800" cy="786213"/>
          </a:xfrm>
          <a:prstGeom prst="rect">
            <a:avLst/>
          </a:prstGeom>
          <a:noFill/>
          <a:ln/>
        </p:spPr>
        <p:txBody>
          <a:bodyPr wrap="square" lIns="0" tIns="0" rIns="0" bIns="0" rtlCol="0" anchor="t"/>
          <a:lstStyle/>
          <a:p>
            <a:pPr indent="0" marL="0">
              <a:spcAft>
                <a:spcPts val="600"/>
              </a:spcAft>
              <a:buNone/>
            </a:pPr>
            <a:r>
              <a:rPr lang="en-US" sz="1350" dirty="0">
                <a:solidFill>
                  <a:srgbClr val="102A83"/>
                </a:solidFill>
                <a:latin typeface="Calibri" pitchFamily="34" charset="0"/>
                <a:ea typeface="Calibri" pitchFamily="34" charset="-122"/>
                <a:cs typeface="Calibri" pitchFamily="34" charset="-120"/>
              </a:rPr>
              <a:t>Beyond the 20: duty below HS peers, watch-list APC use, same-day splitting above the norm, new traders, price deviation (built in version 2).</a:t>
            </a:r>
            <a:endParaRPr lang="en-US" sz="13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How each scored parameter became a feature</a:t>
            </a:r>
            <a:endParaRPr lang="en-US" sz="2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9829800" cy="914400"/>
        </p:xfrm>
        <a:graphic>
          <a:graphicData uri="http://schemas.openxmlformats.org/drawingml/2006/table">
            <a:tbl>
              <a:tblPr/>
              <a:tblGrid>
                <a:gridCol w="934237"/>
                <a:gridCol w="2071569"/>
                <a:gridCol w="3736949"/>
                <a:gridCol w="1056094"/>
                <a:gridCol w="974856"/>
                <a:gridCol w="1056094"/>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Code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Officers' parameter</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Feature built (per taxpayer)</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Min risk level</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Maximum</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Weight</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PAR_045T</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Entries with top-up / total entries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Share of declarations with flag Y and final tax above original</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PAR_077</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Severe top-ups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Share of declarations whose top-up is 30%+ of the final tax</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26%</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PAR_045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Declarations amended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Share of declarations with the amendment flag</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21%</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PAR_048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Top-ups over tax</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Top-ups as a share of FINAL tax</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PAR_076</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Value below benchmark</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Shortfall against the HS (and origin) median, per kg and per unit, as a share of value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PAR_066</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Negative top-ups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Share of declarations with final tax below original</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PAR_105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Recent top-ups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A top-up within 180 days of the date (yes/no)</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no</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PAR_023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Station movement</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Share of declarations away from the main station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70%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5706027"/>
            <a:ext cx="9829800" cy="589660"/>
          </a:xfrm>
          <a:prstGeom prst="rect">
            <a:avLst/>
          </a:prstGeom>
          <a:noFill/>
          <a:ln/>
        </p:spPr>
        <p:txBody>
          <a:bodyPr wrap="square" lIns="0" tIns="0" rIns="0" bIns="0" rtlCol="0" anchor="t"/>
          <a:lstStyle/>
          <a:p>
            <a:pPr indent="0" marL="0">
              <a:spcAft>
                <a:spcPts val="600"/>
              </a:spcAft>
              <a:buNone/>
            </a:pPr>
            <a:r>
              <a:rPr lang="en-US" sz="1250" dirty="0">
                <a:solidFill>
                  <a:srgbClr val="6B7785"/>
                </a:solidFill>
                <a:latin typeface="Calibri" pitchFamily="34" charset="0"/>
                <a:ea typeface="Calibri" pitchFamily="34" charset="-122"/>
                <a:cs typeface="Calibri" pitchFamily="34" charset="-120"/>
              </a:rPr>
              <a:t>Rates are built over 3 years with the latest year counting fully, the year before half, the one before a quarter (adopted on evidence, slide 26).</a:t>
            </a:r>
            <a:endParaRPr lang="en-US" sz="12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Feature choices the data forced, and why</a:t>
            </a:r>
            <a:endParaRPr lang="en-US" sz="2400" dirty="0"/>
          </a:p>
        </p:txBody>
      </p:sp>
      <p:sp>
        <p:nvSpPr>
          <p:cNvPr id="4" name="PAR_045T maximum at 40%, not 10%"/>
          <p:cNvSpPr/>
          <p:nvPr/>
        </p:nvSpPr>
        <p:spPr>
          <a:xfrm>
            <a:off x="457200" y="1283578"/>
            <a:ext cx="4793043" cy="1523288"/>
          </a:xfrm>
          <a:prstGeom prst="roundRect">
            <a:avLst>
              <a:gd name="adj" fmla="val 4802"/>
            </a:avLst>
          </a:prstGeom>
          <a:solidFill>
            <a:srgbClr val="E6ECFF"/>
          </a:solidFill>
          <a:ln w="12700">
            <a:solidFill>
              <a:srgbClr val="E6ECFF"/>
            </a:solidFill>
            <a:prstDash val="solid"/>
          </a:ln>
        </p:spPr>
      </p:sp>
      <p:sp>
        <p:nvSpPr>
          <p:cNvPr id="5" name="Text 2"/>
          <p:cNvSpPr txBox="1"/>
          <p:nvPr/>
        </p:nvSpPr>
        <p:spPr>
          <a:xfrm>
            <a:off x="619676" y="1430993"/>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PAR_045T maximum at 40%, not 10%</a:t>
            </a:r>
            <a:endParaRPr lang="en-US" sz="1500" dirty="0"/>
          </a:p>
        </p:txBody>
      </p:sp>
      <p:sp>
        <p:nvSpPr>
          <p:cNvPr id="6" name="Text 3"/>
          <p:cNvSpPr txBox="1"/>
          <p:nvPr/>
        </p:nvSpPr>
        <p:spPr>
          <a:xfrm>
            <a:off x="619676" y="1892893"/>
            <a:ext cx="4468091" cy="786213"/>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At 10%, 35% of regular traders hit full points and lift fell to 2.6; at 40% it was 5.3. The minimum risk level stays at the officers' 3%.</a:t>
            </a:r>
            <a:endParaRPr lang="en-US" sz="1450" dirty="0"/>
          </a:p>
        </p:txBody>
      </p:sp>
      <p:sp>
        <p:nvSpPr>
          <p:cNvPr id="7" name="PAR_048 over final tax"/>
          <p:cNvSpPr/>
          <p:nvPr/>
        </p:nvSpPr>
        <p:spPr>
          <a:xfrm>
            <a:off x="5493957" y="1283578"/>
            <a:ext cx="4793043" cy="1523288"/>
          </a:xfrm>
          <a:prstGeom prst="roundRect">
            <a:avLst>
              <a:gd name="adj" fmla="val 4802"/>
            </a:avLst>
          </a:prstGeom>
          <a:solidFill>
            <a:srgbClr val="E6ECFF"/>
          </a:solidFill>
          <a:ln w="12700">
            <a:solidFill>
              <a:srgbClr val="E6ECFF"/>
            </a:solidFill>
            <a:prstDash val="solid"/>
          </a:ln>
        </p:spPr>
      </p:sp>
      <p:sp>
        <p:nvSpPr>
          <p:cNvPr id="8" name="Text 5"/>
          <p:cNvSpPr txBox="1"/>
          <p:nvPr/>
        </p:nvSpPr>
        <p:spPr>
          <a:xfrm>
            <a:off x="5656433" y="1430993"/>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PAR_048 over final tax</a:t>
            </a:r>
            <a:endParaRPr lang="en-US" sz="1500" dirty="0"/>
          </a:p>
        </p:txBody>
      </p:sp>
      <p:sp>
        <p:nvSpPr>
          <p:cNvPr id="9" name="Text 6"/>
          <p:cNvSpPr txBox="1"/>
          <p:nvPr/>
        </p:nvSpPr>
        <p:spPr>
          <a:xfrm>
            <a:off x="5656433" y="1892893"/>
            <a:ext cx="4468091" cy="786213"/>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Over original tax a declared tax of UGX 29 gave 4,399. Over final tax it is bounded 0 to 1; the officers' 6% and 33% convert to 5.7% and 24.8%.</a:t>
            </a:r>
            <a:endParaRPr lang="en-US" sz="1450" dirty="0"/>
          </a:p>
        </p:txBody>
      </p:sp>
      <p:sp>
        <p:nvSpPr>
          <p:cNvPr id="10" name="PAR_077 and PAR_048 overlap"/>
          <p:cNvSpPr/>
          <p:nvPr/>
        </p:nvSpPr>
        <p:spPr>
          <a:xfrm>
            <a:off x="457200" y="3003419"/>
            <a:ext cx="4793043" cy="1523288"/>
          </a:xfrm>
          <a:prstGeom prst="roundRect">
            <a:avLst>
              <a:gd name="adj" fmla="val 4802"/>
            </a:avLst>
          </a:prstGeom>
          <a:solidFill>
            <a:srgbClr val="F1F3F6"/>
          </a:solidFill>
          <a:ln w="12700">
            <a:solidFill>
              <a:srgbClr val="F1F3F6"/>
            </a:solidFill>
            <a:prstDash val="solid"/>
          </a:ln>
        </p:spPr>
      </p:sp>
      <p:sp>
        <p:nvSpPr>
          <p:cNvPr id="11" name="Text 8"/>
          <p:cNvSpPr txBox="1"/>
          <p:nvPr/>
        </p:nvSpPr>
        <p:spPr>
          <a:xfrm>
            <a:off x="619676" y="3150834"/>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PAR_077 and PAR_048 overlap</a:t>
            </a:r>
            <a:endParaRPr lang="en-US" sz="1500" dirty="0"/>
          </a:p>
        </p:txBody>
      </p:sp>
      <p:sp>
        <p:nvSpPr>
          <p:cNvPr id="12" name="Text 9"/>
          <p:cNvSpPr txBox="1"/>
          <p:nvPr/>
        </p:nvSpPr>
        <p:spPr>
          <a:xfrm>
            <a:off x="619676" y="3612735"/>
            <a:ext cx="4468091" cy="786213"/>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Correlated at 0.76: the same behaviour twice. PAR_077 is stronger alone, so it carries the weight; PAR_048 stays at 4%.</a:t>
            </a:r>
            <a:endParaRPr lang="en-US" sz="1450" dirty="0"/>
          </a:p>
        </p:txBody>
      </p:sp>
      <p:sp>
        <p:nvSpPr>
          <p:cNvPr id="13" name="PAR_076 benchmark built in-house"/>
          <p:cNvSpPr/>
          <p:nvPr/>
        </p:nvSpPr>
        <p:spPr>
          <a:xfrm>
            <a:off x="5493957" y="3003419"/>
            <a:ext cx="4793043" cy="1523288"/>
          </a:xfrm>
          <a:prstGeom prst="roundRect">
            <a:avLst>
              <a:gd name="adj" fmla="val 4802"/>
            </a:avLst>
          </a:prstGeom>
          <a:solidFill>
            <a:srgbClr val="F1F3F6"/>
          </a:solidFill>
          <a:ln w="12700">
            <a:solidFill>
              <a:srgbClr val="F1F3F6"/>
            </a:solidFill>
            <a:prstDash val="solid"/>
          </a:ln>
        </p:spPr>
      </p:sp>
      <p:sp>
        <p:nvSpPr>
          <p:cNvPr id="14" name="Text 11"/>
          <p:cNvSpPr txBox="1"/>
          <p:nvPr/>
        </p:nvSpPr>
        <p:spPr>
          <a:xfrm>
            <a:off x="5656433" y="3150834"/>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PAR_076 benchmark built in-house</a:t>
            </a:r>
            <a:endParaRPr lang="en-US" sz="1500" dirty="0"/>
          </a:p>
        </p:txBody>
      </p:sp>
      <p:sp>
        <p:nvSpPr>
          <p:cNvPr id="15" name="Text 12"/>
          <p:cNvSpPr txBox="1"/>
          <p:nvPr/>
        </p:nvSpPr>
        <p:spPr>
          <a:xfrm>
            <a:off x="5656433" y="3612735"/>
            <a:ext cx="4468091" cy="786213"/>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Median price per HS code and origin (5+ importers), on both per kg and per unit; below 1% of the median is a keying error, not risk.</a:t>
            </a:r>
            <a:endParaRPr lang="en-US" sz="1450" dirty="0"/>
          </a:p>
        </p:txBody>
      </p:sp>
      <p:sp>
        <p:nvSpPr>
          <p:cNvPr id="16" name="Splitting protected for bulk goods"/>
          <p:cNvSpPr/>
          <p:nvPr/>
        </p:nvSpPr>
        <p:spPr>
          <a:xfrm>
            <a:off x="457200" y="4723261"/>
            <a:ext cx="4793043" cy="1474150"/>
          </a:xfrm>
          <a:prstGeom prst="roundRect">
            <a:avLst>
              <a:gd name="adj" fmla="val 4962"/>
            </a:avLst>
          </a:prstGeom>
          <a:solidFill>
            <a:srgbClr val="F1F3F6"/>
          </a:solidFill>
          <a:ln w="12700">
            <a:solidFill>
              <a:srgbClr val="F1F3F6"/>
            </a:solidFill>
            <a:prstDash val="solid"/>
          </a:ln>
        </p:spPr>
      </p:sp>
      <p:sp>
        <p:nvSpPr>
          <p:cNvPr id="17" name="Text 14"/>
          <p:cNvSpPr txBox="1"/>
          <p:nvPr/>
        </p:nvSpPr>
        <p:spPr>
          <a:xfrm>
            <a:off x="619676" y="4870676"/>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Splitting protected for bulk goods</a:t>
            </a:r>
            <a:endParaRPr lang="en-US" sz="1500" dirty="0"/>
          </a:p>
        </p:txBody>
      </p:sp>
      <p:sp>
        <p:nvSpPr>
          <p:cNvPr id="18" name="Text 15"/>
          <p:cNvSpPr txBox="1"/>
          <p:nvPr/>
        </p:nvSpPr>
        <p:spPr>
          <a:xfrm>
            <a:off x="619676" y="5332576"/>
            <a:ext cx="4468091" cy="737075"/>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Cement and fuel arrive as many trucks a day. Chapters 25 and 27 excluded; others measured as excess over how often all importers repeat.</a:t>
            </a:r>
            <a:endParaRPr lang="en-US" sz="1450" dirty="0"/>
          </a:p>
        </p:txBody>
      </p:sp>
      <p:sp>
        <p:nvSpPr>
          <p:cNvPr id="19" name="Duty compared fairly"/>
          <p:cNvSpPr/>
          <p:nvPr/>
        </p:nvSpPr>
        <p:spPr>
          <a:xfrm>
            <a:off x="5493957" y="4723261"/>
            <a:ext cx="4793043" cy="1474150"/>
          </a:xfrm>
          <a:prstGeom prst="roundRect">
            <a:avLst>
              <a:gd name="adj" fmla="val 4962"/>
            </a:avLst>
          </a:prstGeom>
          <a:solidFill>
            <a:srgbClr val="F1F3F6"/>
          </a:solidFill>
          <a:ln w="12700">
            <a:solidFill>
              <a:srgbClr val="F1F3F6"/>
            </a:solidFill>
            <a:prstDash val="solid"/>
          </a:ln>
        </p:spPr>
      </p:sp>
      <p:sp>
        <p:nvSpPr>
          <p:cNvPr id="20" name="Text 17"/>
          <p:cNvSpPr txBox="1"/>
          <p:nvPr/>
        </p:nvSpPr>
        <p:spPr>
          <a:xfrm>
            <a:off x="5656433" y="4870676"/>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Duty compared fairly</a:t>
            </a:r>
            <a:endParaRPr lang="en-US" sz="1500" dirty="0"/>
          </a:p>
        </p:txBody>
      </p:sp>
      <p:sp>
        <p:nvSpPr>
          <p:cNvPr id="21" name="Text 18"/>
          <p:cNvSpPr txBox="1"/>
          <p:nvPr/>
        </p:nvSpPr>
        <p:spPr>
          <a:xfrm>
            <a:off x="5656433" y="5332576"/>
            <a:ext cx="4468091" cy="737075"/>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Duty rate compared only on items claiming no exemption (APC 000); exemption and watch-list APC use measured separately.</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Scoring mechanics: from raw rates to a band</a:t>
            </a:r>
            <a:endParaRPr lang="en-US" sz="2400" dirty="0"/>
          </a:p>
        </p:txBody>
      </p:sp>
      <p:sp>
        <p:nvSpPr>
          <p:cNvPr id="4" name="step 1"/>
          <p:cNvSpPr/>
          <p:nvPr/>
        </p:nvSpPr>
        <p:spPr>
          <a:xfrm>
            <a:off x="1066485" y="1332717"/>
            <a:ext cx="568666" cy="687936"/>
          </a:xfrm>
          <a:prstGeom prst="ellipse">
            <a:avLst/>
          </a:prstGeom>
          <a:solidFill>
            <a:srgbClr val="B88A00"/>
          </a:solidFill>
          <a:ln w="12700">
            <a:solidFill>
              <a:srgbClr val="B88A00"/>
            </a:solidFill>
            <a:prstDash val="solid"/>
          </a:ln>
        </p:spPr>
      </p:sp>
      <p:sp>
        <p:nvSpPr>
          <p:cNvPr id="5" name="Text 2"/>
          <p:cNvSpPr txBox="1"/>
          <p:nvPr/>
        </p:nvSpPr>
        <p:spPr>
          <a:xfrm>
            <a:off x="1066485" y="1332717"/>
            <a:ext cx="568666" cy="687936"/>
          </a:xfrm>
          <a:prstGeom prst="rect">
            <a:avLst/>
          </a:prstGeom>
          <a:noFill/>
          <a:ln/>
        </p:spPr>
        <p:txBody>
          <a:bodyPr wrap="square" lIns="0" tIns="0" rIns="0" bIns="0" rtlCol="0" anchor="ctr"/>
          <a:lstStyle/>
          <a:p>
            <a:pPr algn="ctr" indent="0" marL="0">
              <a:buNone/>
            </a:pPr>
            <a:r>
              <a:rPr lang="en-US" sz="1900" b="1" dirty="0">
                <a:solidFill>
                  <a:srgbClr val="FFFFFF"/>
                </a:solidFill>
              </a:rPr>
              <a:t>1</a:t>
            </a:r>
            <a:endParaRPr lang="en-US" sz="1900" dirty="0"/>
          </a:p>
        </p:txBody>
      </p:sp>
      <p:sp>
        <p:nvSpPr>
          <p:cNvPr id="6" name="Text 3"/>
          <p:cNvSpPr txBox="1"/>
          <p:nvPr/>
        </p:nvSpPr>
        <p:spPr>
          <a:xfrm>
            <a:off x="457200" y="2168068"/>
            <a:ext cx="1827855" cy="442245"/>
          </a:xfrm>
          <a:prstGeom prst="rect">
            <a:avLst/>
          </a:prstGeom>
          <a:noFill/>
          <a:ln/>
        </p:spPr>
        <p:txBody>
          <a:bodyPr wrap="square" lIns="0" tIns="0" rIns="0" bIns="0" rtlCol="0" anchor="ctr"/>
          <a:lstStyle/>
          <a:p>
            <a:pPr algn="ctr" indent="0" marL="0">
              <a:buNone/>
            </a:pPr>
            <a:r>
              <a:rPr lang="en-US" sz="1600" b="1" dirty="0">
                <a:solidFill>
                  <a:srgbClr val="1B2430"/>
                </a:solidFill>
                <a:latin typeface="Calibri" pitchFamily="34" charset="0"/>
                <a:ea typeface="Calibri" pitchFamily="34" charset="-122"/>
                <a:cs typeface="Calibri" pitchFamily="34" charset="-120"/>
              </a:rPr>
              <a:t>Rates</a:t>
            </a:r>
            <a:endParaRPr lang="en-US" sz="1600" dirty="0"/>
          </a:p>
        </p:txBody>
      </p:sp>
      <p:sp>
        <p:nvSpPr>
          <p:cNvPr id="7" name="Text 4"/>
          <p:cNvSpPr txBox="1"/>
          <p:nvPr/>
        </p:nvSpPr>
        <p:spPr>
          <a:xfrm>
            <a:off x="497819" y="2659451"/>
            <a:ext cx="1746617" cy="1474150"/>
          </a:xfrm>
          <a:prstGeom prst="rect">
            <a:avLst/>
          </a:prstGeom>
          <a:noFill/>
          <a:ln/>
        </p:spPr>
        <p:txBody>
          <a:bodyPr wrap="square" lIns="0" tIns="0" rIns="0" bIns="0" rtlCol="0" anchor="t"/>
          <a:lstStyle/>
          <a:p>
            <a:pPr algn="ctr" indent="0" marL="0">
              <a:buNone/>
            </a:pPr>
            <a:r>
              <a:rPr lang="en-US" sz="1250" dirty="0">
                <a:solidFill>
                  <a:srgbClr val="102A83"/>
                </a:solidFill>
              </a:rPr>
              <a:t>Each feature over 3 years, recent years weighted 1, 0.5, 0.25</a:t>
            </a:r>
            <a:endParaRPr lang="en-US" sz="1250" dirty="0"/>
          </a:p>
        </p:txBody>
      </p:sp>
      <p:sp>
        <p:nvSpPr>
          <p:cNvPr id="8" name="step 2"/>
          <p:cNvSpPr/>
          <p:nvPr/>
        </p:nvSpPr>
        <p:spPr>
          <a:xfrm>
            <a:off x="3056817" y="1332717"/>
            <a:ext cx="568666" cy="687936"/>
          </a:xfrm>
          <a:prstGeom prst="ellipse">
            <a:avLst/>
          </a:prstGeom>
          <a:solidFill>
            <a:srgbClr val="B88A00"/>
          </a:solidFill>
          <a:ln w="12700">
            <a:solidFill>
              <a:srgbClr val="B88A00"/>
            </a:solidFill>
            <a:prstDash val="solid"/>
          </a:ln>
        </p:spPr>
      </p:sp>
      <p:sp>
        <p:nvSpPr>
          <p:cNvPr id="9" name="Text 6"/>
          <p:cNvSpPr txBox="1"/>
          <p:nvPr/>
        </p:nvSpPr>
        <p:spPr>
          <a:xfrm>
            <a:off x="3056817" y="1332717"/>
            <a:ext cx="568666" cy="687936"/>
          </a:xfrm>
          <a:prstGeom prst="rect">
            <a:avLst/>
          </a:prstGeom>
          <a:noFill/>
          <a:ln/>
        </p:spPr>
        <p:txBody>
          <a:bodyPr wrap="square" lIns="0" tIns="0" rIns="0" bIns="0" rtlCol="0" anchor="ctr"/>
          <a:lstStyle/>
          <a:p>
            <a:pPr algn="ctr" indent="0" marL="0">
              <a:buNone/>
            </a:pPr>
            <a:r>
              <a:rPr lang="en-US" sz="1900" b="1" dirty="0">
                <a:solidFill>
                  <a:srgbClr val="FFFFFF"/>
                </a:solidFill>
              </a:rPr>
              <a:t>2</a:t>
            </a:r>
            <a:endParaRPr lang="en-US" sz="1900" dirty="0"/>
          </a:p>
        </p:txBody>
      </p:sp>
      <p:sp>
        <p:nvSpPr>
          <p:cNvPr id="10" name="Text 7"/>
          <p:cNvSpPr txBox="1"/>
          <p:nvPr/>
        </p:nvSpPr>
        <p:spPr>
          <a:xfrm>
            <a:off x="2447531" y="2168068"/>
            <a:ext cx="1827855" cy="442245"/>
          </a:xfrm>
          <a:prstGeom prst="rect">
            <a:avLst/>
          </a:prstGeom>
          <a:noFill/>
          <a:ln/>
        </p:spPr>
        <p:txBody>
          <a:bodyPr wrap="square" lIns="0" tIns="0" rIns="0" bIns="0" rtlCol="0" anchor="ctr"/>
          <a:lstStyle/>
          <a:p>
            <a:pPr algn="ctr" indent="0" marL="0">
              <a:buNone/>
            </a:pPr>
            <a:r>
              <a:rPr lang="en-US" sz="1600" b="1" dirty="0">
                <a:solidFill>
                  <a:srgbClr val="1B2430"/>
                </a:solidFill>
                <a:latin typeface="Calibri" pitchFamily="34" charset="0"/>
                <a:ea typeface="Calibri" pitchFamily="34" charset="-122"/>
                <a:cs typeface="Calibri" pitchFamily="34" charset="-120"/>
              </a:rPr>
              <a:t>Credibility</a:t>
            </a:r>
            <a:endParaRPr lang="en-US" sz="1600" dirty="0"/>
          </a:p>
        </p:txBody>
      </p:sp>
      <p:sp>
        <p:nvSpPr>
          <p:cNvPr id="11" name="Text 8"/>
          <p:cNvSpPr txBox="1"/>
          <p:nvPr/>
        </p:nvSpPr>
        <p:spPr>
          <a:xfrm>
            <a:off x="2488150" y="2659451"/>
            <a:ext cx="1746617" cy="1474150"/>
          </a:xfrm>
          <a:prstGeom prst="rect">
            <a:avLst/>
          </a:prstGeom>
          <a:noFill/>
          <a:ln/>
        </p:spPr>
        <p:txBody>
          <a:bodyPr wrap="square" lIns="0" tIns="0" rIns="0" bIns="0" rtlCol="0" anchor="t"/>
          <a:lstStyle/>
          <a:p>
            <a:pPr algn="ctr" indent="0" marL="0">
              <a:buNone/>
            </a:pPr>
            <a:r>
              <a:rPr lang="en-US" sz="1250" dirty="0">
                <a:solidFill>
                  <a:srgbClr val="102A83"/>
                </a:solidFill>
              </a:rPr>
              <a:t>Small counts pulled towards the average, only downwards</a:t>
            </a:r>
            <a:endParaRPr lang="en-US" sz="1250" dirty="0"/>
          </a:p>
        </p:txBody>
      </p:sp>
      <p:sp>
        <p:nvSpPr>
          <p:cNvPr id="12" name="step 3"/>
          <p:cNvSpPr/>
          <p:nvPr/>
        </p:nvSpPr>
        <p:spPr>
          <a:xfrm>
            <a:off x="5047148" y="1332717"/>
            <a:ext cx="568666" cy="687936"/>
          </a:xfrm>
          <a:prstGeom prst="ellipse">
            <a:avLst/>
          </a:prstGeom>
          <a:solidFill>
            <a:srgbClr val="B88A00"/>
          </a:solidFill>
          <a:ln w="12700">
            <a:solidFill>
              <a:srgbClr val="B88A00"/>
            </a:solidFill>
            <a:prstDash val="solid"/>
          </a:ln>
        </p:spPr>
      </p:sp>
      <p:sp>
        <p:nvSpPr>
          <p:cNvPr id="13" name="Text 10"/>
          <p:cNvSpPr txBox="1"/>
          <p:nvPr/>
        </p:nvSpPr>
        <p:spPr>
          <a:xfrm>
            <a:off x="5047148" y="1332717"/>
            <a:ext cx="568666" cy="687936"/>
          </a:xfrm>
          <a:prstGeom prst="rect">
            <a:avLst/>
          </a:prstGeom>
          <a:noFill/>
          <a:ln/>
        </p:spPr>
        <p:txBody>
          <a:bodyPr wrap="square" lIns="0" tIns="0" rIns="0" bIns="0" rtlCol="0" anchor="ctr"/>
          <a:lstStyle/>
          <a:p>
            <a:pPr algn="ctr" indent="0" marL="0">
              <a:buNone/>
            </a:pPr>
            <a:r>
              <a:rPr lang="en-US" sz="1900" b="1" dirty="0">
                <a:solidFill>
                  <a:srgbClr val="FFFFFF"/>
                </a:solidFill>
              </a:rPr>
              <a:t>3</a:t>
            </a:r>
            <a:endParaRPr lang="en-US" sz="1900" dirty="0"/>
          </a:p>
        </p:txBody>
      </p:sp>
      <p:sp>
        <p:nvSpPr>
          <p:cNvPr id="14" name="Text 11"/>
          <p:cNvSpPr txBox="1"/>
          <p:nvPr/>
        </p:nvSpPr>
        <p:spPr>
          <a:xfrm>
            <a:off x="4437863" y="2168068"/>
            <a:ext cx="1827855" cy="442245"/>
          </a:xfrm>
          <a:prstGeom prst="rect">
            <a:avLst/>
          </a:prstGeom>
          <a:noFill/>
          <a:ln/>
        </p:spPr>
        <p:txBody>
          <a:bodyPr wrap="square" lIns="0" tIns="0" rIns="0" bIns="0" rtlCol="0" anchor="ctr"/>
          <a:lstStyle/>
          <a:p>
            <a:pPr algn="ctr" indent="0" marL="0">
              <a:buNone/>
            </a:pPr>
            <a:r>
              <a:rPr lang="en-US" sz="1600" b="1" dirty="0">
                <a:solidFill>
                  <a:srgbClr val="1B2430"/>
                </a:solidFill>
                <a:latin typeface="Calibri" pitchFamily="34" charset="0"/>
                <a:ea typeface="Calibri" pitchFamily="34" charset="-122"/>
                <a:cs typeface="Calibri" pitchFamily="34" charset="-120"/>
              </a:rPr>
              <a:t>Scale</a:t>
            </a:r>
            <a:endParaRPr lang="en-US" sz="1600" dirty="0"/>
          </a:p>
        </p:txBody>
      </p:sp>
      <p:sp>
        <p:nvSpPr>
          <p:cNvPr id="15" name="Text 12"/>
          <p:cNvSpPr txBox="1"/>
          <p:nvPr/>
        </p:nvSpPr>
        <p:spPr>
          <a:xfrm>
            <a:off x="4478482" y="2659451"/>
            <a:ext cx="1746617" cy="1474150"/>
          </a:xfrm>
          <a:prstGeom prst="rect">
            <a:avLst/>
          </a:prstGeom>
          <a:noFill/>
          <a:ln/>
        </p:spPr>
        <p:txBody>
          <a:bodyPr wrap="square" lIns="0" tIns="0" rIns="0" bIns="0" rtlCol="0" anchor="t"/>
          <a:lstStyle/>
          <a:p>
            <a:pPr algn="ctr" indent="0" marL="0">
              <a:buNone/>
            </a:pPr>
            <a:r>
              <a:rPr lang="en-US" sz="1250" dirty="0">
                <a:solidFill>
                  <a:srgbClr val="102A83"/>
                </a:solidFill>
              </a:rPr>
              <a:t>0 below the minimum risk level, 1 at the maximum, straight line between</a:t>
            </a:r>
            <a:endParaRPr lang="en-US" sz="1250" dirty="0"/>
          </a:p>
        </p:txBody>
      </p:sp>
      <p:sp>
        <p:nvSpPr>
          <p:cNvPr id="16" name="step 4"/>
          <p:cNvSpPr/>
          <p:nvPr/>
        </p:nvSpPr>
        <p:spPr>
          <a:xfrm>
            <a:off x="7037479" y="1332717"/>
            <a:ext cx="568666" cy="687936"/>
          </a:xfrm>
          <a:prstGeom prst="ellipse">
            <a:avLst/>
          </a:prstGeom>
          <a:solidFill>
            <a:srgbClr val="B88A00"/>
          </a:solidFill>
          <a:ln w="12700">
            <a:solidFill>
              <a:srgbClr val="B88A00"/>
            </a:solidFill>
            <a:prstDash val="solid"/>
          </a:ln>
        </p:spPr>
      </p:sp>
      <p:sp>
        <p:nvSpPr>
          <p:cNvPr id="17" name="Text 14"/>
          <p:cNvSpPr txBox="1"/>
          <p:nvPr/>
        </p:nvSpPr>
        <p:spPr>
          <a:xfrm>
            <a:off x="7037479" y="1332717"/>
            <a:ext cx="568666" cy="687936"/>
          </a:xfrm>
          <a:prstGeom prst="rect">
            <a:avLst/>
          </a:prstGeom>
          <a:noFill/>
          <a:ln/>
        </p:spPr>
        <p:txBody>
          <a:bodyPr wrap="square" lIns="0" tIns="0" rIns="0" bIns="0" rtlCol="0" anchor="ctr"/>
          <a:lstStyle/>
          <a:p>
            <a:pPr algn="ctr" indent="0" marL="0">
              <a:buNone/>
            </a:pPr>
            <a:r>
              <a:rPr lang="en-US" sz="1900" b="1" dirty="0">
                <a:solidFill>
                  <a:srgbClr val="FFFFFF"/>
                </a:solidFill>
              </a:rPr>
              <a:t>4</a:t>
            </a:r>
            <a:endParaRPr lang="en-US" sz="1900" dirty="0"/>
          </a:p>
        </p:txBody>
      </p:sp>
      <p:sp>
        <p:nvSpPr>
          <p:cNvPr id="18" name="Text 15"/>
          <p:cNvSpPr txBox="1"/>
          <p:nvPr/>
        </p:nvSpPr>
        <p:spPr>
          <a:xfrm>
            <a:off x="6428194" y="2168068"/>
            <a:ext cx="1827855" cy="442245"/>
          </a:xfrm>
          <a:prstGeom prst="rect">
            <a:avLst/>
          </a:prstGeom>
          <a:noFill/>
          <a:ln/>
        </p:spPr>
        <p:txBody>
          <a:bodyPr wrap="square" lIns="0" tIns="0" rIns="0" bIns="0" rtlCol="0" anchor="ctr"/>
          <a:lstStyle/>
          <a:p>
            <a:pPr algn="ctr" indent="0" marL="0">
              <a:buNone/>
            </a:pPr>
            <a:r>
              <a:rPr lang="en-US" sz="1600" b="1" dirty="0">
                <a:solidFill>
                  <a:srgbClr val="1B2430"/>
                </a:solidFill>
                <a:latin typeface="Calibri" pitchFamily="34" charset="0"/>
                <a:ea typeface="Calibri" pitchFamily="34" charset="-122"/>
                <a:cs typeface="Calibri" pitchFamily="34" charset="-120"/>
              </a:rPr>
              <a:t>Weigh</a:t>
            </a:r>
            <a:endParaRPr lang="en-US" sz="1600" dirty="0"/>
          </a:p>
        </p:txBody>
      </p:sp>
      <p:sp>
        <p:nvSpPr>
          <p:cNvPr id="19" name="Text 16"/>
          <p:cNvSpPr txBox="1"/>
          <p:nvPr/>
        </p:nvSpPr>
        <p:spPr>
          <a:xfrm>
            <a:off x="6468813" y="2659451"/>
            <a:ext cx="1746617" cy="1474150"/>
          </a:xfrm>
          <a:prstGeom prst="rect">
            <a:avLst/>
          </a:prstGeom>
          <a:noFill/>
          <a:ln/>
        </p:spPr>
        <p:txBody>
          <a:bodyPr wrap="square" lIns="0" tIns="0" rIns="0" bIns="0" rtlCol="0" anchor="t"/>
          <a:lstStyle/>
          <a:p>
            <a:pPr algn="ctr" indent="0" marL="0">
              <a:buNone/>
            </a:pPr>
            <a:r>
              <a:rPr lang="en-US" sz="1250" dirty="0">
                <a:solidFill>
                  <a:srgbClr val="102A83"/>
                </a:solidFill>
              </a:rPr>
              <a:t>Weight = L x I / total; points add to at most 100</a:t>
            </a:r>
            <a:endParaRPr lang="en-US" sz="1250" dirty="0"/>
          </a:p>
        </p:txBody>
      </p:sp>
      <p:sp>
        <p:nvSpPr>
          <p:cNvPr id="20" name="step 5"/>
          <p:cNvSpPr/>
          <p:nvPr/>
        </p:nvSpPr>
        <p:spPr>
          <a:xfrm>
            <a:off x="9027811" y="1332717"/>
            <a:ext cx="568666" cy="687936"/>
          </a:xfrm>
          <a:prstGeom prst="ellipse">
            <a:avLst/>
          </a:prstGeom>
          <a:solidFill>
            <a:srgbClr val="B88A00"/>
          </a:solidFill>
          <a:ln w="12700">
            <a:solidFill>
              <a:srgbClr val="B88A00"/>
            </a:solidFill>
            <a:prstDash val="solid"/>
          </a:ln>
        </p:spPr>
      </p:sp>
      <p:sp>
        <p:nvSpPr>
          <p:cNvPr id="21" name="Text 18"/>
          <p:cNvSpPr txBox="1"/>
          <p:nvPr/>
        </p:nvSpPr>
        <p:spPr>
          <a:xfrm>
            <a:off x="9027811" y="1332717"/>
            <a:ext cx="568666" cy="687936"/>
          </a:xfrm>
          <a:prstGeom prst="rect">
            <a:avLst/>
          </a:prstGeom>
          <a:noFill/>
          <a:ln/>
        </p:spPr>
        <p:txBody>
          <a:bodyPr wrap="square" lIns="0" tIns="0" rIns="0" bIns="0" rtlCol="0" anchor="ctr"/>
          <a:lstStyle/>
          <a:p>
            <a:pPr algn="ctr" indent="0" marL="0">
              <a:buNone/>
            </a:pPr>
            <a:r>
              <a:rPr lang="en-US" sz="1900" b="1" dirty="0">
                <a:solidFill>
                  <a:srgbClr val="FFFFFF"/>
                </a:solidFill>
              </a:rPr>
              <a:t>5</a:t>
            </a:r>
            <a:endParaRPr lang="en-US" sz="1900" dirty="0"/>
          </a:p>
        </p:txBody>
      </p:sp>
      <p:sp>
        <p:nvSpPr>
          <p:cNvPr id="22" name="Text 19"/>
          <p:cNvSpPr txBox="1"/>
          <p:nvPr/>
        </p:nvSpPr>
        <p:spPr>
          <a:xfrm>
            <a:off x="8418526" y="2168068"/>
            <a:ext cx="1827855" cy="442245"/>
          </a:xfrm>
          <a:prstGeom prst="rect">
            <a:avLst/>
          </a:prstGeom>
          <a:noFill/>
          <a:ln/>
        </p:spPr>
        <p:txBody>
          <a:bodyPr wrap="square" lIns="0" tIns="0" rIns="0" bIns="0" rtlCol="0" anchor="ctr"/>
          <a:lstStyle/>
          <a:p>
            <a:pPr algn="ctr" indent="0" marL="0">
              <a:buNone/>
            </a:pPr>
            <a:r>
              <a:rPr lang="en-US" sz="1600" b="1" dirty="0">
                <a:solidFill>
                  <a:srgbClr val="1B2430"/>
                </a:solidFill>
                <a:latin typeface="Calibri" pitchFamily="34" charset="0"/>
                <a:ea typeface="Calibri" pitchFamily="34" charset="-122"/>
                <a:cs typeface="Calibri" pitchFamily="34" charset="-120"/>
              </a:rPr>
              <a:t>Band</a:t>
            </a:r>
            <a:endParaRPr lang="en-US" sz="1600" dirty="0"/>
          </a:p>
        </p:txBody>
      </p:sp>
      <p:sp>
        <p:nvSpPr>
          <p:cNvPr id="23" name="Text 20"/>
          <p:cNvSpPr txBox="1"/>
          <p:nvPr/>
        </p:nvSpPr>
        <p:spPr>
          <a:xfrm>
            <a:off x="8459145" y="2659451"/>
            <a:ext cx="1746617" cy="1474150"/>
          </a:xfrm>
          <a:prstGeom prst="rect">
            <a:avLst/>
          </a:prstGeom>
          <a:noFill/>
          <a:ln/>
        </p:spPr>
        <p:txBody>
          <a:bodyPr wrap="square" lIns="0" tIns="0" rIns="0" bIns="0" rtlCol="0" anchor="t"/>
          <a:lstStyle/>
          <a:p>
            <a:pPr algn="ctr" indent="0" marL="0">
              <a:buNone/>
            </a:pPr>
            <a:r>
              <a:rPr lang="en-US" sz="1250" dirty="0">
                <a:solidFill>
                  <a:srgbClr val="102A83"/>
                </a:solidFill>
              </a:rPr>
              <a:t>VERY LOW to 15, LOW to 35, MEDIUM to 50, HIGH to 80, VERY HIGH to 100</a:t>
            </a:r>
            <a:endParaRPr lang="en-US" sz="1250" dirty="0"/>
          </a:p>
        </p:txBody>
      </p:sp>
      <p:sp>
        <p:nvSpPr>
          <p:cNvPr id="24" name="Worked example (made up): 40 declarations, 15% topped up"/>
          <p:cNvSpPr/>
          <p:nvPr/>
        </p:nvSpPr>
        <p:spPr>
          <a:xfrm>
            <a:off x="457200" y="4428431"/>
            <a:ext cx="9829800" cy="1719841"/>
          </a:xfrm>
          <a:prstGeom prst="roundRect">
            <a:avLst>
              <a:gd name="adj" fmla="val 4253"/>
            </a:avLst>
          </a:prstGeom>
          <a:solidFill>
            <a:srgbClr val="E6ECFF"/>
          </a:solidFill>
          <a:ln w="12700">
            <a:solidFill>
              <a:srgbClr val="E6ECFF"/>
            </a:solidFill>
            <a:prstDash val="solid"/>
          </a:ln>
        </p:spPr>
      </p:sp>
      <p:sp>
        <p:nvSpPr>
          <p:cNvPr id="25" name="Text 22"/>
          <p:cNvSpPr txBox="1"/>
          <p:nvPr/>
        </p:nvSpPr>
        <p:spPr>
          <a:xfrm>
            <a:off x="619676" y="4575846"/>
            <a:ext cx="9504848"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Worked example (made up): 40 declarations, 15% topped up</a:t>
            </a:r>
            <a:endParaRPr lang="en-US" sz="1500" dirty="0"/>
          </a:p>
        </p:txBody>
      </p:sp>
      <p:sp>
        <p:nvSpPr>
          <p:cNvPr id="26" name="Text 23"/>
          <p:cNvSpPr txBox="1"/>
          <p:nvPr/>
        </p:nvSpPr>
        <p:spPr>
          <a:xfrm>
            <a:off x="619676" y="5037746"/>
            <a:ext cx="9504848" cy="982766"/>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Scale for PAR_045T = (15% - 3%) / (40% - 3%) = 0.32  -&gt;  0.32 x 33 points = 10.7 points. Add the other seven the same way, round, band. Reason 1 reads: "15% of declarations needed a top-up (minimum risk level 3%, maximum at 40%)".</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How much each parameter carries on its own, and in the final score</a:t>
            </a:r>
            <a:endParaRPr lang="en-US" sz="2400" dirty="0"/>
          </a:p>
        </p:txBody>
      </p:sp>
      <p:graphicFrame>
        <p:nvGraphicFramePr>
          <p:cNvPr id="4" name="Chart 0" descr=""/>
          <p:cNvGraphicFramePr/>
          <p:nvPr/>
        </p:nvGraphicFramePr>
        <p:xfrm>
          <a:off x="457200" y="1234440"/>
          <a:ext cx="4874281" cy="4520725"/>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5493957" y="1234440"/>
          <a:ext cx="4793043" cy="4520725"/>
        </p:xfrm>
        <a:graphic xmlns:a="http://schemas.openxmlformats.org/drawingml/2006/main">
          <a:graphicData uri="http://schemas.openxmlformats.org/drawingml/2006/chart">
            <c:chart xmlns:c="http://schemas.openxmlformats.org/drawingml/2006/chart" r:id="rId2"/>
          </a:graphicData>
        </a:graphic>
      </p:graphicFrame>
      <p:sp>
        <p:nvSpPr>
          <p:cNvPr id="6" name="Text 1"/>
          <p:cNvSpPr txBox="1"/>
          <p:nvPr/>
        </p:nvSpPr>
        <p:spPr>
          <a:xfrm>
            <a:off x="457200" y="5853442"/>
            <a:ext cx="9829800" cy="589660"/>
          </a:xfrm>
          <a:prstGeom prst="rect">
            <a:avLst/>
          </a:prstGeom>
          <a:noFill/>
          <a:ln/>
        </p:spPr>
        <p:txBody>
          <a:bodyPr wrap="square" lIns="0" tIns="0" rIns="0" bIns="0" rtlCol="0" anchor="t"/>
          <a:lstStyle/>
          <a:p>
            <a:pPr indent="0" marL="0">
              <a:spcAft>
                <a:spcPts val="600"/>
              </a:spcAft>
              <a:buNone/>
            </a:pPr>
            <a:r>
              <a:rPr lang="en-US" sz="1150" dirty="0">
                <a:solidFill>
                  <a:srgbClr val="6B7785"/>
                </a:solidFill>
                <a:latin typeface="Calibri" pitchFamily="34" charset="0"/>
                <a:ea typeface="Calibri" pitchFamily="34" charset="-122"/>
                <a:cs typeface="Calibri" pitchFamily="34" charset="-120"/>
              </a:rPr>
              <a:t>Full scorecard: AUC per check 0.80 (six dates). PAR_105 and PAR_023 sit below 0.5 alone: taxpayers with a recent top-up, and multi-station traders, are checked often and found less per check.</a:t>
            </a:r>
            <a:endParaRPr lang="en-US" sz="11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Taking each parameter out one at a time shows the top-up share is the backbone</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9829800" cy="914400"/>
        </p:xfrm>
        <a:graphic>
          <a:graphicData uri="http://schemas.openxmlformats.org/drawingml/2006/table">
            <a:tbl>
              <a:tblPr/>
              <a:tblGrid>
                <a:gridCol w="1624760"/>
                <a:gridCol w="1462284"/>
                <a:gridCol w="2112188"/>
                <a:gridCol w="4630567"/>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Parameter</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AUC alone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AUC lost if removed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Reading</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PAR_045T</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0.81</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0.019</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Backbone of the score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PAR_077</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0.68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+0.003 gained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Overlaps the top-up share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PAR_045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0.80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0.004</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Strong alone, adds a little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PAR_048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0.73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+0.001 gained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Overlaps PAR_077 (0.76)</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PAR_076</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0.59</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+0.000 gained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Aimed at risk top-ups cannot see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PAR_066</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0.56</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0.000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Rare (4% of taxpayers)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PAR_105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0.45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+0.005 gained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Slightly better without: question for officers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PAR_023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0.37</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+0.000 gained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Big traders spread across stations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5558612"/>
            <a:ext cx="9829800" cy="687936"/>
          </a:xfrm>
          <a:prstGeom prst="rect">
            <a:avLst/>
          </a:prstGeom>
          <a:noFill/>
          <a:ln/>
        </p:spPr>
        <p:txBody>
          <a:bodyPr wrap="square" lIns="0" tIns="0" rIns="0" bIns="0" rtlCol="0" anchor="t"/>
          <a:lstStyle/>
          <a:p>
            <a:pPr indent="0" marL="0">
              <a:spcAft>
                <a:spcPts val="600"/>
              </a:spcAft>
              <a:buNone/>
            </a:pPr>
            <a:r>
              <a:rPr lang="en-US" sz="1250" dirty="0">
                <a:solidFill>
                  <a:srgbClr val="102A83"/>
                </a:solidFill>
                <a:latin typeface="Calibri" pitchFamily="34" charset="0"/>
                <a:ea typeface="Calibri" pitchFamily="34" charset="-122"/>
                <a:cs typeface="Calibri" pitchFamily="34" charset="-120"/>
              </a:rPr>
              <a:t>Full score with all eight: AUC per check 0.796. Decision: keep all eight now (every agreed parameter with data is scored) and take the evidence to the weights session.</a:t>
            </a:r>
            <a:endParaRPr lang="en-US" sz="12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Peer groups and the pattern check: tested, and kept only where they help</a:t>
            </a:r>
            <a:endParaRPr lang="en-US" sz="2400" dirty="0"/>
          </a:p>
        </p:txBody>
      </p:sp>
      <p:sp>
        <p:nvSpPr>
          <p:cNvPr id="4" name="Peer groups: HS section x size"/>
          <p:cNvSpPr/>
          <p:nvPr/>
        </p:nvSpPr>
        <p:spPr>
          <a:xfrm>
            <a:off x="457200" y="1283578"/>
            <a:ext cx="4793043" cy="2358639"/>
          </a:xfrm>
          <a:prstGeom prst="roundRect">
            <a:avLst>
              <a:gd name="adj" fmla="val 3101"/>
            </a:avLst>
          </a:prstGeom>
          <a:solidFill>
            <a:srgbClr val="E6ECFF"/>
          </a:solidFill>
          <a:ln w="12700">
            <a:solidFill>
              <a:srgbClr val="E6ECFF"/>
            </a:solidFill>
            <a:prstDash val="solid"/>
          </a:ln>
        </p:spPr>
      </p:sp>
      <p:sp>
        <p:nvSpPr>
          <p:cNvPr id="5" name="Text 2"/>
          <p:cNvSpPr txBox="1"/>
          <p:nvPr/>
        </p:nvSpPr>
        <p:spPr>
          <a:xfrm>
            <a:off x="619676" y="1430993"/>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Peer groups: HS section x size</a:t>
            </a:r>
            <a:endParaRPr lang="en-US" sz="1500" dirty="0"/>
          </a:p>
        </p:txBody>
      </p:sp>
      <p:sp>
        <p:nvSpPr>
          <p:cNvPr id="6" name="Text 3"/>
          <p:cNvSpPr txBox="1"/>
          <p:nvPr/>
        </p:nvSpPr>
        <p:spPr>
          <a:xfrm>
            <a:off x="619676" y="1892893"/>
            <a:ext cx="4468091" cy="1621564"/>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HDBSCAN left 77% unclustered; its 6 groups were piles of single-product traders. Section x size gives 48 named groups such as "Textiles, large" with 2.5% pooled. Used for Track B percentiles and the pattern note.</a:t>
            </a:r>
            <a:endParaRPr lang="en-US" sz="1450" dirty="0"/>
          </a:p>
        </p:txBody>
      </p:sp>
      <p:sp>
        <p:nvSpPr>
          <p:cNvPr id="7" name="Pattern check: a note, no points"/>
          <p:cNvSpPr/>
          <p:nvPr/>
        </p:nvSpPr>
        <p:spPr>
          <a:xfrm>
            <a:off x="5493957" y="1283578"/>
            <a:ext cx="4793043" cy="2358639"/>
          </a:xfrm>
          <a:prstGeom prst="roundRect">
            <a:avLst>
              <a:gd name="adj" fmla="val 3101"/>
            </a:avLst>
          </a:prstGeom>
          <a:solidFill>
            <a:srgbClr val="E6ECFF"/>
          </a:solidFill>
          <a:ln w="12700">
            <a:solidFill>
              <a:srgbClr val="E6ECFF"/>
            </a:solidFill>
            <a:prstDash val="solid"/>
          </a:ln>
        </p:spPr>
      </p:sp>
      <p:sp>
        <p:nvSpPr>
          <p:cNvPr id="8" name="Text 5"/>
          <p:cNvSpPr txBox="1"/>
          <p:nvPr/>
        </p:nvSpPr>
        <p:spPr>
          <a:xfrm>
            <a:off x="5656433" y="1430993"/>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Pattern check: a note, no points</a:t>
            </a:r>
            <a:endParaRPr lang="en-US" sz="1500" dirty="0"/>
          </a:p>
        </p:txBody>
      </p:sp>
      <p:sp>
        <p:nvSpPr>
          <p:cNvPr id="9" name="Text 6"/>
          <p:cNvSpPr txBox="1"/>
          <p:nvPr/>
        </p:nvSpPr>
        <p:spPr>
          <a:xfrm>
            <a:off x="5656433" y="1892893"/>
            <a:ext cx="4468091" cy="1621564"/>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Lift with 0 / 5 / 10 / 15 pattern points: 4.49 / 4.45 / 4.41 / 4.34 at the top 5%. Unusual traders under 15 points were hit 2.4% against 2.8% for usual ones: unusual is not risky. Kept as a note at the 95th percentile.</a:t>
            </a:r>
            <a:endParaRPr lang="en-US" sz="1450" dirty="0"/>
          </a:p>
        </p:txBody>
      </p:sp>
      <p:sp>
        <p:nvSpPr>
          <p:cNvPr id="10" name="Text 7"/>
          <p:cNvSpPr txBox="1"/>
          <p:nvPr/>
        </p:nvSpPr>
        <p:spPr>
          <a:xfrm>
            <a:off x="457200" y="3937047"/>
            <a:ext cx="9829800" cy="1965533"/>
          </a:xfrm>
          <a:prstGeom prst="rect">
            <a:avLst/>
          </a:prstGeom>
          <a:noFill/>
          <a:ln/>
        </p:spPr>
        <p:txBody>
          <a:bodyPr wrap="square" lIns="0" tIns="0" rIns="0" bIns="0" rtlCol="0" anchor="t"/>
          <a:lstStyle/>
          <a:p>
            <a:pPr marL="203200" indent="-203200">
              <a:spcAft>
                <a:spcPts val="800"/>
              </a:spcAft>
              <a:buSzPct val="100000"/>
              <a:buChar char="•"/>
            </a:pPr>
            <a:r>
              <a:rPr lang="en-US" sz="1450" dirty="0">
                <a:solidFill>
                  <a:srgbClr val="1B2430"/>
                </a:solidFill>
                <a:latin typeface="Calibri" pitchFamily="34" charset="0"/>
                <a:ea typeface="Calibri" pitchFamily="34" charset="-122"/>
                <a:cs typeface="Calibri" pitchFamily="34" charset="-120"/>
              </a:rPr>
              <a:t>The note now names the two measures that make a taxpayer unusual, against the peer median, and says when a measure is already counted in the score.</a:t>
            </a:r>
            <a:endParaRPr lang="en-US" sz="1450" dirty="0"/>
          </a:p>
          <a:p>
            <a:pPr marL="203200" indent="-203200">
              <a:spcAft>
                <a:spcPts val="800"/>
              </a:spcAft>
              <a:buSzPct val="100000"/>
              <a:buChar char="•"/>
            </a:pPr>
            <a:r>
              <a:rPr lang="en-US" sz="1450" dirty="0">
                <a:solidFill>
                  <a:srgbClr val="1B2430"/>
                </a:solidFill>
                <a:latin typeface="Calibri" pitchFamily="34" charset="0"/>
                <a:ea typeface="Calibri" pitchFamily="34" charset="-122"/>
                <a:cs typeface="Calibri" pitchFamily="34" charset="-120"/>
              </a:rPr>
              <a:t>Lesson carried into Track B: being unusual is only useful when it points at a specific risk, such as a price below peers.</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731520" y="2468880"/>
            <a:ext cx="9144000" cy="1188720"/>
          </a:xfrm>
          <a:prstGeom prst="rect">
            <a:avLst/>
          </a:prstGeom>
          <a:noFill/>
          <a:ln/>
        </p:spPr>
        <p:txBody>
          <a:bodyPr wrap="square" rtlCol="0" anchor="ctr"/>
          <a:lstStyle/>
          <a:p>
            <a:pPr algn="l" indent="0" marL="0">
              <a:buNone/>
            </a:pPr>
            <a:r>
              <a:rPr lang="en-US" sz="3400" b="1" dirty="0">
                <a:solidFill>
                  <a:srgbClr val="FFFFFF"/>
                </a:solidFill>
                <a:latin typeface="Bookman Old Style" pitchFamily="34" charset="0"/>
                <a:ea typeface="Bookman Old Style" pitchFamily="34" charset="-122"/>
                <a:cs typeface="Bookman Old Style" pitchFamily="34" charset="-120"/>
              </a:rPr>
              <a:t>4  Track A: does it work?</a:t>
            </a:r>
            <a:endParaRPr lang="en-US" sz="3400" dirty="0"/>
          </a:p>
        </p:txBody>
      </p:sp>
      <p:sp>
        <p:nvSpPr>
          <p:cNvPr id="3" name="Text 2"/>
          <p:cNvSpPr/>
          <p:nvPr>
            <p:ph idx="103" type="body" hasCustomPrompt="1"/>
          </p:nvPr>
        </p:nvSpPr>
        <p:spPr>
          <a:xfrm>
            <a:off x="731520" y="4069080"/>
            <a:ext cx="9144000" cy="914400"/>
          </a:xfrm>
          <a:prstGeom prst="rect">
            <a:avLst/>
          </a:prstGeom>
          <a:noFill/>
          <a:ln/>
        </p:spPr>
        <p:txBody>
          <a:bodyPr wrap="square" rtlCol="0" anchor="t"/>
          <a:lstStyle/>
          <a:p>
            <a:pPr indent="0" marL="0">
              <a:buNone/>
            </a:pPr>
            <a:r>
              <a:rPr lang="en-US" sz="1800" dirty="0">
                <a:solidFill>
                  <a:srgbClr val="102A83"/>
                </a:solidFill>
                <a:latin typeface="Calibri" pitchFamily="34" charset="0"/>
                <a:ea typeface="Calibri" pitchFamily="34" charset="-122"/>
                <a:cs typeface="Calibri" pitchFamily="34" charset="-120"/>
              </a:rPr>
              <a:t>How success is measured, why, and what nine years of evidence say</a:t>
            </a:r>
            <a:endParaRPr lang="en-US" sz="180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How we measure success, and why not accuracy</a:t>
            </a:r>
            <a:endParaRPr lang="en-US" sz="2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9829800" cy="914400"/>
        </p:xfrm>
        <a:graphic>
          <a:graphicData uri="http://schemas.openxmlformats.org/drawingml/2006/table">
            <a:tbl>
              <a:tblPr/>
              <a:tblGrid>
                <a:gridCol w="2112188"/>
                <a:gridCol w="5767899"/>
                <a:gridCol w="1949712"/>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Measure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Question it answers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Role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r>
              <a:tr h="0">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AUC per check</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Pick one check that found a top-up and one that did not: how often does the model rank the first higher? 0.5 = chance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Main measure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Share of top-up money</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What share of top-up money came from taxpayers above the line?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Beside it (revenue)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Precision at a line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Of checks on taxpayers above the line, how many found something?</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At HIGH and above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Recall at a line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Of all checks that found something, what share were above the line?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At HIGH and above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Per taxpayer yes/no</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Did the taxpayer get at least one top-up?</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Dropped: rewards being checked often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Accuracy</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Share right overall</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Not used: 91% by saying "nothing found"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5509474"/>
            <a:ext cx="9829800" cy="687936"/>
          </a:xfrm>
          <a:prstGeom prst="rect">
            <a:avLst/>
          </a:prstGeom>
          <a:noFill/>
          <a:ln/>
        </p:spPr>
        <p:txBody>
          <a:bodyPr wrap="square" lIns="0" tIns="0" rIns="0" bIns="0" rtlCol="0" anchor="t"/>
          <a:lstStyle/>
          <a:p>
            <a:pPr indent="0" marL="0">
              <a:spcAft>
                <a:spcPts val="600"/>
              </a:spcAft>
              <a:buNone/>
            </a:pPr>
            <a:r>
              <a:rPr lang="en-US" sz="1250" dirty="0">
                <a:solidFill>
                  <a:srgbClr val="102A83"/>
                </a:solidFill>
                <a:latin typeface="Calibri" pitchFamily="34" charset="0"/>
                <a:ea typeface="Calibri" pitchFamily="34" charset="-122"/>
                <a:cs typeface="Calibri" pitchFamily="34" charset="-120"/>
              </a:rPr>
              <a:t>Every test is out of time: score at a date using only history before it, then compare with the 6 months after. Nothing the model sees comes from the period it is judged on.</a:t>
            </a:r>
            <a:endParaRPr lang="en-US" sz="12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The bands mean what they say: hit rate climbs every step</a:t>
            </a:r>
            <a:endParaRPr lang="en-US" sz="2400" dirty="0"/>
          </a:p>
        </p:txBody>
      </p:sp>
      <p:graphicFrame>
        <p:nvGraphicFramePr>
          <p:cNvPr id="4" name="Chart 0" descr=""/>
          <p:cNvGraphicFramePr/>
          <p:nvPr/>
        </p:nvGraphicFramePr>
        <p:xfrm>
          <a:off x="457200" y="1234440"/>
          <a:ext cx="5199233" cy="4815555"/>
        </p:xfrm>
        <a:graphic xmlns:a="http://schemas.openxmlformats.org/drawingml/2006/main">
          <a:graphicData uri="http://schemas.openxmlformats.org/drawingml/2006/chart">
            <c:chart xmlns:c="http://schemas.openxmlformats.org/drawingml/2006/chart" r:id="rId1"/>
          </a:graphicData>
        </a:graphic>
      </p:graphicFrame>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900147" y="1578408"/>
          <a:ext cx="4386853" cy="914400"/>
        </p:xfrm>
        <a:graphic>
          <a:graphicData uri="http://schemas.openxmlformats.org/drawingml/2006/table">
            <a:tbl>
              <a:tblPr/>
              <a:tblGrid>
                <a:gridCol w="1462284"/>
                <a:gridCol w="974856"/>
                <a:gridCol w="812380"/>
                <a:gridCol w="1137332"/>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Band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Taxpayers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Hits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Top-up money</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VERY HIGH</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37%</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HIGH</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MEDIUM</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7%</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9%</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LOW</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14%</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VERY LOW</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72%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bl>
          </a:graphicData>
        </a:graphic>
      </p:graphicFrame>
      <p:sp>
        <p:nvSpPr>
          <p:cNvPr id="6" name="Text 1"/>
          <p:cNvSpPr txBox="1"/>
          <p:nvPr/>
        </p:nvSpPr>
        <p:spPr>
          <a:xfrm>
            <a:off x="5900147" y="4231877"/>
            <a:ext cx="4386853" cy="589660"/>
          </a:xfrm>
          <a:prstGeom prst="rect">
            <a:avLst/>
          </a:prstGeom>
          <a:noFill/>
          <a:ln/>
        </p:spPr>
        <p:txBody>
          <a:bodyPr wrap="square" lIns="0" tIns="0" rIns="0" bIns="0" rtlCol="0" anchor="t"/>
          <a:lstStyle/>
          <a:p>
            <a:pPr indent="0" marL="0">
              <a:spcAft>
                <a:spcPts val="600"/>
              </a:spcAft>
              <a:buNone/>
            </a:pPr>
            <a:r>
              <a:rPr lang="en-US" sz="1150" dirty="0">
                <a:solidFill>
                  <a:srgbClr val="6B7785"/>
                </a:solidFill>
                <a:latin typeface="Calibri" pitchFamily="34" charset="0"/>
                <a:ea typeface="Calibri" pitchFamily="34" charset="-122"/>
                <a:cs typeface="Calibri" pitchFamily="34" charset="-120"/>
              </a:rPr>
              <a:t>Shares of all taxpayers, hits and top-up money, six dates pooled (Sep 2023 to Mar 2026).</a:t>
            </a:r>
            <a:endParaRPr lang="en-US" sz="11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Where officers draw the line: precision, recall and money</a:t>
            </a:r>
            <a:endParaRPr lang="en-US" sz="2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9829800" cy="914400"/>
        </p:xfrm>
        <a:graphic>
          <a:graphicData uri="http://schemas.openxmlformats.org/drawingml/2006/table">
            <a:tbl>
              <a:tblPr/>
              <a:tblGrid>
                <a:gridCol w="2274664"/>
                <a:gridCol w="1787236"/>
                <a:gridCol w="2112188"/>
                <a:gridCol w="1868474"/>
                <a:gridCol w="1787236"/>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Line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Taxpayers above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Precision (hits per check)</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Recall (share of hits)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Share of top-up money</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Top 1%</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26%</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Top 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47%</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Top 10%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37%</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59%</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Top 20%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31%</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64%</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69%</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VERY HIGH</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HIGH and above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7.7%</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51%</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MEDIUM and above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14.3%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59%</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63%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All taxpayers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100%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9%</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100%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100%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57200" y="5214644"/>
            <a:ext cx="9829800" cy="393107"/>
          </a:xfrm>
          <a:prstGeom prst="rect">
            <a:avLst/>
          </a:prstGeom>
          <a:noFill/>
          <a:ln/>
        </p:spPr>
        <p:txBody>
          <a:bodyPr wrap="square" lIns="0" tIns="0" rIns="0" bIns="0" rtlCol="0" anchor="t"/>
          <a:lstStyle/>
          <a:p>
            <a:pPr indent="0" marL="0">
              <a:spcAft>
                <a:spcPts val="600"/>
              </a:spcAft>
              <a:buNone/>
            </a:pPr>
            <a:r>
              <a:rPr lang="en-US" sz="1150" dirty="0">
                <a:solidFill>
                  <a:srgbClr val="6B7785"/>
                </a:solidFill>
                <a:latin typeface="Calibri" pitchFamily="34" charset="0"/>
                <a:ea typeface="Calibri" pitchFamily="34" charset="-122"/>
                <a:cs typeface="Calibri" pitchFamily="34" charset="-120"/>
              </a:rPr>
              <a:t>Average of six dates, Sep 2023 to Mar 2026, adopted settings.</a:t>
            </a:r>
            <a:endParaRPr lang="en-US" sz="11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Nine years of evidence: steady ranking, one dip that follows a change in customs</a:t>
            </a:r>
            <a:endParaRPr lang="en-US" sz="2400" dirty="0"/>
          </a:p>
        </p:txBody>
      </p:sp>
      <p:graphicFrame>
        <p:nvGraphicFramePr>
          <p:cNvPr id="4" name="Chart 0" descr=""/>
          <p:cNvGraphicFramePr/>
          <p:nvPr/>
        </p:nvGraphicFramePr>
        <p:xfrm>
          <a:off x="457200" y="1185302"/>
          <a:ext cx="9829800" cy="2506054"/>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57200" y="3789633"/>
          <a:ext cx="9829800" cy="2506054"/>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Recency: three years, with each year back counting half</a:t>
            </a:r>
            <a:endParaRPr lang="en-US" sz="2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6174089" cy="914400"/>
        </p:xfrm>
        <a:graphic>
          <a:graphicData uri="http://schemas.openxmlformats.org/drawingml/2006/table">
            <a:tbl>
              <a:tblPr/>
              <a:tblGrid>
                <a:gridCol w="3087045"/>
                <a:gridCol w="1624760"/>
                <a:gridCol w="1462284"/>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Option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AUC per check</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Better than the old rule on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Old rule: last 2 years, equal</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0.813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reference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Last year only</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0.804</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worse on 16 of 18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 years, equal (1, 1, 1)</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0.816</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14 of 18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 years, gentle (1, 0.75, 0.5)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0.817</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16 of 18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3 years, halving (1, 0.5, 0.25): adopted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0.817</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18 of 18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 years, steep (1, 0.33, 0.11)</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0.816</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14 of 18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 years, halving (14 dates)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0.821 (3-year halving 0.820)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14 of 14</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bl>
          </a:graphicData>
        </a:graphic>
      </p:graphicFrame>
      <p:sp>
        <p:nvSpPr>
          <p:cNvPr id="5" name="Why halving"/>
          <p:cNvSpPr/>
          <p:nvPr/>
        </p:nvSpPr>
        <p:spPr>
          <a:xfrm>
            <a:off x="6875003" y="1234440"/>
            <a:ext cx="3411997" cy="4520725"/>
          </a:xfrm>
          <a:prstGeom prst="roundRect">
            <a:avLst>
              <a:gd name="adj" fmla="val 2144"/>
            </a:avLst>
          </a:prstGeom>
          <a:solidFill>
            <a:srgbClr val="FFF4C7"/>
          </a:solidFill>
          <a:ln w="12700">
            <a:solidFill>
              <a:srgbClr val="FFF4C7"/>
            </a:solidFill>
            <a:prstDash val="solid"/>
          </a:ln>
        </p:spPr>
      </p:sp>
      <p:sp>
        <p:nvSpPr>
          <p:cNvPr id="6" name="Text 2"/>
          <p:cNvSpPr txBox="1"/>
          <p:nvPr/>
        </p:nvSpPr>
        <p:spPr>
          <a:xfrm>
            <a:off x="7037479" y="1381855"/>
            <a:ext cx="3087045"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Why halving</a:t>
            </a:r>
            <a:endParaRPr lang="en-US" sz="1500" dirty="0"/>
          </a:p>
        </p:txBody>
      </p:sp>
      <p:sp>
        <p:nvSpPr>
          <p:cNvPr id="7" name="Text 3"/>
          <p:cNvSpPr txBox="1"/>
          <p:nvPr/>
        </p:nvSpPr>
        <p:spPr>
          <a:xfrm>
            <a:off x="7037479" y="1843755"/>
            <a:ext cx="3087045" cy="378365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Last year speaks loudest, three years ago still has a say.</a:t>
            </a:r>
            <a:endParaRPr lang="en-US" sz="1450" dirty="0"/>
          </a:p>
          <a:p>
            <a:pPr indent="0" marL="0">
              <a:buNone/>
            </a:pP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Equal weights let old top-ups count too much and lose precision at HIGH and above. Steeper weights forget too fast.</a:t>
            </a:r>
            <a:endParaRPr lang="en-US" sz="1450" dirty="0"/>
          </a:p>
          <a:p>
            <a:pPr indent="0" marL="0">
              <a:buNone/>
            </a:pP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A trader who has cleaned up recovers within about two years, which matches how officers already read history.</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Robust: the ranking holds when settings move, and we tested the alternatives</a:t>
            </a:r>
            <a:endParaRPr lang="en-US" sz="2400" dirty="0"/>
          </a:p>
        </p:txBody>
      </p:sp>
      <p:sp>
        <p:nvSpPr>
          <p:cNvPr id="4" name="Sensitivity check"/>
          <p:cNvSpPr/>
          <p:nvPr/>
        </p:nvSpPr>
        <p:spPr>
          <a:xfrm>
            <a:off x="457200" y="1283578"/>
            <a:ext cx="4793043" cy="2309501"/>
          </a:xfrm>
          <a:prstGeom prst="roundRect">
            <a:avLst>
              <a:gd name="adj" fmla="val 3167"/>
            </a:avLst>
          </a:prstGeom>
          <a:solidFill>
            <a:srgbClr val="E6ECFF"/>
          </a:solidFill>
          <a:ln w="12700">
            <a:solidFill>
              <a:srgbClr val="E6ECFF"/>
            </a:solidFill>
            <a:prstDash val="solid"/>
          </a:ln>
        </p:spPr>
      </p:sp>
      <p:sp>
        <p:nvSpPr>
          <p:cNvPr id="5" name="Text 2"/>
          <p:cNvSpPr txBox="1"/>
          <p:nvPr/>
        </p:nvSpPr>
        <p:spPr>
          <a:xfrm>
            <a:off x="619676" y="1430993"/>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Sensitivity check</a:t>
            </a:r>
            <a:endParaRPr lang="en-US" sz="1500" dirty="0"/>
          </a:p>
        </p:txBody>
      </p:sp>
      <p:sp>
        <p:nvSpPr>
          <p:cNvPr id="6" name="Text 3"/>
          <p:cNvSpPr txBox="1"/>
          <p:nvPr/>
        </p:nvSpPr>
        <p:spPr>
          <a:xfrm>
            <a:off x="619676" y="1892893"/>
            <a:ext cx="4468091" cy="1572426"/>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Weights x0.5 or x1.5: 95-98% of the same top 5%.</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No credibility weighting (K = 0): -46% hits.</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PAR_045T maximum at 10%: -0.84 lift.</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The list is stable where it should be and sensitive where we made deliberate choices.</a:t>
            </a:r>
            <a:endParaRPr lang="en-US" sz="1450" dirty="0"/>
          </a:p>
        </p:txBody>
      </p:sp>
      <p:sp>
        <p:nvSpPr>
          <p:cNvPr id="7" name="Challengers (lift at top 5%, 4 tests)"/>
          <p:cNvSpPr/>
          <p:nvPr/>
        </p:nvSpPr>
        <p:spPr>
          <a:xfrm>
            <a:off x="5493957" y="1283578"/>
            <a:ext cx="4793043" cy="2309501"/>
          </a:xfrm>
          <a:prstGeom prst="roundRect">
            <a:avLst>
              <a:gd name="adj" fmla="val 3167"/>
            </a:avLst>
          </a:prstGeom>
          <a:solidFill>
            <a:srgbClr val="E6ECFF"/>
          </a:solidFill>
          <a:ln w="12700">
            <a:solidFill>
              <a:srgbClr val="E6ECFF"/>
            </a:solidFill>
            <a:prstDash val="solid"/>
          </a:ln>
        </p:spPr>
      </p:sp>
      <p:sp>
        <p:nvSpPr>
          <p:cNvPr id="8" name="Text 5"/>
          <p:cNvSpPr txBox="1"/>
          <p:nvPr/>
        </p:nvSpPr>
        <p:spPr>
          <a:xfrm>
            <a:off x="5656433" y="1430993"/>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Challengers (lift at top 5%, 4 tests)</a:t>
            </a:r>
            <a:endParaRPr lang="en-US" sz="1500" dirty="0"/>
          </a:p>
        </p:txBody>
      </p:sp>
      <p:sp>
        <p:nvSpPr>
          <p:cNvPr id="9" name="Text 6"/>
          <p:cNvSpPr txBox="1"/>
          <p:nvPr/>
        </p:nvSpPr>
        <p:spPr>
          <a:xfrm>
            <a:off x="5656433" y="1892893"/>
            <a:ext cx="4468091" cy="1572426"/>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Scorecard 4.37 | learned weights 5.00 | monotone boosting 4.75 | boosting on top of the scorecard 4.80 with 5,882 hits against 5,522, better in 3 of 3, worse in 0.</a:t>
            </a:r>
            <a:endParaRPr lang="en-US" sz="1450" dirty="0"/>
          </a:p>
        </p:txBody>
      </p:sp>
      <p:sp>
        <p:nvSpPr>
          <p:cNvPr id="10" name="Why the scorecard stays the champion for now"/>
          <p:cNvSpPr/>
          <p:nvPr/>
        </p:nvSpPr>
        <p:spPr>
          <a:xfrm>
            <a:off x="457200" y="3838771"/>
            <a:ext cx="9829800" cy="2260363"/>
          </a:xfrm>
          <a:prstGeom prst="roundRect">
            <a:avLst>
              <a:gd name="adj" fmla="val 3236"/>
            </a:avLst>
          </a:prstGeom>
          <a:solidFill>
            <a:srgbClr val="F1F3F6"/>
          </a:solidFill>
          <a:ln w="12700">
            <a:solidFill>
              <a:srgbClr val="F1F3F6"/>
            </a:solidFill>
            <a:prstDash val="solid"/>
          </a:ln>
        </p:spPr>
      </p:sp>
      <p:sp>
        <p:nvSpPr>
          <p:cNvPr id="11" name="Text 8"/>
          <p:cNvSpPr txBox="1"/>
          <p:nvPr/>
        </p:nvSpPr>
        <p:spPr>
          <a:xfrm>
            <a:off x="619676" y="3986186"/>
            <a:ext cx="9504848"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Why the scorecard stays the champion for now</a:t>
            </a:r>
            <a:endParaRPr lang="en-US" sz="1500" dirty="0"/>
          </a:p>
        </p:txBody>
      </p:sp>
      <p:sp>
        <p:nvSpPr>
          <p:cNvPr id="12" name="Text 9"/>
          <p:cNvSpPr txBox="1"/>
          <p:nvPr/>
        </p:nvSpPr>
        <p:spPr>
          <a:xfrm>
            <a:off x="619676" y="4448086"/>
            <a:ext cx="9504848" cy="1523288"/>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Its points are the officers' own thresholds and can be explained line by line; learned models inherit the bias of past selectivity (they only learn from checks officers chose). Boosting on top of the scorecard keeps the reasons and adds a learned correction: it is the leading candidate for round 2, to be shadow-run before any switch.</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An independent check: the model agrees with the AEO programme</a:t>
            </a:r>
            <a:endParaRPr lang="en-US" sz="2400" dirty="0"/>
          </a:p>
        </p:txBody>
      </p:sp>
      <p:graphicFrame>
        <p:nvGraphicFramePr>
          <p:cNvPr id="4" name="Chart 0" descr=""/>
          <p:cNvGraphicFramePr/>
          <p:nvPr/>
        </p:nvGraphicFramePr>
        <p:xfrm>
          <a:off x="457200" y="1234440"/>
          <a:ext cx="5849137" cy="4815555"/>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6631289" y="1381855"/>
            <a:ext cx="3574473" cy="933628"/>
          </a:xfrm>
          <a:prstGeom prst="rect">
            <a:avLst/>
          </a:prstGeom>
          <a:noFill/>
          <a:ln/>
        </p:spPr>
        <p:txBody>
          <a:bodyPr wrap="square" lIns="0" tIns="0" rIns="0" bIns="0" rtlCol="0" anchor="b"/>
          <a:lstStyle/>
          <a:p>
            <a:pPr indent="0" marL="0">
              <a:buNone/>
            </a:pPr>
            <a:r>
              <a:rPr lang="en-US" sz="4200" b="1" dirty="0">
                <a:solidFill>
                  <a:srgbClr val="B88A00"/>
                </a:solidFill>
                <a:latin typeface="Calibri" pitchFamily="34" charset="0"/>
                <a:ea typeface="Calibri" pitchFamily="34" charset="-122"/>
                <a:cs typeface="Calibri" pitchFamily="34" charset="-120"/>
              </a:rPr>
              <a:t>1.7%</a:t>
            </a:r>
            <a:endParaRPr lang="en-US" sz="4200" dirty="0"/>
          </a:p>
        </p:txBody>
      </p:sp>
      <p:sp>
        <p:nvSpPr>
          <p:cNvPr id="6" name="Text 2"/>
          <p:cNvSpPr txBox="1"/>
          <p:nvPr/>
        </p:nvSpPr>
        <p:spPr>
          <a:xfrm>
            <a:off x="6631289" y="2364621"/>
            <a:ext cx="3574473"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of checks on AEO members found a top-up, against 7.3% for others (Apr to Sep 2026)</a:t>
            </a:r>
            <a:endParaRPr lang="en-US" sz="1450" dirty="0"/>
          </a:p>
        </p:txBody>
      </p:sp>
      <p:sp>
        <p:nvSpPr>
          <p:cNvPr id="7" name="Text 3"/>
          <p:cNvSpPr txBox="1"/>
          <p:nvPr/>
        </p:nvSpPr>
        <p:spPr>
          <a:xfrm>
            <a:off x="6631289" y="3445664"/>
            <a:ext cx="3574473" cy="933628"/>
          </a:xfrm>
          <a:prstGeom prst="rect">
            <a:avLst/>
          </a:prstGeom>
          <a:noFill/>
          <a:ln/>
        </p:spPr>
        <p:txBody>
          <a:bodyPr wrap="square" lIns="0" tIns="0" rIns="0" bIns="0" rtlCol="0" anchor="b"/>
          <a:lstStyle/>
          <a:p>
            <a:pPr indent="0" marL="0">
              <a:buNone/>
            </a:pPr>
            <a:r>
              <a:rPr lang="en-US" sz="4200" b="1" dirty="0">
                <a:solidFill>
                  <a:srgbClr val="B5482B"/>
                </a:solidFill>
                <a:latin typeface="Calibri" pitchFamily="34" charset="0"/>
                <a:ea typeface="Calibri" pitchFamily="34" charset="-122"/>
                <a:cs typeface="Calibri" pitchFamily="34" charset="-120"/>
              </a:rPr>
              <a:t>8</a:t>
            </a:r>
            <a:endParaRPr lang="en-US" sz="4200" dirty="0"/>
          </a:p>
        </p:txBody>
      </p:sp>
      <p:sp>
        <p:nvSpPr>
          <p:cNvPr id="8" name="Text 4"/>
          <p:cNvSpPr txBox="1"/>
          <p:nvPr/>
        </p:nvSpPr>
        <p:spPr>
          <a:xfrm>
            <a:off x="6631289" y="4428431"/>
            <a:ext cx="3574473"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AEO members to raise with officers: 1 HIGH on its record, 3 with a behaviour flag, 4 MEDIUM</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2" type="title" hasCustomPrompt="1"/>
          </p:nvPr>
        </p:nvSpPr>
        <p:spPr>
          <a:xfrm>
            <a:off x="731520" y="2468880"/>
            <a:ext cx="9144000" cy="1188720"/>
          </a:xfrm>
          <a:prstGeom prst="rect">
            <a:avLst/>
          </a:prstGeom>
          <a:noFill/>
          <a:ln/>
        </p:spPr>
        <p:txBody>
          <a:bodyPr wrap="square" rtlCol="0" anchor="ctr"/>
          <a:lstStyle/>
          <a:p>
            <a:pPr algn="l" indent="0" marL="0">
              <a:buNone/>
            </a:pPr>
            <a:r>
              <a:rPr lang="en-US" sz="3400" b="1" dirty="0">
                <a:solidFill>
                  <a:srgbClr val="FFFFFF"/>
                </a:solidFill>
                <a:latin typeface="Bookman Old Style" pitchFamily="34" charset="0"/>
                <a:ea typeface="Bookman Old Style" pitchFamily="34" charset="-122"/>
                <a:cs typeface="Bookman Old Style" pitchFamily="34" charset="-120"/>
              </a:rPr>
              <a:t>5  Track B: risk without a record</a:t>
            </a:r>
            <a:endParaRPr lang="en-US" sz="3400" dirty="0"/>
          </a:p>
        </p:txBody>
      </p:sp>
      <p:sp>
        <p:nvSpPr>
          <p:cNvPr id="3" name="Text 2"/>
          <p:cNvSpPr/>
          <p:nvPr>
            <p:ph idx="103" type="body" hasCustomPrompt="1"/>
          </p:nvPr>
        </p:nvSpPr>
        <p:spPr>
          <a:xfrm>
            <a:off x="731520" y="4069080"/>
            <a:ext cx="9144000" cy="914400"/>
          </a:xfrm>
          <a:prstGeom prst="rect">
            <a:avLst/>
          </a:prstGeom>
          <a:noFill/>
          <a:ln/>
        </p:spPr>
        <p:txBody>
          <a:bodyPr wrap="square" rtlCol="0" anchor="t"/>
          <a:lstStyle/>
          <a:p>
            <a:pPr indent="0" marL="0">
              <a:buNone/>
            </a:pPr>
            <a:r>
              <a:rPr lang="en-US" sz="1800" dirty="0">
                <a:solidFill>
                  <a:srgbClr val="102A83"/>
                </a:solidFill>
                <a:latin typeface="Calibri" pitchFamily="34" charset="0"/>
                <a:ea typeface="Calibri" pitchFamily="34" charset="-122"/>
                <a:cs typeface="Calibri" pitchFamily="34" charset="-120"/>
              </a:rPr>
              <a:t>Trading behaviour against similar importers, for taxpayers with no top-up history</a:t>
            </a:r>
            <a:endParaRPr lang="en-US" sz="180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Why a second track: half the risk sits where history cannot see it</a:t>
            </a:r>
            <a:endParaRPr lang="en-US" sz="2400" dirty="0"/>
          </a:p>
        </p:txBody>
      </p:sp>
      <p:sp>
        <p:nvSpPr>
          <p:cNvPr id="4" name="Text 1"/>
          <p:cNvSpPr txBox="1"/>
          <p:nvPr/>
        </p:nvSpPr>
        <p:spPr>
          <a:xfrm>
            <a:off x="457200" y="1283578"/>
            <a:ext cx="2924569" cy="933628"/>
          </a:xfrm>
          <a:prstGeom prst="rect">
            <a:avLst/>
          </a:prstGeom>
          <a:noFill/>
          <a:ln/>
        </p:spPr>
        <p:txBody>
          <a:bodyPr wrap="square" lIns="0" tIns="0" rIns="0" bIns="0" rtlCol="0" anchor="b"/>
          <a:lstStyle/>
          <a:p>
            <a:pPr indent="0" marL="0">
              <a:buNone/>
            </a:pPr>
            <a:r>
              <a:rPr lang="en-US" sz="4200" b="1" dirty="0">
                <a:solidFill>
                  <a:srgbClr val="B5482B"/>
                </a:solidFill>
                <a:latin typeface="Calibri" pitchFamily="34" charset="0"/>
                <a:ea typeface="Calibri" pitchFamily="34" charset="-122"/>
                <a:cs typeface="Calibri" pitchFamily="34" charset="-120"/>
              </a:rPr>
              <a:t>69%</a:t>
            </a:r>
            <a:endParaRPr lang="en-US" sz="4200" dirty="0"/>
          </a:p>
        </p:txBody>
      </p:sp>
      <p:sp>
        <p:nvSpPr>
          <p:cNvPr id="5" name="Text 2"/>
          <p:cNvSpPr txBox="1"/>
          <p:nvPr/>
        </p:nvSpPr>
        <p:spPr>
          <a:xfrm>
            <a:off x="457200" y="2266345"/>
            <a:ext cx="2924569"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of taxpayers have no top-up history at all</a:t>
            </a:r>
            <a:endParaRPr lang="en-US" sz="1450" dirty="0"/>
          </a:p>
        </p:txBody>
      </p:sp>
      <p:sp>
        <p:nvSpPr>
          <p:cNvPr id="6" name="Text 3"/>
          <p:cNvSpPr txBox="1"/>
          <p:nvPr/>
        </p:nvSpPr>
        <p:spPr>
          <a:xfrm>
            <a:off x="3804206" y="1283578"/>
            <a:ext cx="2924569" cy="933628"/>
          </a:xfrm>
          <a:prstGeom prst="rect">
            <a:avLst/>
          </a:prstGeom>
          <a:noFill/>
          <a:ln/>
        </p:spPr>
        <p:txBody>
          <a:bodyPr wrap="square" lIns="0" tIns="0" rIns="0" bIns="0" rtlCol="0" anchor="b"/>
          <a:lstStyle/>
          <a:p>
            <a:pPr indent="0" marL="0">
              <a:buNone/>
            </a:pPr>
            <a:r>
              <a:rPr lang="en-US" sz="4200" b="1" dirty="0">
                <a:solidFill>
                  <a:srgbClr val="B5482B"/>
                </a:solidFill>
                <a:latin typeface="Calibri" pitchFamily="34" charset="0"/>
                <a:ea typeface="Calibri" pitchFamily="34" charset="-122"/>
                <a:cs typeface="Calibri" pitchFamily="34" charset="-120"/>
              </a:rPr>
              <a:t>~49%</a:t>
            </a:r>
            <a:endParaRPr lang="en-US" sz="4200" dirty="0"/>
          </a:p>
        </p:txBody>
      </p:sp>
      <p:sp>
        <p:nvSpPr>
          <p:cNvPr id="7" name="Text 4"/>
          <p:cNvSpPr txBox="1"/>
          <p:nvPr/>
        </p:nvSpPr>
        <p:spPr>
          <a:xfrm>
            <a:off x="3804206" y="2266345"/>
            <a:ext cx="2924569"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of hits come from taxpayers below HIGH (recall at HIGH and above is 51%)</a:t>
            </a:r>
            <a:endParaRPr lang="en-US" sz="1450" dirty="0"/>
          </a:p>
        </p:txBody>
      </p:sp>
      <p:sp>
        <p:nvSpPr>
          <p:cNvPr id="8" name="Text 5"/>
          <p:cNvSpPr txBox="1"/>
          <p:nvPr/>
        </p:nvSpPr>
        <p:spPr>
          <a:xfrm>
            <a:off x="7151213" y="1283578"/>
            <a:ext cx="2924569" cy="933628"/>
          </a:xfrm>
          <a:prstGeom prst="rect">
            <a:avLst/>
          </a:prstGeom>
          <a:noFill/>
          <a:ln/>
        </p:spPr>
        <p:txBody>
          <a:bodyPr wrap="square" lIns="0" tIns="0" rIns="0" bIns="0" rtlCol="0" anchor="b"/>
          <a:lstStyle/>
          <a:p>
            <a:pPr indent="0" marL="0">
              <a:buNone/>
            </a:pPr>
            <a:r>
              <a:rPr lang="en-US" sz="4200" b="1" dirty="0">
                <a:solidFill>
                  <a:srgbClr val="B5482B"/>
                </a:solidFill>
                <a:latin typeface="Calibri" pitchFamily="34" charset="0"/>
                <a:ea typeface="Calibri" pitchFamily="34" charset="-122"/>
                <a:cs typeface="Calibri" pitchFamily="34" charset="-120"/>
              </a:rPr>
              <a:t>0</a:t>
            </a:r>
            <a:endParaRPr lang="en-US" sz="4200" dirty="0"/>
          </a:p>
        </p:txBody>
      </p:sp>
      <p:sp>
        <p:nvSpPr>
          <p:cNvPr id="9" name="Text 6"/>
          <p:cNvSpPr txBox="1"/>
          <p:nvPr/>
        </p:nvSpPr>
        <p:spPr>
          <a:xfrm>
            <a:off x="7151213" y="2266345"/>
            <a:ext cx="2924569"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Track A points for an undervaluer never caught: nothing in their record to score</a:t>
            </a:r>
            <a:endParaRPr lang="en-US" sz="1450" dirty="0"/>
          </a:p>
        </p:txBody>
      </p:sp>
      <p:sp>
        <p:nvSpPr>
          <p:cNvPr id="10" name="Design rules for Track B"/>
          <p:cNvSpPr/>
          <p:nvPr/>
        </p:nvSpPr>
        <p:spPr>
          <a:xfrm>
            <a:off x="457200" y="3838771"/>
            <a:ext cx="9829800" cy="2260363"/>
          </a:xfrm>
          <a:prstGeom prst="roundRect">
            <a:avLst>
              <a:gd name="adj" fmla="val 3236"/>
            </a:avLst>
          </a:prstGeom>
          <a:solidFill>
            <a:srgbClr val="E6ECFF"/>
          </a:solidFill>
          <a:ln w="12700">
            <a:solidFill>
              <a:srgbClr val="E6ECFF"/>
            </a:solidFill>
            <a:prstDash val="solid"/>
          </a:ln>
        </p:spPr>
      </p:sp>
      <p:sp>
        <p:nvSpPr>
          <p:cNvPr id="11" name="Text 8"/>
          <p:cNvSpPr txBox="1"/>
          <p:nvPr/>
        </p:nvSpPr>
        <p:spPr>
          <a:xfrm>
            <a:off x="619676" y="3986186"/>
            <a:ext cx="9504848"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Design rules for Track B</a:t>
            </a:r>
            <a:endParaRPr lang="en-US" sz="1500" dirty="0"/>
          </a:p>
        </p:txBody>
      </p:sp>
      <p:sp>
        <p:nvSpPr>
          <p:cNvPr id="12" name="Text 9"/>
          <p:cNvSpPr txBox="1"/>
          <p:nvPr/>
        </p:nvSpPr>
        <p:spPr>
          <a:xfrm>
            <a:off x="619676" y="4448086"/>
            <a:ext cx="9504848" cy="1523288"/>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No customs actions as inputs (no top-ups, no lanes), so it cannot just repeat selectivity. Each feature turned into a percentile within the peer group (same main goods, same size). Separate models for regular traders (10+ declarations) and small traders. Flags: top 5% of regular and top 1% of small traders with no top-up history. A flag lifts the Overall Risk Band to HIGH at most until proven.</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Track B features: four families of behaviour</a:t>
            </a:r>
            <a:endParaRPr lang="en-US" sz="2400" dirty="0"/>
          </a:p>
        </p:txBody>
      </p:sp>
      <p:sp>
        <p:nvSpPr>
          <p:cNvPr id="4" name="Declaration behaviour"/>
          <p:cNvSpPr/>
          <p:nvPr/>
        </p:nvSpPr>
        <p:spPr>
          <a:xfrm>
            <a:off x="457200" y="1283578"/>
            <a:ext cx="4793043" cy="2309501"/>
          </a:xfrm>
          <a:prstGeom prst="roundRect">
            <a:avLst>
              <a:gd name="adj" fmla="val 3167"/>
            </a:avLst>
          </a:prstGeom>
          <a:solidFill>
            <a:srgbClr val="F1F3F6"/>
          </a:solidFill>
          <a:ln w="12700">
            <a:solidFill>
              <a:srgbClr val="F1F3F6"/>
            </a:solidFill>
            <a:prstDash val="solid"/>
          </a:ln>
        </p:spPr>
      </p:sp>
      <p:sp>
        <p:nvSpPr>
          <p:cNvPr id="5" name="Text 2"/>
          <p:cNvSpPr txBox="1"/>
          <p:nvPr/>
        </p:nvSpPr>
        <p:spPr>
          <a:xfrm>
            <a:off x="619676" y="1430993"/>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Declaration behaviour</a:t>
            </a:r>
            <a:endParaRPr lang="en-US" sz="1500" dirty="0"/>
          </a:p>
        </p:txBody>
      </p:sp>
      <p:sp>
        <p:nvSpPr>
          <p:cNvPr id="6" name="Text 3"/>
          <p:cNvSpPr txBox="1"/>
          <p:nvPr/>
        </p:nvSpPr>
        <p:spPr>
          <a:xfrm>
            <a:off x="619676" y="1892893"/>
            <a:ext cx="4468091" cy="1572426"/>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Declarations amended; tax left unpaid; prices so low they look like keying errors.</a:t>
            </a:r>
            <a:endParaRPr lang="en-US" sz="1450" dirty="0"/>
          </a:p>
        </p:txBody>
      </p:sp>
      <p:sp>
        <p:nvSpPr>
          <p:cNvPr id="7" name="Valuation"/>
          <p:cNvSpPr/>
          <p:nvPr/>
        </p:nvSpPr>
        <p:spPr>
          <a:xfrm>
            <a:off x="5493957" y="1283578"/>
            <a:ext cx="4793043" cy="2309501"/>
          </a:xfrm>
          <a:prstGeom prst="roundRect">
            <a:avLst>
              <a:gd name="adj" fmla="val 3167"/>
            </a:avLst>
          </a:prstGeom>
          <a:solidFill>
            <a:srgbClr val="F1F3F6"/>
          </a:solidFill>
          <a:ln w="12700">
            <a:solidFill>
              <a:srgbClr val="F1F3F6"/>
            </a:solidFill>
            <a:prstDash val="solid"/>
          </a:ln>
        </p:spPr>
      </p:sp>
      <p:sp>
        <p:nvSpPr>
          <p:cNvPr id="8" name="Text 5"/>
          <p:cNvSpPr txBox="1"/>
          <p:nvPr/>
        </p:nvSpPr>
        <p:spPr>
          <a:xfrm>
            <a:off x="5656433" y="1430993"/>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Valuation</a:t>
            </a:r>
            <a:endParaRPr lang="en-US" sz="1500" dirty="0"/>
          </a:p>
        </p:txBody>
      </p:sp>
      <p:sp>
        <p:nvSpPr>
          <p:cNvPr id="9" name="Text 6"/>
          <p:cNvSpPr txBox="1"/>
          <p:nvPr/>
        </p:nvSpPr>
        <p:spPr>
          <a:xfrm>
            <a:off x="5656433" y="1892893"/>
            <a:ext cx="4468091" cy="1572426"/>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Value below the HS benchmark; items priced below half the benchmark; prices far from other importers (v2); price dropped against own history (v2, PAR_067).</a:t>
            </a:r>
            <a:endParaRPr lang="en-US" sz="1450" dirty="0"/>
          </a:p>
        </p:txBody>
      </p:sp>
      <p:sp>
        <p:nvSpPr>
          <p:cNvPr id="10" name="Classification and duty"/>
          <p:cNvSpPr/>
          <p:nvPr/>
        </p:nvSpPr>
        <p:spPr>
          <a:xfrm>
            <a:off x="457200" y="3789633"/>
            <a:ext cx="4793043" cy="2309501"/>
          </a:xfrm>
          <a:prstGeom prst="roundRect">
            <a:avLst>
              <a:gd name="adj" fmla="val 3167"/>
            </a:avLst>
          </a:prstGeom>
          <a:solidFill>
            <a:srgbClr val="F1F3F6"/>
          </a:solidFill>
          <a:ln w="12700">
            <a:solidFill>
              <a:srgbClr val="F1F3F6"/>
            </a:solidFill>
            <a:prstDash val="solid"/>
          </a:ln>
        </p:spPr>
      </p:sp>
      <p:sp>
        <p:nvSpPr>
          <p:cNvPr id="11" name="Text 8"/>
          <p:cNvSpPr txBox="1"/>
          <p:nvPr/>
        </p:nvSpPr>
        <p:spPr>
          <a:xfrm>
            <a:off x="619676" y="3937047"/>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Classification and duty</a:t>
            </a:r>
            <a:endParaRPr lang="en-US" sz="1500" dirty="0"/>
          </a:p>
        </p:txBody>
      </p:sp>
      <p:sp>
        <p:nvSpPr>
          <p:cNvPr id="12" name="Text 9"/>
          <p:cNvSpPr txBox="1"/>
          <p:nvPr/>
        </p:nvSpPr>
        <p:spPr>
          <a:xfrm>
            <a:off x="619676" y="4398948"/>
            <a:ext cx="4468091" cy="1572426"/>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Duty rate below HS peers (v2); duty shortfall (v2); value under exemption codes and watch-list codes (v2, PAR_053); preferential treatment claimed.</a:t>
            </a:r>
            <a:endParaRPr lang="en-US" sz="1450" dirty="0"/>
          </a:p>
        </p:txBody>
      </p:sp>
      <p:sp>
        <p:nvSpPr>
          <p:cNvPr id="13" name="Trading pattern"/>
          <p:cNvSpPr/>
          <p:nvPr/>
        </p:nvSpPr>
        <p:spPr>
          <a:xfrm>
            <a:off x="5493957" y="3789633"/>
            <a:ext cx="4793043" cy="2309501"/>
          </a:xfrm>
          <a:prstGeom prst="roundRect">
            <a:avLst>
              <a:gd name="adj" fmla="val 3167"/>
            </a:avLst>
          </a:prstGeom>
          <a:solidFill>
            <a:srgbClr val="F1F3F6"/>
          </a:solidFill>
          <a:ln w="12700">
            <a:solidFill>
              <a:srgbClr val="F1F3F6"/>
            </a:solidFill>
            <a:prstDash val="solid"/>
          </a:ln>
        </p:spPr>
      </p:sp>
      <p:sp>
        <p:nvSpPr>
          <p:cNvPr id="14" name="Text 11"/>
          <p:cNvSpPr txBox="1"/>
          <p:nvPr/>
        </p:nvSpPr>
        <p:spPr>
          <a:xfrm>
            <a:off x="5656433" y="3937047"/>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Trading pattern</a:t>
            </a:r>
            <a:endParaRPr lang="en-US" sz="1500" dirty="0"/>
          </a:p>
        </p:txBody>
      </p:sp>
      <p:sp>
        <p:nvSpPr>
          <p:cNvPr id="15" name="Text 12"/>
          <p:cNvSpPr txBox="1"/>
          <p:nvPr/>
        </p:nvSpPr>
        <p:spPr>
          <a:xfrm>
            <a:off x="5656433" y="4398948"/>
            <a:ext cx="4468091" cy="1572426"/>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Sudden rise in declarations; clearing away from the main station; many kinds of goods per declaration; same-day splitting above the norm (v2); recently started (v2).</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Which behaviour features carry signal against top-ups</a:t>
            </a:r>
            <a:endParaRPr lang="en-US" sz="2400" dirty="0"/>
          </a:p>
        </p:txBody>
      </p:sp>
      <p:graphicFrame>
        <p:nvGraphicFramePr>
          <p:cNvPr id="4" name="Chart 0" descr=""/>
          <p:cNvGraphicFramePr/>
          <p:nvPr/>
        </p:nvGraphicFramePr>
        <p:xfrm>
          <a:off x="457200" y="1185302"/>
          <a:ext cx="9829800" cy="5012108"/>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Track B results so far: better than chance on every date, and than Track A in 9 of 10 tests</a:t>
            </a:r>
            <a:endParaRPr lang="en-US" sz="2400" dirty="0"/>
          </a:p>
        </p:txBody>
      </p:sp>
      <p:graphicFrame>
        <p:nvGraphicFramePr>
          <p:cNvPr id="4" name="Chart 0" descr=""/>
          <p:cNvGraphicFramePr/>
          <p:nvPr/>
        </p:nvGraphicFramePr>
        <p:xfrm>
          <a:off x="457200" y="1234440"/>
          <a:ext cx="6011613" cy="4815555"/>
        </p:xfrm>
        <a:graphic xmlns:a="http://schemas.openxmlformats.org/drawingml/2006/main">
          <a:graphicData uri="http://schemas.openxmlformats.org/drawingml/2006/chart">
            <c:chart xmlns:c="http://schemas.openxmlformats.org/drawingml/2006/chart" r:id="rId1"/>
          </a:graphicData>
        </a:graphic>
      </p:graphicFrame>
      <p:sp>
        <p:nvSpPr>
          <p:cNvPr id="5" name="Range by date"/>
          <p:cNvSpPr/>
          <p:nvPr/>
        </p:nvSpPr>
        <p:spPr>
          <a:xfrm>
            <a:off x="6712527" y="1234440"/>
            <a:ext cx="3574473" cy="2260363"/>
          </a:xfrm>
          <a:prstGeom prst="roundRect">
            <a:avLst>
              <a:gd name="adj" fmla="val 3236"/>
            </a:avLst>
          </a:prstGeom>
          <a:solidFill>
            <a:srgbClr val="E6ECFF"/>
          </a:solidFill>
          <a:ln w="12700">
            <a:solidFill>
              <a:srgbClr val="E6ECFF"/>
            </a:solidFill>
            <a:prstDash val="solid"/>
          </a:ln>
        </p:spPr>
      </p:sp>
      <p:sp>
        <p:nvSpPr>
          <p:cNvPr id="6" name="Text 2"/>
          <p:cNvSpPr txBox="1"/>
          <p:nvPr/>
        </p:nvSpPr>
        <p:spPr>
          <a:xfrm>
            <a:off x="6875003" y="1381855"/>
            <a:ext cx="324952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Range by date</a:t>
            </a:r>
            <a:endParaRPr lang="en-US" sz="1500" dirty="0"/>
          </a:p>
        </p:txBody>
      </p:sp>
      <p:sp>
        <p:nvSpPr>
          <p:cNvPr id="7" name="Text 3"/>
          <p:cNvSpPr txBox="1"/>
          <p:nvPr/>
        </p:nvSpPr>
        <p:spPr>
          <a:xfrm>
            <a:off x="6875003" y="1843755"/>
            <a:ext cx="3249521" cy="1523288"/>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Regular: 0.56 to 0.62.</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Small: 0.54 to 0.62.</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Better than Track A on 4 of 5 dates (regular) and 5 of 5 (small).</a:t>
            </a:r>
            <a:endParaRPr lang="en-US" sz="1450" dirty="0"/>
          </a:p>
        </p:txBody>
      </p:sp>
      <p:sp>
        <p:nvSpPr>
          <p:cNvPr id="8" name="What top-ups cannot show"/>
          <p:cNvSpPr/>
          <p:nvPr/>
        </p:nvSpPr>
        <p:spPr>
          <a:xfrm>
            <a:off x="6712527" y="3740494"/>
            <a:ext cx="3574473" cy="2309501"/>
          </a:xfrm>
          <a:prstGeom prst="roundRect">
            <a:avLst>
              <a:gd name="adj" fmla="val 3167"/>
            </a:avLst>
          </a:prstGeom>
          <a:solidFill>
            <a:srgbClr val="FFF4C7"/>
          </a:solidFill>
          <a:ln w="12700">
            <a:solidFill>
              <a:srgbClr val="FFF4C7"/>
            </a:solidFill>
            <a:prstDash val="solid"/>
          </a:ln>
        </p:spPr>
      </p:sp>
      <p:sp>
        <p:nvSpPr>
          <p:cNvPr id="9" name="Text 5"/>
          <p:cNvSpPr txBox="1"/>
          <p:nvPr/>
        </p:nvSpPr>
        <p:spPr>
          <a:xfrm>
            <a:off x="6875003" y="3887909"/>
            <a:ext cx="324952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What top-ups cannot show</a:t>
            </a:r>
            <a:endParaRPr lang="en-US" sz="1500" dirty="0"/>
          </a:p>
        </p:txBody>
      </p:sp>
      <p:sp>
        <p:nvSpPr>
          <p:cNvPr id="10" name="Text 6"/>
          <p:cNvSpPr txBox="1"/>
          <p:nvPr/>
        </p:nvSpPr>
        <p:spPr>
          <a:xfrm>
            <a:off x="6875003" y="4349809"/>
            <a:ext cx="3249521" cy="1572426"/>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An undervaluation never caught never became a top-up. So these numbers measure only part of what Track B is for.</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An honest finding: the live flags lean on one feature</a:t>
            </a:r>
            <a:endParaRPr lang="en-US" sz="2400" dirty="0"/>
          </a:p>
        </p:txBody>
      </p:sp>
      <p:sp>
        <p:nvSpPr>
          <p:cNvPr id="4" name="Text 1"/>
          <p:cNvSpPr txBox="1"/>
          <p:nvPr/>
        </p:nvSpPr>
        <p:spPr>
          <a:xfrm>
            <a:off x="457200" y="1283578"/>
            <a:ext cx="2924569" cy="933628"/>
          </a:xfrm>
          <a:prstGeom prst="rect">
            <a:avLst/>
          </a:prstGeom>
          <a:noFill/>
          <a:ln/>
        </p:spPr>
        <p:txBody>
          <a:bodyPr wrap="square" lIns="0" tIns="0" rIns="0" bIns="0" rtlCol="0" anchor="b"/>
          <a:lstStyle/>
          <a:p>
            <a:pPr indent="0" marL="0">
              <a:buNone/>
            </a:pPr>
            <a:r>
              <a:rPr lang="en-US" sz="4200" b="1" dirty="0">
                <a:solidFill>
                  <a:srgbClr val="B5482B"/>
                </a:solidFill>
                <a:latin typeface="Calibri" pitchFamily="34" charset="0"/>
                <a:ea typeface="Calibri" pitchFamily="34" charset="-122"/>
                <a:cs typeface="Calibri" pitchFamily="34" charset="-120"/>
              </a:rPr>
              <a:t>506 / 510</a:t>
            </a:r>
            <a:endParaRPr lang="en-US" sz="4200" dirty="0"/>
          </a:p>
        </p:txBody>
      </p:sp>
      <p:sp>
        <p:nvSpPr>
          <p:cNvPr id="5" name="Text 2"/>
          <p:cNvSpPr txBox="1"/>
          <p:nvPr/>
        </p:nvSpPr>
        <p:spPr>
          <a:xfrm>
            <a:off x="457200" y="2266345"/>
            <a:ext cx="2924569"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flags with "many kinds of goods per declaration" as reason 1</a:t>
            </a:r>
            <a:endParaRPr lang="en-US" sz="1450" dirty="0"/>
          </a:p>
        </p:txBody>
      </p:sp>
      <p:sp>
        <p:nvSpPr>
          <p:cNvPr id="6" name="Text 3"/>
          <p:cNvSpPr txBox="1"/>
          <p:nvPr/>
        </p:nvSpPr>
        <p:spPr>
          <a:xfrm>
            <a:off x="3804206" y="1283578"/>
            <a:ext cx="2924569" cy="933628"/>
          </a:xfrm>
          <a:prstGeom prst="rect">
            <a:avLst/>
          </a:prstGeom>
          <a:noFill/>
          <a:ln/>
        </p:spPr>
        <p:txBody>
          <a:bodyPr wrap="square" lIns="0" tIns="0" rIns="0" bIns="0" rtlCol="0" anchor="b"/>
          <a:lstStyle/>
          <a:p>
            <a:pPr indent="0" marL="0">
              <a:buNone/>
            </a:pPr>
            <a:r>
              <a:rPr lang="en-US" sz="4200" b="1" dirty="0">
                <a:solidFill>
                  <a:srgbClr val="B5482B"/>
                </a:solidFill>
                <a:latin typeface="Calibri" pitchFamily="34" charset="0"/>
                <a:ea typeface="Calibri" pitchFamily="34" charset="-122"/>
                <a:cs typeface="Calibri" pitchFamily="34" charset="-120"/>
              </a:rPr>
              <a:t>1</a:t>
            </a:r>
            <a:endParaRPr lang="en-US" sz="4200" dirty="0"/>
          </a:p>
        </p:txBody>
      </p:sp>
      <p:sp>
        <p:nvSpPr>
          <p:cNvPr id="7" name="Text 4"/>
          <p:cNvSpPr txBox="1"/>
          <p:nvPr/>
        </p:nvSpPr>
        <p:spPr>
          <a:xfrm>
            <a:off x="3804206" y="2266345"/>
            <a:ext cx="2924569"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declaration: the median flagged taxpayer</a:t>
            </a:r>
            <a:endParaRPr lang="en-US" sz="1450" dirty="0"/>
          </a:p>
        </p:txBody>
      </p:sp>
      <p:sp>
        <p:nvSpPr>
          <p:cNvPr id="8" name="Text 5"/>
          <p:cNvSpPr txBox="1"/>
          <p:nvPr/>
        </p:nvSpPr>
        <p:spPr>
          <a:xfrm>
            <a:off x="7151213" y="1283578"/>
            <a:ext cx="2924569" cy="933628"/>
          </a:xfrm>
          <a:prstGeom prst="rect">
            <a:avLst/>
          </a:prstGeom>
          <a:noFill/>
          <a:ln/>
        </p:spPr>
        <p:txBody>
          <a:bodyPr wrap="square" lIns="0" tIns="0" rIns="0" bIns="0" rtlCol="0" anchor="b"/>
          <a:lstStyle/>
          <a:p>
            <a:pPr indent="0" marL="0">
              <a:buNone/>
            </a:pPr>
            <a:r>
              <a:rPr lang="en-US" sz="4200" b="1" dirty="0">
                <a:solidFill>
                  <a:srgbClr val="1F4FD8"/>
                </a:solidFill>
                <a:latin typeface="Calibri" pitchFamily="34" charset="0"/>
                <a:ea typeface="Calibri" pitchFamily="34" charset="-122"/>
                <a:cs typeface="Calibri" pitchFamily="34" charset="-120"/>
              </a:rPr>
              <a:t>306</a:t>
            </a:r>
            <a:endParaRPr lang="en-US" sz="4200" dirty="0"/>
          </a:p>
        </p:txBody>
      </p:sp>
      <p:sp>
        <p:nvSpPr>
          <p:cNvPr id="9" name="Text 6"/>
          <p:cNvSpPr txBox="1"/>
          <p:nvPr/>
        </p:nvSpPr>
        <p:spPr>
          <a:xfrm>
            <a:off x="7151213" y="2266345"/>
            <a:ext cx="2924569" cy="884490"/>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flags whose second reason is items priced below half the benchmark</a:t>
            </a:r>
            <a:endParaRPr lang="en-US" sz="1450" dirty="0"/>
          </a:p>
        </p:txBody>
      </p:sp>
      <p:sp>
        <p:nvSpPr>
          <p:cNvPr id="10" name="Fix before going live"/>
          <p:cNvSpPr/>
          <p:nvPr/>
        </p:nvSpPr>
        <p:spPr>
          <a:xfrm>
            <a:off x="457200" y="3838771"/>
            <a:ext cx="9829800" cy="2260363"/>
          </a:xfrm>
          <a:prstGeom prst="roundRect">
            <a:avLst>
              <a:gd name="adj" fmla="val 3236"/>
            </a:avLst>
          </a:prstGeom>
          <a:solidFill>
            <a:srgbClr val="FFF4C7"/>
          </a:solidFill>
          <a:ln w="12700">
            <a:solidFill>
              <a:srgbClr val="FFF4C7"/>
            </a:solidFill>
            <a:prstDash val="solid"/>
          </a:ln>
        </p:spPr>
      </p:sp>
      <p:sp>
        <p:nvSpPr>
          <p:cNvPr id="11" name="Text 8"/>
          <p:cNvSpPr txBox="1"/>
          <p:nvPr/>
        </p:nvSpPr>
        <p:spPr>
          <a:xfrm>
            <a:off x="619676" y="3986186"/>
            <a:ext cx="9504848"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Fix before going live</a:t>
            </a:r>
            <a:endParaRPr lang="en-US" sz="1500" dirty="0"/>
          </a:p>
        </p:txBody>
      </p:sp>
      <p:sp>
        <p:nvSpPr>
          <p:cNvPr id="12" name="Text 9"/>
          <p:cNvSpPr txBox="1"/>
          <p:nvPr/>
        </p:nvSpPr>
        <p:spPr>
          <a:xfrm>
            <a:off x="619676" y="4448086"/>
            <a:ext cx="9504848" cy="1523288"/>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1. Cap any one feature's share of the behaviour score so no single feature can flag alone.  2. Require two independent signals for a flag.  3. Re-pull older dates in the version 2 format so price history, duty and exemption features can be learned.  4. Let the blind review verdicts confirm which signals officers act on.</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Proving Track B: entry evidence and a blind review</a:t>
            </a:r>
            <a:endParaRPr lang="en-US" sz="2400" dirty="0"/>
          </a:p>
        </p:txBody>
      </p:sp>
      <p:sp>
        <p:nvSpPr>
          <p:cNvPr id="4" name="Entry evidence (Sep 2026 sample)"/>
          <p:cNvSpPr/>
          <p:nvPr/>
        </p:nvSpPr>
        <p:spPr>
          <a:xfrm>
            <a:off x="457200" y="1283578"/>
            <a:ext cx="4793043" cy="2456916"/>
          </a:xfrm>
          <a:prstGeom prst="roundRect">
            <a:avLst>
              <a:gd name="adj" fmla="val 2977"/>
            </a:avLst>
          </a:prstGeom>
          <a:solidFill>
            <a:srgbClr val="E6ECFF"/>
          </a:solidFill>
          <a:ln w="12700">
            <a:solidFill>
              <a:srgbClr val="E6ECFF"/>
            </a:solidFill>
            <a:prstDash val="solid"/>
          </a:ln>
        </p:spPr>
      </p:sp>
      <p:sp>
        <p:nvSpPr>
          <p:cNvPr id="5" name="Text 2"/>
          <p:cNvSpPr txBox="1"/>
          <p:nvPr/>
        </p:nvSpPr>
        <p:spPr>
          <a:xfrm>
            <a:off x="619676" y="1430993"/>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Entry evidence (Sep 2026 sample)</a:t>
            </a:r>
            <a:endParaRPr lang="en-US" sz="1500" dirty="0"/>
          </a:p>
        </p:txBody>
      </p:sp>
      <p:sp>
        <p:nvSpPr>
          <p:cNvPr id="6" name="Text 3"/>
          <p:cNvSpPr txBox="1"/>
          <p:nvPr/>
        </p:nvSpPr>
        <p:spPr>
          <a:xfrm>
            <a:off x="619676" y="1892893"/>
            <a:ext cx="4468091" cy="1719841"/>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471 entries for 98 taxpayers; median declared price 19% of peers per kg; median 111 importers in each comparison. 395 of the 471 under half of peers. "Check units" where under 5% of peers. Fuel left out.</a:t>
            </a:r>
            <a:endParaRPr lang="en-US" sz="1450" dirty="0"/>
          </a:p>
        </p:txBody>
      </p:sp>
      <p:sp>
        <p:nvSpPr>
          <p:cNvPr id="7" name="Blind review: 25 and 25"/>
          <p:cNvSpPr/>
          <p:nvPr/>
        </p:nvSpPr>
        <p:spPr>
          <a:xfrm>
            <a:off x="5493957" y="1283578"/>
            <a:ext cx="4793043" cy="2456916"/>
          </a:xfrm>
          <a:prstGeom prst="roundRect">
            <a:avLst>
              <a:gd name="adj" fmla="val 2977"/>
            </a:avLst>
          </a:prstGeom>
          <a:solidFill>
            <a:srgbClr val="E6ECFF"/>
          </a:solidFill>
          <a:ln w="12700">
            <a:solidFill>
              <a:srgbClr val="E6ECFF"/>
            </a:solidFill>
            <a:prstDash val="solid"/>
          </a:ln>
        </p:spPr>
      </p:sp>
      <p:sp>
        <p:nvSpPr>
          <p:cNvPr id="8" name="Text 5"/>
          <p:cNvSpPr txBox="1"/>
          <p:nvPr/>
        </p:nvSpPr>
        <p:spPr>
          <a:xfrm>
            <a:off x="5656433" y="1430993"/>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Blind review: 25 and 25</a:t>
            </a:r>
            <a:endParaRPr lang="en-US" sz="1500" dirty="0"/>
          </a:p>
        </p:txBody>
      </p:sp>
      <p:sp>
        <p:nvSpPr>
          <p:cNvPr id="9" name="Text 6"/>
          <p:cNvSpPr txBox="1"/>
          <p:nvPr/>
        </p:nvSpPr>
        <p:spPr>
          <a:xfrm>
            <a:off x="5656433" y="1892893"/>
            <a:ext cx="4468091" cy="1719841"/>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25 top flags (12 regular, 13 small) mixed with 25 random unflagged taxpayers from the same segments, no top-up history. Officers mark Act / Do not act / Not sure. Pack ready; key kept by Data Science.</a:t>
            </a:r>
            <a:endParaRPr lang="en-US" sz="1450" dirty="0"/>
          </a:p>
        </p:txBody>
      </p:sp>
      <p:sp>
        <p:nvSpPr>
          <p:cNvPr id="10" name="What counts as success"/>
          <p:cNvSpPr/>
          <p:nvPr/>
        </p:nvSpPr>
        <p:spPr>
          <a:xfrm>
            <a:off x="457200" y="3986186"/>
            <a:ext cx="9829800" cy="2162086"/>
          </a:xfrm>
          <a:prstGeom prst="roundRect">
            <a:avLst>
              <a:gd name="adj" fmla="val 3383"/>
            </a:avLst>
          </a:prstGeom>
          <a:solidFill>
            <a:srgbClr val="F1F3F6"/>
          </a:solidFill>
          <a:ln w="12700">
            <a:solidFill>
              <a:srgbClr val="F1F3F6"/>
            </a:solidFill>
            <a:prstDash val="solid"/>
          </a:ln>
        </p:spPr>
      </p:sp>
      <p:sp>
        <p:nvSpPr>
          <p:cNvPr id="11" name="Text 8"/>
          <p:cNvSpPr txBox="1"/>
          <p:nvPr/>
        </p:nvSpPr>
        <p:spPr>
          <a:xfrm>
            <a:off x="619676" y="4133601"/>
            <a:ext cx="9504848"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What counts as success</a:t>
            </a:r>
            <a:endParaRPr lang="en-US" sz="1500" dirty="0"/>
          </a:p>
        </p:txBody>
      </p:sp>
      <p:sp>
        <p:nvSpPr>
          <p:cNvPr id="12" name="Text 9"/>
          <p:cNvSpPr txBox="1"/>
          <p:nvPr/>
        </p:nvSpPr>
        <p:spPr>
          <a:xfrm>
            <a:off x="619676" y="4595501"/>
            <a:ext cx="9504848" cy="1425011"/>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Clearly more "Act" verdicts for the flagged group than for the comparison group. Blind because officers who know who was flagged look harder at those and find more, which would prove nothing. A low price is a reason to look, not proof: the customs value follows the valuation methods in order.</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p:nvPr>
            <p:ph idx="102" type="title" hasCustomPrompt="1"/>
          </p:nvPr>
        </p:nvSpPr>
        <p:spPr>
          <a:xfrm>
            <a:off x="731520" y="2468880"/>
            <a:ext cx="9144000" cy="1188720"/>
          </a:xfrm>
          <a:prstGeom prst="rect">
            <a:avLst/>
          </a:prstGeom>
          <a:noFill/>
          <a:ln/>
        </p:spPr>
        <p:txBody>
          <a:bodyPr wrap="square" rtlCol="0" anchor="ctr"/>
          <a:lstStyle/>
          <a:p>
            <a:pPr algn="l" indent="0" marL="0">
              <a:buNone/>
            </a:pPr>
            <a:r>
              <a:rPr lang="en-US" sz="3400" b="1" dirty="0">
                <a:solidFill>
                  <a:srgbClr val="FFFFFF"/>
                </a:solidFill>
                <a:latin typeface="Bookman Old Style" pitchFamily="34" charset="0"/>
                <a:ea typeface="Bookman Old Style" pitchFamily="34" charset="-122"/>
                <a:cs typeface="Bookman Old Style" pitchFamily="34" charset="-120"/>
              </a:rPr>
              <a:t>6  Decisions, limits and next steps</a:t>
            </a:r>
            <a:endParaRPr lang="en-US" sz="3400" dirty="0"/>
          </a:p>
        </p:txBody>
      </p:sp>
      <p:sp>
        <p:nvSpPr>
          <p:cNvPr id="3" name="Text 2"/>
          <p:cNvSpPr/>
          <p:nvPr>
            <p:ph idx="103" type="body" hasCustomPrompt="1"/>
          </p:nvPr>
        </p:nvSpPr>
        <p:spPr>
          <a:xfrm>
            <a:off x="731520" y="4069080"/>
            <a:ext cx="9144000" cy="914400"/>
          </a:xfrm>
          <a:prstGeom prst="rect">
            <a:avLst/>
          </a:prstGeom>
          <a:noFill/>
          <a:ln/>
        </p:spPr>
        <p:txBody>
          <a:bodyPr wrap="square" rtlCol="0" anchor="t"/>
          <a:lstStyle/>
          <a:p>
            <a:pPr indent="0" marL="0">
              <a:buNone/>
            </a:pPr>
            <a:r>
              <a:rPr lang="en-US" sz="1800" dirty="0">
                <a:solidFill>
                  <a:srgbClr val="102A83"/>
                </a:solidFill>
                <a:latin typeface="Calibri" pitchFamily="34" charset="0"/>
                <a:ea typeface="Calibri" pitchFamily="34" charset="-122"/>
                <a:cs typeface="Calibri" pitchFamily="34" charset="-120"/>
              </a:rPr>
              <a:t>How decisions were formed, what we cannot yet claim, and what we need</a:t>
            </a:r>
            <a:endParaRPr lang="en-US" sz="180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How decisions were formed: one standard of evidence, every decision logged</a:t>
            </a:r>
            <a:endParaRPr lang="en-US" sz="2400" dirty="0"/>
          </a:p>
        </p:txBody>
      </p:sp>
      <p:sp>
        <p:nvSpPr>
          <p:cNvPr id="4" name="evidence 0"/>
          <p:cNvSpPr/>
          <p:nvPr/>
        </p:nvSpPr>
        <p:spPr>
          <a:xfrm>
            <a:off x="457200" y="1332717"/>
            <a:ext cx="446809" cy="540521"/>
          </a:xfrm>
          <a:prstGeom prst="ellipse">
            <a:avLst/>
          </a:prstGeom>
          <a:solidFill>
            <a:srgbClr val="1F4FD8"/>
          </a:solidFill>
          <a:ln w="12700">
            <a:solidFill>
              <a:srgbClr val="1F4FD8"/>
            </a:solidFill>
            <a:prstDash val="solid"/>
          </a:ln>
        </p:spPr>
      </p:sp>
      <p:sp>
        <p:nvSpPr>
          <p:cNvPr id="5" name="Text 2"/>
          <p:cNvSpPr txBox="1"/>
          <p:nvPr/>
        </p:nvSpPr>
        <p:spPr>
          <a:xfrm>
            <a:off x="457200" y="1332717"/>
            <a:ext cx="446809" cy="540521"/>
          </a:xfrm>
          <a:prstGeom prst="rect">
            <a:avLst/>
          </a:prstGeom>
          <a:noFill/>
          <a:ln/>
        </p:spPr>
        <p:txBody>
          <a:bodyPr wrap="square" lIns="0" tIns="0" rIns="0" bIns="0" rtlCol="0" anchor="ctr"/>
          <a:lstStyle/>
          <a:p>
            <a:pPr algn="ctr" indent="0" marL="0">
              <a:buNone/>
            </a:pPr>
            <a:r>
              <a:rPr lang="en-US" sz="1450" b="1" dirty="0">
                <a:solidFill>
                  <a:srgbClr val="FFFFFF"/>
                </a:solidFill>
              </a:rPr>
              <a:t>1</a:t>
            </a:r>
            <a:endParaRPr lang="en-US" sz="1450" dirty="0"/>
          </a:p>
        </p:txBody>
      </p:sp>
      <p:sp>
        <p:nvSpPr>
          <p:cNvPr id="6" name="Text 3"/>
          <p:cNvSpPr txBox="1"/>
          <p:nvPr/>
        </p:nvSpPr>
        <p:spPr>
          <a:xfrm>
            <a:off x="1107104" y="1283578"/>
            <a:ext cx="2924569" cy="638798"/>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Out of time</a:t>
            </a:r>
            <a:endParaRPr lang="en-US" sz="1600" dirty="0"/>
          </a:p>
        </p:txBody>
      </p:sp>
      <p:sp>
        <p:nvSpPr>
          <p:cNvPr id="7" name="Text 4"/>
          <p:cNvSpPr txBox="1"/>
          <p:nvPr/>
        </p:nvSpPr>
        <p:spPr>
          <a:xfrm>
            <a:off x="4112911" y="1283578"/>
            <a:ext cx="6174089" cy="638798"/>
          </a:xfrm>
          <a:prstGeom prst="rect">
            <a:avLst/>
          </a:prstGeom>
          <a:noFill/>
          <a:ln/>
        </p:spPr>
        <p:txBody>
          <a:bodyPr wrap="square" lIns="0" tIns="0" rIns="0" bIns="0" rtlCol="0" anchor="ctr"/>
          <a:lstStyle/>
          <a:p>
            <a:pPr indent="0" marL="0">
              <a:buNone/>
            </a:pPr>
            <a:r>
              <a:rPr lang="en-US" sz="1450" dirty="0">
                <a:solidFill>
                  <a:srgbClr val="102A83"/>
                </a:solidFill>
              </a:rPr>
              <a:t>Train and set on the past, judge on the 6 months after</a:t>
            </a:r>
            <a:endParaRPr lang="en-US" sz="1450" dirty="0"/>
          </a:p>
        </p:txBody>
      </p:sp>
      <p:sp>
        <p:nvSpPr>
          <p:cNvPr id="8" name="evidence 1"/>
          <p:cNvSpPr/>
          <p:nvPr/>
        </p:nvSpPr>
        <p:spPr>
          <a:xfrm>
            <a:off x="457200" y="2266345"/>
            <a:ext cx="446809" cy="540521"/>
          </a:xfrm>
          <a:prstGeom prst="ellipse">
            <a:avLst/>
          </a:prstGeom>
          <a:solidFill>
            <a:srgbClr val="1F4FD8"/>
          </a:solidFill>
          <a:ln w="12700">
            <a:solidFill>
              <a:srgbClr val="1F4FD8"/>
            </a:solidFill>
            <a:prstDash val="solid"/>
          </a:ln>
        </p:spPr>
      </p:sp>
      <p:sp>
        <p:nvSpPr>
          <p:cNvPr id="9" name="Text 6"/>
          <p:cNvSpPr txBox="1"/>
          <p:nvPr/>
        </p:nvSpPr>
        <p:spPr>
          <a:xfrm>
            <a:off x="457200" y="2266345"/>
            <a:ext cx="446809" cy="540521"/>
          </a:xfrm>
          <a:prstGeom prst="rect">
            <a:avLst/>
          </a:prstGeom>
          <a:noFill/>
          <a:ln/>
        </p:spPr>
        <p:txBody>
          <a:bodyPr wrap="square" lIns="0" tIns="0" rIns="0" bIns="0" rtlCol="0" anchor="ctr"/>
          <a:lstStyle/>
          <a:p>
            <a:pPr algn="ctr" indent="0" marL="0">
              <a:buNone/>
            </a:pPr>
            <a:r>
              <a:rPr lang="en-US" sz="1450" b="1" dirty="0">
                <a:solidFill>
                  <a:srgbClr val="FFFFFF"/>
                </a:solidFill>
              </a:rPr>
              <a:t>2</a:t>
            </a:r>
            <a:endParaRPr lang="en-US" sz="1450" dirty="0"/>
          </a:p>
        </p:txBody>
      </p:sp>
      <p:sp>
        <p:nvSpPr>
          <p:cNvPr id="10" name="Text 7"/>
          <p:cNvSpPr txBox="1"/>
          <p:nvPr/>
        </p:nvSpPr>
        <p:spPr>
          <a:xfrm>
            <a:off x="1107104" y="2217206"/>
            <a:ext cx="2924569" cy="638798"/>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Against a baseline</a:t>
            </a:r>
            <a:endParaRPr lang="en-US" sz="1600" dirty="0"/>
          </a:p>
        </p:txBody>
      </p:sp>
      <p:sp>
        <p:nvSpPr>
          <p:cNvPr id="11" name="Text 8"/>
          <p:cNvSpPr txBox="1"/>
          <p:nvPr/>
        </p:nvSpPr>
        <p:spPr>
          <a:xfrm>
            <a:off x="4112911" y="2217206"/>
            <a:ext cx="6174089" cy="638798"/>
          </a:xfrm>
          <a:prstGeom prst="rect">
            <a:avLst/>
          </a:prstGeom>
          <a:noFill/>
          <a:ln/>
        </p:spPr>
        <p:txBody>
          <a:bodyPr wrap="square" lIns="0" tIns="0" rIns="0" bIns="0" rtlCol="0" anchor="ctr"/>
          <a:lstStyle/>
          <a:p>
            <a:pPr indent="0" marL="0">
              <a:buNone/>
            </a:pPr>
            <a:r>
              <a:rPr lang="en-US" sz="1450" dirty="0">
                <a:solidFill>
                  <a:srgbClr val="102A83"/>
                </a:solidFill>
              </a:rPr>
              <a:t>Must beat "rank by past top-ups alone"</a:t>
            </a:r>
            <a:endParaRPr lang="en-US" sz="1450" dirty="0"/>
          </a:p>
        </p:txBody>
      </p:sp>
      <p:sp>
        <p:nvSpPr>
          <p:cNvPr id="12" name="evidence 2"/>
          <p:cNvSpPr/>
          <p:nvPr/>
        </p:nvSpPr>
        <p:spPr>
          <a:xfrm>
            <a:off x="457200" y="3199973"/>
            <a:ext cx="446809" cy="540521"/>
          </a:xfrm>
          <a:prstGeom prst="ellipse">
            <a:avLst/>
          </a:prstGeom>
          <a:solidFill>
            <a:srgbClr val="1F4FD8"/>
          </a:solidFill>
          <a:ln w="12700">
            <a:solidFill>
              <a:srgbClr val="1F4FD8"/>
            </a:solidFill>
            <a:prstDash val="solid"/>
          </a:ln>
        </p:spPr>
      </p:sp>
      <p:sp>
        <p:nvSpPr>
          <p:cNvPr id="13" name="Text 10"/>
          <p:cNvSpPr txBox="1"/>
          <p:nvPr/>
        </p:nvSpPr>
        <p:spPr>
          <a:xfrm>
            <a:off x="457200" y="3199973"/>
            <a:ext cx="446809" cy="540521"/>
          </a:xfrm>
          <a:prstGeom prst="rect">
            <a:avLst/>
          </a:prstGeom>
          <a:noFill/>
          <a:ln/>
        </p:spPr>
        <p:txBody>
          <a:bodyPr wrap="square" lIns="0" tIns="0" rIns="0" bIns="0" rtlCol="0" anchor="ctr"/>
          <a:lstStyle/>
          <a:p>
            <a:pPr algn="ctr" indent="0" marL="0">
              <a:buNone/>
            </a:pPr>
            <a:r>
              <a:rPr lang="en-US" sz="1450" b="1" dirty="0">
                <a:solidFill>
                  <a:srgbClr val="FFFFFF"/>
                </a:solidFill>
              </a:rPr>
              <a:t>3</a:t>
            </a:r>
            <a:endParaRPr lang="en-US" sz="1450" dirty="0"/>
          </a:p>
        </p:txBody>
      </p:sp>
      <p:sp>
        <p:nvSpPr>
          <p:cNvPr id="14" name="Text 11"/>
          <p:cNvSpPr txBox="1"/>
          <p:nvPr/>
        </p:nvSpPr>
        <p:spPr>
          <a:xfrm>
            <a:off x="1107104" y="3150834"/>
            <a:ext cx="2924569" cy="638798"/>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Per check + money</a:t>
            </a:r>
            <a:endParaRPr lang="en-US" sz="1600" dirty="0"/>
          </a:p>
        </p:txBody>
      </p:sp>
      <p:sp>
        <p:nvSpPr>
          <p:cNvPr id="15" name="Text 12"/>
          <p:cNvSpPr txBox="1"/>
          <p:nvPr/>
        </p:nvSpPr>
        <p:spPr>
          <a:xfrm>
            <a:off x="4112911" y="3150834"/>
            <a:ext cx="6174089" cy="638798"/>
          </a:xfrm>
          <a:prstGeom prst="rect">
            <a:avLst/>
          </a:prstGeom>
          <a:noFill/>
          <a:ln/>
        </p:spPr>
        <p:txBody>
          <a:bodyPr wrap="square" lIns="0" tIns="0" rIns="0" bIns="0" rtlCol="0" anchor="ctr"/>
          <a:lstStyle/>
          <a:p>
            <a:pPr indent="0" marL="0">
              <a:buNone/>
            </a:pPr>
            <a:r>
              <a:rPr lang="en-US" sz="1450" dirty="0">
                <a:solidFill>
                  <a:srgbClr val="102A83"/>
                </a:solidFill>
              </a:rPr>
              <a:t>The officers' own measures: accuracy of checks and revenue</a:t>
            </a:r>
            <a:endParaRPr lang="en-US" sz="1450" dirty="0"/>
          </a:p>
        </p:txBody>
      </p:sp>
      <p:sp>
        <p:nvSpPr>
          <p:cNvPr id="16" name="evidence 3"/>
          <p:cNvSpPr/>
          <p:nvPr/>
        </p:nvSpPr>
        <p:spPr>
          <a:xfrm>
            <a:off x="457200" y="4133601"/>
            <a:ext cx="446809" cy="540521"/>
          </a:xfrm>
          <a:prstGeom prst="ellipse">
            <a:avLst/>
          </a:prstGeom>
          <a:solidFill>
            <a:srgbClr val="1F4FD8"/>
          </a:solidFill>
          <a:ln w="12700">
            <a:solidFill>
              <a:srgbClr val="1F4FD8"/>
            </a:solidFill>
            <a:prstDash val="solid"/>
          </a:ln>
        </p:spPr>
      </p:sp>
      <p:sp>
        <p:nvSpPr>
          <p:cNvPr id="17" name="Text 14"/>
          <p:cNvSpPr txBox="1"/>
          <p:nvPr/>
        </p:nvSpPr>
        <p:spPr>
          <a:xfrm>
            <a:off x="457200" y="4133601"/>
            <a:ext cx="446809" cy="540521"/>
          </a:xfrm>
          <a:prstGeom prst="rect">
            <a:avLst/>
          </a:prstGeom>
          <a:noFill/>
          <a:ln/>
        </p:spPr>
        <p:txBody>
          <a:bodyPr wrap="square" lIns="0" tIns="0" rIns="0" bIns="0" rtlCol="0" anchor="ctr"/>
          <a:lstStyle/>
          <a:p>
            <a:pPr algn="ctr" indent="0" marL="0">
              <a:buNone/>
            </a:pPr>
            <a:r>
              <a:rPr lang="en-US" sz="1450" b="1" dirty="0">
                <a:solidFill>
                  <a:srgbClr val="FFFFFF"/>
                </a:solidFill>
              </a:rPr>
              <a:t>4</a:t>
            </a:r>
            <a:endParaRPr lang="en-US" sz="1450" dirty="0"/>
          </a:p>
        </p:txBody>
      </p:sp>
      <p:sp>
        <p:nvSpPr>
          <p:cNvPr id="18" name="Text 15"/>
          <p:cNvSpPr txBox="1"/>
          <p:nvPr/>
        </p:nvSpPr>
        <p:spPr>
          <a:xfrm>
            <a:off x="1107104" y="4084462"/>
            <a:ext cx="2924569" cy="638798"/>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Alternatives tested</a:t>
            </a:r>
            <a:endParaRPr lang="en-US" sz="1600" dirty="0"/>
          </a:p>
        </p:txBody>
      </p:sp>
      <p:sp>
        <p:nvSpPr>
          <p:cNvPr id="19" name="Text 16"/>
          <p:cNvSpPr txBox="1"/>
          <p:nvPr/>
        </p:nvSpPr>
        <p:spPr>
          <a:xfrm>
            <a:off x="4112911" y="4084462"/>
            <a:ext cx="6174089" cy="638798"/>
          </a:xfrm>
          <a:prstGeom prst="rect">
            <a:avLst/>
          </a:prstGeom>
          <a:noFill/>
          <a:ln/>
        </p:spPr>
        <p:txBody>
          <a:bodyPr wrap="square" lIns="0" tIns="0" rIns="0" bIns="0" rtlCol="0" anchor="ctr"/>
          <a:lstStyle/>
          <a:p>
            <a:pPr indent="0" marL="0">
              <a:buNone/>
            </a:pPr>
            <a:r>
              <a:rPr lang="en-US" sz="1450" dirty="0">
                <a:solidFill>
                  <a:srgbClr val="102A83"/>
                </a:solidFill>
              </a:rPr>
              <a:t>HDBSCAN, pattern points, 7 challengers, 5 ensembles, 2-5 years</a:t>
            </a:r>
            <a:endParaRPr lang="en-US" sz="1450" dirty="0"/>
          </a:p>
        </p:txBody>
      </p:sp>
      <p:sp>
        <p:nvSpPr>
          <p:cNvPr id="20" name="evidence 4"/>
          <p:cNvSpPr/>
          <p:nvPr/>
        </p:nvSpPr>
        <p:spPr>
          <a:xfrm>
            <a:off x="457200" y="5067229"/>
            <a:ext cx="446809" cy="540521"/>
          </a:xfrm>
          <a:prstGeom prst="ellipse">
            <a:avLst/>
          </a:prstGeom>
          <a:solidFill>
            <a:srgbClr val="1F4FD8"/>
          </a:solidFill>
          <a:ln w="12700">
            <a:solidFill>
              <a:srgbClr val="1F4FD8"/>
            </a:solidFill>
            <a:prstDash val="solid"/>
          </a:ln>
        </p:spPr>
      </p:sp>
      <p:sp>
        <p:nvSpPr>
          <p:cNvPr id="21" name="Text 18"/>
          <p:cNvSpPr txBox="1"/>
          <p:nvPr/>
        </p:nvSpPr>
        <p:spPr>
          <a:xfrm>
            <a:off x="457200" y="5067229"/>
            <a:ext cx="446809" cy="540521"/>
          </a:xfrm>
          <a:prstGeom prst="rect">
            <a:avLst/>
          </a:prstGeom>
          <a:noFill/>
          <a:ln/>
        </p:spPr>
        <p:txBody>
          <a:bodyPr wrap="square" lIns="0" tIns="0" rIns="0" bIns="0" rtlCol="0" anchor="ctr"/>
          <a:lstStyle/>
          <a:p>
            <a:pPr algn="ctr" indent="0" marL="0">
              <a:buNone/>
            </a:pPr>
            <a:r>
              <a:rPr lang="en-US" sz="1450" b="1" dirty="0">
                <a:solidFill>
                  <a:srgbClr val="FFFFFF"/>
                </a:solidFill>
              </a:rPr>
              <a:t>5</a:t>
            </a:r>
            <a:endParaRPr lang="en-US" sz="1450" dirty="0"/>
          </a:p>
        </p:txBody>
      </p:sp>
      <p:sp>
        <p:nvSpPr>
          <p:cNvPr id="22" name="Text 19"/>
          <p:cNvSpPr txBox="1"/>
          <p:nvPr/>
        </p:nvSpPr>
        <p:spPr>
          <a:xfrm>
            <a:off x="1107104" y="5018090"/>
            <a:ext cx="2924569" cy="638798"/>
          </a:xfrm>
          <a:prstGeom prst="rect">
            <a:avLst/>
          </a:prstGeom>
          <a:noFill/>
          <a:ln/>
        </p:spPr>
        <p:txBody>
          <a:bodyPr wrap="square" lIns="0" tIns="0" rIns="0" bIns="0" rtlCol="0" anchor="ctr"/>
          <a:lstStyle/>
          <a:p>
            <a:pPr indent="0" marL="0">
              <a:buNone/>
            </a:pPr>
            <a:r>
              <a:rPr lang="en-US" sz="1600" b="1" dirty="0">
                <a:solidFill>
                  <a:srgbClr val="1B2430"/>
                </a:solidFill>
                <a:latin typeface="Calibri" pitchFamily="34" charset="0"/>
                <a:ea typeface="Calibri" pitchFamily="34" charset="-122"/>
                <a:cs typeface="Calibri" pitchFamily="34" charset="-120"/>
              </a:rPr>
              <a:t>Logged</a:t>
            </a:r>
            <a:endParaRPr lang="en-US" sz="1600" dirty="0"/>
          </a:p>
        </p:txBody>
      </p:sp>
      <p:sp>
        <p:nvSpPr>
          <p:cNvPr id="23" name="Text 20"/>
          <p:cNvSpPr txBox="1"/>
          <p:nvPr/>
        </p:nvSpPr>
        <p:spPr>
          <a:xfrm>
            <a:off x="4112911" y="5018090"/>
            <a:ext cx="6174089" cy="638798"/>
          </a:xfrm>
          <a:prstGeom prst="rect">
            <a:avLst/>
          </a:prstGeom>
          <a:noFill/>
          <a:ln/>
        </p:spPr>
        <p:txBody>
          <a:bodyPr wrap="square" lIns="0" tIns="0" rIns="0" bIns="0" rtlCol="0" anchor="ctr"/>
          <a:lstStyle/>
          <a:p>
            <a:pPr indent="0" marL="0">
              <a:buNone/>
            </a:pPr>
            <a:r>
              <a:rPr lang="en-US" sz="1450" dirty="0">
                <a:solidFill>
                  <a:srgbClr val="102A83"/>
                </a:solidFill>
              </a:rPr>
              <a:t>99 decisions with evidence; version and fingerprint on every output</a:t>
            </a:r>
            <a:endParaRPr lang="en-US" sz="1450" dirty="0"/>
          </a:p>
        </p:txBody>
      </p:sp>
      <p:sp>
        <p:nvSpPr>
          <p:cNvPr id="24" name="Text 21"/>
          <p:cNvSpPr txBox="1"/>
          <p:nvPr/>
        </p:nvSpPr>
        <p:spPr>
          <a:xfrm>
            <a:off x="457200" y="5951719"/>
            <a:ext cx="9829800" cy="491383"/>
          </a:xfrm>
          <a:prstGeom prst="rect">
            <a:avLst/>
          </a:prstGeom>
          <a:noFill/>
          <a:ln/>
        </p:spPr>
        <p:txBody>
          <a:bodyPr wrap="square" lIns="0" tIns="0" rIns="0" bIns="0" rtlCol="0" anchor="t"/>
          <a:lstStyle/>
          <a:p>
            <a:pPr indent="0" marL="0">
              <a:spcAft>
                <a:spcPts val="600"/>
              </a:spcAft>
              <a:buNone/>
            </a:pPr>
            <a:r>
              <a:rPr lang="en-US" sz="1150" dirty="0">
                <a:solidFill>
                  <a:srgbClr val="6B7785"/>
                </a:solidFill>
                <a:latin typeface="Calibri" pitchFamily="34" charset="0"/>
                <a:ea typeface="Calibri" pitchFamily="34" charset="-122"/>
                <a:cs typeface="Calibri" pitchFamily="34" charset="-120"/>
              </a:rPr>
              <a:t>Examples: HDBSCAN dropped (77% unclustered); pattern points dropped (lowered lift); PAR_045T maximum 40%; recency halving adopted (18 of 18 dates).</a:t>
            </a:r>
            <a:endParaRPr lang="en-US" sz="11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Model progress: from first query to nine years of evidence</a:t>
            </a:r>
            <a:endParaRPr lang="en-US" sz="24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9829800" cy="914400"/>
        </p:xfrm>
        <a:graphic>
          <a:graphicData uri="http://schemas.openxmlformats.org/drawingml/2006/table">
            <a:tbl>
              <a:tblPr/>
              <a:tblGrid>
                <a:gridCol w="2112188"/>
                <a:gridCol w="3818187"/>
                <a:gridCol w="3899425"/>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Stage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was done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Key outcome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 EDA and cleaning</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18 rules from the data</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Duplicates, top-up definition, regimes, cancelled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 Extracts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6 dates, checked automatically</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49,699 to 58,161 taxpayers per window</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 Feature exploration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Distributions, overlaps, small counts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Credibility weighting; PAR_048 over final tax</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 Scorecard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8 parameters, weights from evidence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Lift about 4.5 at the top 5%, beats the baseline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5-6 Peers and pattern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HDBSCAN vs section x size; Isolation Forest</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Section x size; pattern as a note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Round 1 challengers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7 models, 5 ensembles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Scorecard kept; boosting on scorecard next</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Round 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Two tracks, entry evidence, AUC per check, long run, recency</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Nine years validated; Track B 0.60 / 0.58; AEO check agrees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bl>
          </a:graphicData>
        </a:graphic>
      </p:graphicFrame>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What we can and cannot yet claim</a:t>
            </a:r>
            <a:endParaRPr lang="en-US" sz="2400" dirty="0"/>
          </a:p>
        </p:txBody>
      </p:sp>
      <p:sp>
        <p:nvSpPr>
          <p:cNvPr id="4" name="Outcomes only where customs looked"/>
          <p:cNvSpPr/>
          <p:nvPr/>
        </p:nvSpPr>
        <p:spPr>
          <a:xfrm>
            <a:off x="457200" y="1283578"/>
            <a:ext cx="4793043" cy="1474150"/>
          </a:xfrm>
          <a:prstGeom prst="roundRect">
            <a:avLst>
              <a:gd name="adj" fmla="val 4962"/>
            </a:avLst>
          </a:prstGeom>
          <a:solidFill>
            <a:srgbClr val="F1F3F6"/>
          </a:solidFill>
          <a:ln w="12700">
            <a:solidFill>
              <a:srgbClr val="F1F3F6"/>
            </a:solidFill>
            <a:prstDash val="solid"/>
          </a:ln>
        </p:spPr>
      </p:sp>
      <p:sp>
        <p:nvSpPr>
          <p:cNvPr id="5" name="Text 2"/>
          <p:cNvSpPr txBox="1"/>
          <p:nvPr/>
        </p:nvSpPr>
        <p:spPr>
          <a:xfrm>
            <a:off x="619676" y="1430993"/>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Outcomes only where customs looked</a:t>
            </a:r>
            <a:endParaRPr lang="en-US" sz="1500" dirty="0"/>
          </a:p>
        </p:txBody>
      </p:sp>
      <p:sp>
        <p:nvSpPr>
          <p:cNvPr id="6" name="Text 3"/>
          <p:cNvSpPr txBox="1"/>
          <p:nvPr/>
        </p:nvSpPr>
        <p:spPr>
          <a:xfrm>
            <a:off x="619676" y="1892893"/>
            <a:ext cx="4468091" cy="737075"/>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We only see results of checks selectivity chose. Plan: ask whether random checks exist; the blind review gives an outcome selectivity did not choose.</a:t>
            </a:r>
            <a:endParaRPr lang="en-US" sz="1450" dirty="0"/>
          </a:p>
        </p:txBody>
      </p:sp>
      <p:sp>
        <p:nvSpPr>
          <p:cNvPr id="7" name="Settings are provisional"/>
          <p:cNvSpPr/>
          <p:nvPr/>
        </p:nvSpPr>
        <p:spPr>
          <a:xfrm>
            <a:off x="5493957" y="1283578"/>
            <a:ext cx="4793043" cy="1474150"/>
          </a:xfrm>
          <a:prstGeom prst="roundRect">
            <a:avLst>
              <a:gd name="adj" fmla="val 4962"/>
            </a:avLst>
          </a:prstGeom>
          <a:solidFill>
            <a:srgbClr val="F1F3F6"/>
          </a:solidFill>
          <a:ln w="12700">
            <a:solidFill>
              <a:srgbClr val="F1F3F6"/>
            </a:solidFill>
            <a:prstDash val="solid"/>
          </a:ln>
        </p:spPr>
      </p:sp>
      <p:sp>
        <p:nvSpPr>
          <p:cNvPr id="8" name="Text 5"/>
          <p:cNvSpPr txBox="1"/>
          <p:nvPr/>
        </p:nvSpPr>
        <p:spPr>
          <a:xfrm>
            <a:off x="5656433" y="1430993"/>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Settings are provisional</a:t>
            </a:r>
            <a:endParaRPr lang="en-US" sz="1500" dirty="0"/>
          </a:p>
        </p:txBody>
      </p:sp>
      <p:sp>
        <p:nvSpPr>
          <p:cNvPr id="9" name="Text 6"/>
          <p:cNvSpPr txBox="1"/>
          <p:nvPr/>
        </p:nvSpPr>
        <p:spPr>
          <a:xfrm>
            <a:off x="5656433" y="1892893"/>
            <a:ext cx="4468091" cy="737075"/>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Weights and thresholds are Data Science working values until the Risk Officers confirm them in a ratings session.</a:t>
            </a:r>
            <a:endParaRPr lang="en-US" sz="1450" dirty="0"/>
          </a:p>
        </p:txBody>
      </p:sp>
      <p:sp>
        <p:nvSpPr>
          <p:cNvPr id="10" name="Track B not yet proven"/>
          <p:cNvSpPr/>
          <p:nvPr/>
        </p:nvSpPr>
        <p:spPr>
          <a:xfrm>
            <a:off x="457200" y="2954281"/>
            <a:ext cx="4793043" cy="1474150"/>
          </a:xfrm>
          <a:prstGeom prst="roundRect">
            <a:avLst>
              <a:gd name="adj" fmla="val 4962"/>
            </a:avLst>
          </a:prstGeom>
          <a:solidFill>
            <a:srgbClr val="F1F3F6"/>
          </a:solidFill>
          <a:ln w="12700">
            <a:solidFill>
              <a:srgbClr val="F1F3F6"/>
            </a:solidFill>
            <a:prstDash val="solid"/>
          </a:ln>
        </p:spPr>
      </p:sp>
      <p:sp>
        <p:nvSpPr>
          <p:cNvPr id="11" name="Text 8"/>
          <p:cNvSpPr txBox="1"/>
          <p:nvPr/>
        </p:nvSpPr>
        <p:spPr>
          <a:xfrm>
            <a:off x="619676" y="3101696"/>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Track B not yet proven</a:t>
            </a:r>
            <a:endParaRPr lang="en-US" sz="1500" dirty="0"/>
          </a:p>
        </p:txBody>
      </p:sp>
      <p:sp>
        <p:nvSpPr>
          <p:cNvPr id="12" name="Text 9"/>
          <p:cNvSpPr txBox="1"/>
          <p:nvPr/>
        </p:nvSpPr>
        <p:spPr>
          <a:xfrm>
            <a:off x="619676" y="3563596"/>
            <a:ext cx="4468091" cy="737075"/>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Modest signal against top-ups and dominated by one feature; the fix and the blind review come before it goes live.</a:t>
            </a:r>
            <a:endParaRPr lang="en-US" sz="1450" dirty="0"/>
          </a:p>
        </p:txBody>
      </p:sp>
      <p:sp>
        <p:nvSpPr>
          <p:cNvPr id="13" name="The March 2024 change is unexplained"/>
          <p:cNvSpPr/>
          <p:nvPr/>
        </p:nvSpPr>
        <p:spPr>
          <a:xfrm>
            <a:off x="5493957" y="2954281"/>
            <a:ext cx="4793043" cy="1474150"/>
          </a:xfrm>
          <a:prstGeom prst="roundRect">
            <a:avLst>
              <a:gd name="adj" fmla="val 4962"/>
            </a:avLst>
          </a:prstGeom>
          <a:solidFill>
            <a:srgbClr val="F1F3F6"/>
          </a:solidFill>
          <a:ln w="12700">
            <a:solidFill>
              <a:srgbClr val="F1F3F6"/>
            </a:solidFill>
            <a:prstDash val="solid"/>
          </a:ln>
        </p:spPr>
      </p:sp>
      <p:sp>
        <p:nvSpPr>
          <p:cNvPr id="14" name="Text 11"/>
          <p:cNvSpPr txBox="1"/>
          <p:nvPr/>
        </p:nvSpPr>
        <p:spPr>
          <a:xfrm>
            <a:off x="5656433" y="3101696"/>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The March 2024 change is unexplained</a:t>
            </a:r>
            <a:endParaRPr lang="en-US" sz="1500" dirty="0"/>
          </a:p>
        </p:txBody>
      </p:sp>
      <p:sp>
        <p:nvSpPr>
          <p:cNvPr id="15" name="Text 12"/>
          <p:cNvSpPr txBox="1"/>
          <p:nvPr/>
        </p:nvSpPr>
        <p:spPr>
          <a:xfrm>
            <a:off x="5656433" y="3563596"/>
            <a:ext cx="4468091" cy="737075"/>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Checks in general found less from then on; only the Risk Officers can say why.</a:t>
            </a:r>
            <a:endParaRPr lang="en-US" sz="1450" dirty="0"/>
          </a:p>
        </p:txBody>
      </p:sp>
      <p:sp>
        <p:nvSpPr>
          <p:cNvPr id="16" name="Long run scores on 6 of 8 parameters"/>
          <p:cNvSpPr/>
          <p:nvPr/>
        </p:nvSpPr>
        <p:spPr>
          <a:xfrm>
            <a:off x="457200" y="4624984"/>
            <a:ext cx="4793043" cy="1474150"/>
          </a:xfrm>
          <a:prstGeom prst="roundRect">
            <a:avLst>
              <a:gd name="adj" fmla="val 4962"/>
            </a:avLst>
          </a:prstGeom>
          <a:solidFill>
            <a:srgbClr val="F1F3F6"/>
          </a:solidFill>
          <a:ln w="12700">
            <a:solidFill>
              <a:srgbClr val="F1F3F6"/>
            </a:solidFill>
            <a:prstDash val="solid"/>
          </a:ln>
        </p:spPr>
      </p:sp>
      <p:sp>
        <p:nvSpPr>
          <p:cNvPr id="17" name="Text 14"/>
          <p:cNvSpPr txBox="1"/>
          <p:nvPr/>
        </p:nvSpPr>
        <p:spPr>
          <a:xfrm>
            <a:off x="619676" y="4772399"/>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Long run scores on 6 of 8 parameters</a:t>
            </a:r>
            <a:endParaRPr lang="en-US" sz="1500" dirty="0"/>
          </a:p>
        </p:txBody>
      </p:sp>
      <p:sp>
        <p:nvSpPr>
          <p:cNvPr id="18" name="Text 15"/>
          <p:cNvSpPr txBox="1"/>
          <p:nvPr/>
        </p:nvSpPr>
        <p:spPr>
          <a:xfrm>
            <a:off x="619676" y="5234299"/>
            <a:ext cx="4468091" cy="737075"/>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92% of the weight; on six full dates it keeps 95-97% of the same top 5%.</a:t>
            </a:r>
            <a:endParaRPr lang="en-US" sz="1450" dirty="0"/>
          </a:p>
        </p:txBody>
      </p:sp>
      <p:sp>
        <p:nvSpPr>
          <p:cNvPr id="19" name="Pulls are manual"/>
          <p:cNvSpPr/>
          <p:nvPr/>
        </p:nvSpPr>
        <p:spPr>
          <a:xfrm>
            <a:off x="5493957" y="4624984"/>
            <a:ext cx="4793043" cy="1474150"/>
          </a:xfrm>
          <a:prstGeom prst="roundRect">
            <a:avLst>
              <a:gd name="adj" fmla="val 4962"/>
            </a:avLst>
          </a:prstGeom>
          <a:solidFill>
            <a:srgbClr val="F1F3F6"/>
          </a:solidFill>
          <a:ln w="12700">
            <a:solidFill>
              <a:srgbClr val="F1F3F6"/>
            </a:solidFill>
            <a:prstDash val="solid"/>
          </a:ln>
        </p:spPr>
      </p:sp>
      <p:sp>
        <p:nvSpPr>
          <p:cNvPr id="20" name="Text 17"/>
          <p:cNvSpPr txBox="1"/>
          <p:nvPr/>
        </p:nvSpPr>
        <p:spPr>
          <a:xfrm>
            <a:off x="5656433" y="4772399"/>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Pulls are manual</a:t>
            </a:r>
            <a:endParaRPr lang="en-US" sz="1500" dirty="0"/>
          </a:p>
        </p:txBody>
      </p:sp>
      <p:sp>
        <p:nvSpPr>
          <p:cNvPr id="21" name="Text 18"/>
          <p:cNvSpPr txBox="1"/>
          <p:nvPr/>
        </p:nvSpPr>
        <p:spPr>
          <a:xfrm>
            <a:off x="5656433" y="5234299"/>
            <a:ext cx="4468091" cy="737075"/>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Hue limits mean split queries; Zeppelin access would automate every pull.</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Next steps, and what we need</a:t>
            </a:r>
            <a:endParaRPr lang="en-US" sz="2400" dirty="0"/>
          </a:p>
        </p:txBody>
      </p:sp>
      <p:sp>
        <p:nvSpPr>
          <p:cNvPr id="4" name="Data Science will"/>
          <p:cNvSpPr/>
          <p:nvPr/>
        </p:nvSpPr>
        <p:spPr>
          <a:xfrm>
            <a:off x="457200" y="1283578"/>
            <a:ext cx="4793043" cy="4864693"/>
          </a:xfrm>
          <a:prstGeom prst="roundRect">
            <a:avLst>
              <a:gd name="adj" fmla="val 1526"/>
            </a:avLst>
          </a:prstGeom>
          <a:solidFill>
            <a:srgbClr val="E6ECFF"/>
          </a:solidFill>
          <a:ln w="12700">
            <a:solidFill>
              <a:srgbClr val="E6ECFF"/>
            </a:solidFill>
            <a:prstDash val="solid"/>
          </a:ln>
        </p:spPr>
      </p:sp>
      <p:sp>
        <p:nvSpPr>
          <p:cNvPr id="5" name="Text 2"/>
          <p:cNvSpPr txBox="1"/>
          <p:nvPr/>
        </p:nvSpPr>
        <p:spPr>
          <a:xfrm>
            <a:off x="619676" y="1430993"/>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Data Science will</a:t>
            </a:r>
            <a:endParaRPr lang="en-US" sz="1500" dirty="0"/>
          </a:p>
        </p:txBody>
      </p:sp>
      <p:sp>
        <p:nvSpPr>
          <p:cNvPr id="6" name="Text 3"/>
          <p:cNvSpPr txBox="1"/>
          <p:nvPr/>
        </p:nvSpPr>
        <p:spPr>
          <a:xfrm>
            <a:off x="619676" y="1892893"/>
            <a:ext cx="4468091" cy="4127619"/>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1. Fix Track B's single-feature dominance; retest on 5+ dates.</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2. Finish older full extracts (Sep 2019 to 2021) for Track B.</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3. Score the blind review verdicts.</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4. Shadow-run boosting on top of the scorecard.</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5. Peer review of the results run (Herbert reruns and checks outcomes).</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6. Scope and Design Architecture document from the guides.</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7. Presentation to CITI.</a:t>
            </a:r>
            <a:endParaRPr lang="en-US" sz="1450" dirty="0"/>
          </a:p>
        </p:txBody>
      </p:sp>
      <p:sp>
        <p:nvSpPr>
          <p:cNvPr id="7" name="We need"/>
          <p:cNvSpPr/>
          <p:nvPr/>
        </p:nvSpPr>
        <p:spPr>
          <a:xfrm>
            <a:off x="5493957" y="1283578"/>
            <a:ext cx="4793043" cy="4864693"/>
          </a:xfrm>
          <a:prstGeom prst="roundRect">
            <a:avLst>
              <a:gd name="adj" fmla="val 1526"/>
            </a:avLst>
          </a:prstGeom>
          <a:solidFill>
            <a:srgbClr val="FFF4C7"/>
          </a:solidFill>
          <a:ln w="12700">
            <a:solidFill>
              <a:srgbClr val="FFF4C7"/>
            </a:solidFill>
            <a:prstDash val="solid"/>
          </a:ln>
        </p:spPr>
      </p:sp>
      <p:sp>
        <p:nvSpPr>
          <p:cNvPr id="8" name="Text 5"/>
          <p:cNvSpPr txBox="1"/>
          <p:nvPr/>
        </p:nvSpPr>
        <p:spPr>
          <a:xfrm>
            <a:off x="5656433" y="1430993"/>
            <a:ext cx="4468091" cy="442245"/>
          </a:xfrm>
          <a:prstGeom prst="rect">
            <a:avLst/>
          </a:prstGeom>
          <a:noFill/>
          <a:ln/>
        </p:spPr>
        <p:txBody>
          <a:bodyPr wrap="square" lIns="0" tIns="0" rIns="0" bIns="0" rtlCol="0" anchor="t"/>
          <a:lstStyle/>
          <a:p>
            <a:pPr indent="0" marL="0">
              <a:buNone/>
            </a:pPr>
            <a:r>
              <a:rPr lang="en-US" sz="1500" b="1" dirty="0">
                <a:solidFill>
                  <a:srgbClr val="102A83"/>
                </a:solidFill>
                <a:latin typeface="Calibri" pitchFamily="34" charset="0"/>
                <a:ea typeface="Calibri" pitchFamily="34" charset="-122"/>
                <a:cs typeface="Calibri" pitchFamily="34" charset="-120"/>
              </a:rPr>
              <a:t>We need</a:t>
            </a:r>
            <a:endParaRPr lang="en-US" sz="1500" dirty="0"/>
          </a:p>
        </p:txBody>
      </p:sp>
      <p:sp>
        <p:nvSpPr>
          <p:cNvPr id="9" name="Text 6"/>
          <p:cNvSpPr txBox="1"/>
          <p:nvPr/>
        </p:nvSpPr>
        <p:spPr>
          <a:xfrm>
            <a:off x="5656433" y="1892893"/>
            <a:ext cx="4468091" cy="4127619"/>
          </a:xfrm>
          <a:prstGeom prst="rect">
            <a:avLst/>
          </a:prstGeom>
          <a:noFill/>
          <a:ln/>
        </p:spPr>
        <p:txBody>
          <a:bodyPr wrap="square" lIns="0" tIns="0" rIns="0" bIns="0" rtlCol="0" anchor="t"/>
          <a:lstStyle/>
          <a:p>
            <a:pPr indent="0" marL="0">
              <a:buNone/>
            </a:pPr>
            <a:r>
              <a:rPr lang="en-US" sz="1450" dirty="0">
                <a:solidFill>
                  <a:srgbClr val="102A83"/>
                </a:solidFill>
                <a:latin typeface="Calibri" pitchFamily="34" charset="0"/>
                <a:ea typeface="Calibri" pitchFamily="34" charset="-122"/>
                <a:cs typeface="Calibri" pitchFamily="34" charset="-120"/>
              </a:rPr>
              <a:t>1. A Risk Officers session: confirm weights and thresholds, capacity, what changed in March 2024, random checks, S-series entries.</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2. Officers' time for the blind review (50 codes).</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3. Zeppelin permissions from Data Engineering.</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4. A view of the AEO members to raise (8).</a:t>
            </a:r>
            <a:endParaRPr lang="en-US" sz="1450" dirty="0"/>
          </a:p>
          <a:p>
            <a:pPr indent="0" marL="0">
              <a:buNone/>
            </a:pPr>
            <a:r>
              <a:rPr lang="en-US" sz="1450" dirty="0">
                <a:solidFill>
                  <a:srgbClr val="102A83"/>
                </a:solidFill>
                <a:latin typeface="Calibri" pitchFamily="34" charset="0"/>
                <a:ea typeface="Calibri" pitchFamily="34" charset="-122"/>
                <a:cs typeface="Calibri" pitchFamily="34" charset="-120"/>
              </a:rPr>
              <a:t>5. Your steer on the order of the above.</a:t>
            </a:r>
            <a:endParaRPr lang="en-US" sz="145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Live demo: what we will run</a:t>
            </a:r>
            <a:endParaRPr lang="en-US" sz="24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9829800" cy="914400"/>
        </p:xfrm>
        <a:graphic>
          <a:graphicData uri="http://schemas.openxmlformats.org/drawingml/2006/table">
            <a:tbl>
              <a:tblPr/>
              <a:tblGrid>
                <a:gridCol w="649904"/>
                <a:gridCol w="5524185"/>
                <a:gridCol w="3655711"/>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Step</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Command or action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to point at</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python main.py score data/live_2026-09-30.csv --evidence data/evidence/review_2026-09-30_v2.csv</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Band counts printed; model version 1.0.0-dev5 and fingerprint</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Open results/CTRP_scores_2026-09-30.xlsx: Read me, Scores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Reasons in plain words; Overall Risk Band and set by</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Risk behaviour flags and Entry evidence sheets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Reasons and an entry priced below peers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Open results/CTRP_performance_since_2017.xlsx</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Measures sheet: AUC per check by date; Recency sheets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Open results/CTRP_aeo_check_2026-09-30.xlsx</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Bands sheet: AEO members against everyone else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Open docs/DECISIONS.md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Any decision with its evidence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p:nvPr>
            <p:ph idx="102" type="title" hasCustomPrompt="1"/>
          </p:nvPr>
        </p:nvSpPr>
        <p:spPr>
          <a:xfrm>
            <a:off x="731520" y="2468880"/>
            <a:ext cx="9144000" cy="1188720"/>
          </a:xfrm>
          <a:prstGeom prst="rect">
            <a:avLst/>
          </a:prstGeom>
          <a:noFill/>
          <a:ln/>
        </p:spPr>
        <p:txBody>
          <a:bodyPr wrap="square" rtlCol="0" anchor="ctr"/>
          <a:lstStyle/>
          <a:p>
            <a:pPr algn="l" indent="0" marL="0">
              <a:buNone/>
            </a:pPr>
            <a:r>
              <a:rPr lang="en-US" sz="3400" b="1" dirty="0">
                <a:solidFill>
                  <a:srgbClr val="FFFFFF"/>
                </a:solidFill>
                <a:latin typeface="Bookman Old Style" pitchFamily="34" charset="0"/>
                <a:ea typeface="Bookman Old Style" pitchFamily="34" charset="-122"/>
                <a:cs typeface="Bookman Old Style" pitchFamily="34" charset="-120"/>
              </a:rPr>
              <a:t>Backup slides</a:t>
            </a:r>
            <a:endParaRPr lang="en-US" sz="3400" dirty="0"/>
          </a:p>
        </p:txBody>
      </p:sp>
      <p:sp>
        <p:nvSpPr>
          <p:cNvPr id="3" name="Text 2"/>
          <p:cNvSpPr/>
          <p:nvPr>
            <p:ph idx="103" type="body" hasCustomPrompt="1"/>
          </p:nvPr>
        </p:nvSpPr>
        <p:spPr>
          <a:xfrm>
            <a:off x="731520" y="4069080"/>
            <a:ext cx="9144000" cy="914400"/>
          </a:xfrm>
          <a:prstGeom prst="rect">
            <a:avLst/>
          </a:prstGeom>
          <a:noFill/>
          <a:ln/>
        </p:spPr>
        <p:txBody>
          <a:bodyPr wrap="square" rtlCol="0" anchor="t"/>
          <a:lstStyle/>
          <a:p>
            <a:pPr indent="0" marL="0">
              <a:buNone/>
            </a:pPr>
            <a:r>
              <a:rPr lang="en-US" sz="1800" dirty="0">
                <a:solidFill>
                  <a:srgbClr val="102A83"/>
                </a:solidFill>
                <a:latin typeface="Calibri" pitchFamily="34" charset="0"/>
                <a:ea typeface="Calibri" pitchFamily="34" charset="-122"/>
                <a:cs typeface="Calibri" pitchFamily="34" charset="-120"/>
              </a:rPr>
              <a:t>Detail for questions</a:t>
            </a:r>
            <a:endParaRPr lang="en-US" sz="1800" dirty="0"/>
          </a:p>
        </p:txBody>
      </p:sp>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Backup: the agreed parameters with no data in the view</a:t>
            </a:r>
            <a:endParaRPr lang="en-US" sz="24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9829800" cy="914400"/>
        </p:xfrm>
        <a:graphic>
          <a:graphicData uri="http://schemas.openxmlformats.org/drawingml/2006/table">
            <a:tbl>
              <a:tblPr/>
              <a:tblGrid>
                <a:gridCol w="5117995"/>
                <a:gridCol w="4711805"/>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Parameter</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Needs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PAR_012 Original vs final declaration; PAR_016 Misclassification; PAR_054 Procedure codes amended; PAR_096 HS changes that lowered duty</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Earlier versions of each declaration (the view holds the final state only)</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PAR_015 Undervaluation risk</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Box 45 adjustment rate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PAR_039, PAR_040 Penalties (number, value)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Penalty and seizure records; box 46 statistical value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PAR_051 Preferential declarations amended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Declaration versions (preferential use shown as information)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PAR_075 Customs vs statistical value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Box 46 statistical value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PAR_078, PAR_173 Agent parameters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Agent TIN: belongs to the Agent model</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Backup: challenger and ensemble comparison (round 1 and 2)</a:t>
            </a:r>
            <a:endParaRPr lang="en-US" sz="24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9829800" cy="914400"/>
        </p:xfrm>
        <a:graphic>
          <a:graphicData uri="http://schemas.openxmlformats.org/drawingml/2006/table">
            <a:tbl>
              <a:tblPr/>
              <a:tblGrid>
                <a:gridCol w="3574473"/>
                <a:gridCol w="1462284"/>
                <a:gridCol w="1462284"/>
                <a:gridCol w="1624760"/>
                <a:gridCol w="1705998"/>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Model</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Lift top 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Hits top 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Revenue top 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vs scorecard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Baseline (past top-up ratio)</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2.58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807</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 better / 2 worse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Scorecard (champion)</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4.37</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5,522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b="1" dirty="0">
                          <a:solidFill>
                            <a:srgbClr val="1B2430"/>
                          </a:solidFill>
                          <a:latin typeface="Calibri" pitchFamily="34" charset="0"/>
                          <a:ea typeface="Calibri" pitchFamily="34" charset="-122"/>
                          <a:cs typeface="Calibri" pitchFamily="34" charset="-120"/>
                        </a:rPr>
                        <a:t>45%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Learned weights (logistic)</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5.00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5,070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 better / 0 worse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Monotone boosting (8 inputs)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4.75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5,809</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43%</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 better / 1 worse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Boosting on top of the scorecard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4.80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5,882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n/a</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 better / 0 worse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Weighted blend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4.87</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5,362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n/a</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Peer percentile (one-sided)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3.48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4,228</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 better / 4 worse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bl>
          </a:graphicData>
        </a:graphic>
      </p:graphicFrame>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1965960" y="274320"/>
            <a:ext cx="8321040" cy="868680"/>
          </a:xfrm>
          <a:prstGeom prst="rect">
            <a:avLst/>
          </a:prstGeom>
          <a:noFill/>
          <a:ln/>
        </p:spPr>
        <p:txBody>
          <a:bodyPr wrap="square" rtlCol="0" anchor="ctr"/>
          <a:lstStyle/>
          <a:p>
            <a:pPr algn="l" indent="0" marL="0">
              <a:buNone/>
            </a:pPr>
            <a:r>
              <a:rPr lang="en-US" sz="2400" b="1" dirty="0">
                <a:solidFill>
                  <a:srgbClr val="102A83"/>
                </a:solidFill>
                <a:latin typeface="Calibri" pitchFamily="34" charset="0"/>
                <a:ea typeface="Calibri" pitchFamily="34" charset="-122"/>
                <a:cs typeface="Calibri" pitchFamily="34" charset="-120"/>
              </a:rPr>
              <a:t>Backup: settings in force (model 1.0.0-dev5)</a:t>
            </a:r>
            <a:endParaRPr lang="en-US" sz="24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9829800" cy="914400"/>
        </p:xfrm>
        <a:graphic>
          <a:graphicData uri="http://schemas.openxmlformats.org/drawingml/2006/table">
            <a:tbl>
              <a:tblPr/>
              <a:tblGrid>
                <a:gridCol w="2599617"/>
                <a:gridCol w="2437140"/>
                <a:gridCol w="4793043"/>
              </a:tblGrid>
              <a:tr h="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Setting</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Value</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Meaning</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102A83"/>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PARAMS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8 parameters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Code, feature, minimum risk level, maximum, L, I, reason wording</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RECENCY_WEIGHTS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1, 0.5, 0.25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How much each of the last 3 years counts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SHRINK_K</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Credibility weighting n / (n + 10), downwards only</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ADEQUATE_ENTRIES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Below this: limited history note, no peer group</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BANDS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15 / 35 / 50 / 80 / 100</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Upper score of each band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PATTERN_NOTE_PCT</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0.95</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Pattern note above the 95th percentile of the peer group</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Track B flag shares</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5% regular, 1% small</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Of taxpayers with no top-up history</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6F7F9"/>
                    </a:solidFill>
                  </a:tcPr>
                </a:tc>
              </a:tr>
              <a:tr h="0">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SEED</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42</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c>
                  <a:txBody>
                    <a:bodyPr/>
                    <a:lstStyle/>
                    <a:p>
                      <a:pPr indent="0" marL="0">
                        <a:buNone/>
                      </a:pPr>
                      <a:r>
                        <a:rPr lang="en-US" sz="1350" dirty="0">
                          <a:solidFill>
                            <a:srgbClr val="1B2430"/>
                          </a:solidFill>
                          <a:latin typeface="Calibri" pitchFamily="34" charset="0"/>
                          <a:ea typeface="Calibri" pitchFamily="34" charset="-122"/>
                          <a:cs typeface="Calibri" pitchFamily="34" charset="-120"/>
                        </a:rPr>
                        <a:t>Same input, same output</a:t>
                      </a:r>
                      <a:endParaRPr lang="en-US" sz="1350" dirty="0">
                        <a:latin typeface="Calibri" charset="0"/>
                        <a:ea typeface="Calibri" charset="0"/>
                        <a:cs typeface="Calibri" charset="0"/>
                      </a:endParaRPr>
                    </a:p>
                  </a:txBody>
                  <a:tcPr marL="76200" marR="76200" marT="50800" marB="50800" anchor="ctr">
                    <a:lnL w="6350" cap="flat" cmpd="sng" algn="ctr">
                      <a:solidFill>
                        <a:srgbClr val="DDE1E6"/>
                      </a:solidFill>
                      <a:prstDash val="solid"/>
                      <a:round/>
                      <a:headEnd type="none" w="med" len="med"/>
                      <a:tailEnd type="none" w="med" len="med"/>
                    </a:lnL>
                    <a:lnR w="6350" cap="flat" cmpd="sng" algn="ctr">
                      <a:solidFill>
                        <a:srgbClr val="DDE1E6"/>
                      </a:solidFill>
                      <a:prstDash val="solid"/>
                      <a:round/>
                      <a:headEnd type="none" w="med" len="med"/>
                      <a:tailEnd type="none" w="med" len="med"/>
                    </a:lnR>
                    <a:lnT w="6350" cap="flat" cmpd="sng" algn="ctr">
                      <a:solidFill>
                        <a:srgbClr val="DDE1E6"/>
                      </a:solidFill>
                      <a:prstDash val="solid"/>
                      <a:round/>
                      <a:headEnd type="none" w="med" len="med"/>
                      <a:tailEnd type="none" w="med" len="med"/>
                    </a:lnT>
                    <a:lnB w="6350" cap="flat" cmpd="sng" algn="ctr">
                      <a:solidFill>
                        <a:srgbClr val="DDE1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620256"/>
            <a:ext cx="548640" cy="219456"/>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defRPr>
            </a:lvl1pPr>
          </a:lstStyle>
          <a:p>
            <a:pPr algn="r"/>
            <a:fld id="{F7021451-1387-4CA6-816F-3879F97B5CBC}" type="slidenum">
              <a:rPr b="0" lang="en-US"/>
              <a:t>45</a:t>
            </a:fld>
            <a:endParaRPr lang="en-US"/>
          </a:p>
        </p:txBody>
      </p:sp>
    </p:spTree>
  </p:cSld>
  <p:clrMapOvr>
    <a:masterClrMapping/>
  </p:clrMapOvr>
</p:sld>
</file>

<file path=ppt/theme/theme1.xml><?xml version="1.0" encoding="utf-8"?>
<a:theme xmlns:a="http://schemas.openxmlformats.org/drawingml/2006/main" name="URA CTRP">
  <a:themeElements>
    <a:clrScheme name="URA CTRP">
      <a:dk1>
        <a:srgbClr val="1B2430"/>
      </a:dk1>
      <a:lt1>
        <a:srgbClr val="FFFFFF"/>
      </a:lt1>
      <a:dk2>
        <a:srgbClr val="102A83"/>
      </a:dk2>
      <a:lt2>
        <a:srgbClr val="F1F3F6"/>
      </a:lt2>
      <a:accent1>
        <a:srgbClr val="0D3FFE"/>
      </a:accent1>
      <a:accent2>
        <a:srgbClr val="102A83"/>
      </a:accent2>
      <a:accent3>
        <a:srgbClr val="B5482B"/>
      </a:accent3>
      <a:accent4>
        <a:srgbClr val="6B7785"/>
      </a:accent4>
      <a:accent5>
        <a:srgbClr val="4E8A3E"/>
      </a:accent5>
      <a:accent6>
        <a:srgbClr val="C99A1A"/>
      </a:accent6>
      <a:hlink>
        <a:srgbClr val="0D3FFE"/>
      </a:hlink>
      <a:folHlink>
        <a:srgbClr val="102A83"/>
      </a:folHlink>
    </a:clrScheme>
    <a:fontScheme name="URA CTR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Uganda Revenue Authority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CTRP progress review</dc:title>
  <dc:subject>PptxGenJS Presentation</dc:subject>
  <dc:creator>Ethan Mugire, Data Science</dc:creator>
  <cp:lastModifiedBy>Ethan Mugire, Data Science</cp:lastModifiedBy>
  <cp:revision>1</cp:revision>
  <dcterms:created xsi:type="dcterms:W3CDTF">2026-10-15T06:57:32Z</dcterms:created>
  <dcterms:modified xsi:type="dcterms:W3CDTF">2026-10-15T06:57:32Z</dcterms:modified>
</cp:coreProperties>
</file>