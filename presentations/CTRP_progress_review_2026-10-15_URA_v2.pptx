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4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5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charts/chart6.xml" ContentType="application/vnd.openxmlformats-officedocument.drawingml.chart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88a8a5a-76bb-de08-779c-63057c770766}">
          <p14:sldIdLst>
            <p14:sldId id="256"/>
            <p14:sldId id="257"/>
            <p14:sldId id="258"/>
          </p14:sldIdLst>
        </p14:section>
        <p14:section name="1 Purpose" id="{831d389e-929b-229a-6e48-263b9c6c5aa3}">
          <p14:sldIdLst>
            <p14:sldId id="259"/>
            <p14:sldId id="260"/>
            <p14:sldId id="261"/>
          </p14:sldIdLst>
        </p14:section>
        <p14:section name="2 Data and EDA" id="{b52c2f69-5c72-7410-d39b-2cc16ce0063f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3 From columns to features" id="{133b3c6b-5ce8-0736-9330-b7ba2e400dae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4 The scorecard and the bands" id="{379bb605-b0ea-04ce-4019-7303331b3849}">
          <p14:sldIdLst>
            <p14:sldId id="280"/>
            <p14:sldId id="281"/>
            <p14:sldId id="282"/>
            <p14:sldId id="283"/>
            <p14:sldId id="284"/>
          </p14:sldIdLst>
        </p14:section>
        <p14:section name="5 Does it work?" id="{84f5c943-d6c3-48ef-4e93-4b0eb88687d0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6 Track B" id="{2314ef52-5884-257d-623e-0141664ef68c}">
          <p14:sldIdLst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7 Decisions and next steps" id="{001c990b-95a1-16b9-987c-b9c1c13a4dbb}">
          <p14:sldIdLst>
            <p14:sldId id="301"/>
            <p14:sldId id="302"/>
            <p14:sldId id="303"/>
            <p14:sldId id="304"/>
            <p14:sldId id="305"/>
          </p14:sldIdLst>
        </p14:section>
        <p14:section name="8 Live demo" id="{cc24d5b3-96e9-15ba-33e0-f498572612f0}">
          <p14:sldIdLst>
            <p14:sldId id="306"/>
          </p14:sldIdLst>
        </p14:section>
        <p14:section name="Backup" id="{8b52e220-49aa-c287-2eb4-409e53b4d7e6}">
          <p14:sldIdLst>
            <p14:sldId id="307"/>
            <p14:sldId id="308"/>
            <p14:sldId id="309"/>
            <p14:sldId id="3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Parameters</c:v>
                </c:pt>
              </c:strCache>
            </c:strRef>
          </c:tx>
          <c:spPr>
            <a:solidFill>
              <a:srgbClr val="0D3F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Scored</c:v>
                  </c:pt>
                  <c:pt idx="1">
                    <c:v>Built, waiting for data pulls</c:v>
                  </c:pt>
                  <c:pt idx="2">
                    <c:v>Need data not in the view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2</c:v>
                </c:pt>
                <c:pt idx="2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430"/>
                </a:solidFill>
                <a:latin typeface="+mn-lt"/>
              </a:rPr>
              <a:t>Each feature alone (AUC per check)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alone</c:v>
                </c:pt>
              </c:strCache>
            </c:strRef>
          </c:tx>
          <c:spPr>
            <a:solidFill>
              <a:srgbClr val="0D3FF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PAR_045T</c:v>
                  </c:pt>
                  <c:pt idx="1">
                    <c:v>PAR_077</c:v>
                  </c:pt>
                  <c:pt idx="2">
                    <c:v>PAR_045</c:v>
                  </c:pt>
                  <c:pt idx="3">
                    <c:v>PAR_048</c:v>
                  </c:pt>
                  <c:pt idx="4">
                    <c:v>PAR_076</c:v>
                  </c:pt>
                  <c:pt idx="5">
                    <c:v>PAR_066</c:v>
                  </c:pt>
                  <c:pt idx="6">
                    <c:v>PAR_105</c:v>
                  </c:pt>
                  <c:pt idx="7">
                    <c:v>PAR_023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0.81</c:v>
                </c:pt>
                <c:pt idx="1">
                  <c:v>0.68</c:v>
                </c:pt>
                <c:pt idx="2">
                  <c:v>0.8</c:v>
                </c:pt>
                <c:pt idx="3">
                  <c:v>0.73</c:v>
                </c:pt>
                <c:pt idx="4">
                  <c:v>0.59</c:v>
                </c:pt>
                <c:pt idx="5">
                  <c:v>0.56</c:v>
                </c:pt>
                <c:pt idx="6">
                  <c:v>0.45</c:v>
                </c:pt>
                <c:pt idx="7">
                  <c:v>0.37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3"/>
        </c:scaling>
        <c:delete val="0"/>
        <c:axPos val="b"/>
        <c:majorGridlines>
          <c:spPr>
            <a:ln w="6350" cap="flat">
              <a:solidFill>
                <a:srgbClr val="DDE1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430"/>
                </a:solidFill>
                <a:latin typeface="+mn-lt"/>
              </a:rPr>
              <a:t>Share of points, HIGH and above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points</c:v>
                </c:pt>
              </c:strCache>
            </c:strRef>
          </c:tx>
          <c:spPr>
            <a:solidFill>
              <a:srgbClr val="B88A0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PAR_045T</c:v>
                  </c:pt>
                  <c:pt idx="1">
                    <c:v>PAR_077</c:v>
                  </c:pt>
                  <c:pt idx="2">
                    <c:v>PAR_045</c:v>
                  </c:pt>
                  <c:pt idx="3">
                    <c:v>PAR_048</c:v>
                  </c:pt>
                  <c:pt idx="4">
                    <c:v>PAR_076</c:v>
                  </c:pt>
                  <c:pt idx="5">
                    <c:v>PAR_066</c:v>
                  </c:pt>
                  <c:pt idx="6">
                    <c:v>PAR_105</c:v>
                  </c:pt>
                  <c:pt idx="7">
                    <c:v>PAR_023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36.1</c:v>
                </c:pt>
                <c:pt idx="1">
                  <c:v>33.7</c:v>
                </c:pt>
                <c:pt idx="2">
                  <c:v>20.8</c:v>
                </c:pt>
                <c:pt idx="3">
                  <c:v>3.3</c:v>
                </c:pt>
                <c:pt idx="4">
                  <c:v>3.6</c:v>
                </c:pt>
                <c:pt idx="5">
                  <c:v>0.1</c:v>
                </c:pt>
                <c:pt idx="6">
                  <c:v>2.4</c:v>
                </c:pt>
                <c:pt idx="7">
                  <c:v>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b"/>
        <c:majorGridlines>
          <c:spPr>
            <a:ln w="6350" cap="flat">
              <a:solidFill>
                <a:srgbClr val="DDE1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430"/>
                </a:solidFill>
                <a:latin typeface="+mn-lt"/>
              </a:rPr>
              <a:t>History Risk Band, % of each group (Sep 2026)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AEO members</c:v>
                </c:pt>
              </c:strCache>
            </c:strRef>
          </c:tx>
          <c:spPr>
            <a:solidFill>
              <a:srgbClr val="B88A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VERY LOW</c:v>
                  </c:pt>
                  <c:pt idx="1">
                    <c:v>LOW</c:v>
                  </c:pt>
                  <c:pt idx="2">
                    <c:v>MEDIUM</c:v>
                  </c:pt>
                  <c:pt idx="3">
                    <c:v>HIGH</c:v>
                  </c:pt>
                  <c:pt idx="4">
                    <c:v>VERY HIGH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87.2</c:v>
                </c:pt>
                <c:pt idx="1">
                  <c:v>11.1</c:v>
                </c:pt>
                <c:pt idx="2">
                  <c:v>1.3</c:v>
                </c:pt>
                <c:pt idx="3">
                  <c:v>0.3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taxpayers</c:v>
                </c:pt>
              </c:strCache>
            </c:strRef>
          </c:tx>
          <c:spPr>
            <a:solidFill>
              <a:srgbClr val="0D3FF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VERY LOW</c:v>
                  </c:pt>
                  <c:pt idx="1">
                    <c:v>LOW</c:v>
                  </c:pt>
                  <c:pt idx="2">
                    <c:v>MEDIUM</c:v>
                  </c:pt>
                  <c:pt idx="3">
                    <c:v>HIGH</c:v>
                  </c:pt>
                  <c:pt idx="4">
                    <c:v>VERY HIGH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81.4</c:v>
                </c:pt>
                <c:pt idx="1">
                  <c:v>14.4</c:v>
                </c:pt>
                <c:pt idx="2">
                  <c:v>2.3</c:v>
                </c:pt>
                <c:pt idx="3">
                  <c:v>1.5</c:v>
                </c:pt>
                <c:pt idx="4">
                  <c:v>0.4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1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Regular traders</c:v>
                </c:pt>
              </c:strCache>
            </c:strRef>
          </c:tx>
          <c:spPr>
            <a:solidFill>
              <a:srgbClr val="0D3FF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Clearing away from the main station</c:v>
                  </c:pt>
                  <c:pt idx="1">
                    <c:v>Many different kinds of goods per declaration</c:v>
                  </c:pt>
                  <c:pt idx="2">
                    <c:v>Items priced below half the benchmark</c:v>
                  </c:pt>
                  <c:pt idx="3">
                    <c:v>Value below the HS benchmark</c:v>
                  </c:pt>
                  <c:pt idx="4">
                    <c:v>Preferential treatment claimed</c:v>
                  </c:pt>
                  <c:pt idx="5">
                    <c:v>Tax left unpaid</c:v>
                  </c:pt>
                  <c:pt idx="6">
                    <c:v>Declarations amended</c:v>
                  </c:pt>
                  <c:pt idx="7">
                    <c:v>Prices so low they look like keying errors</c:v>
                  </c:pt>
                  <c:pt idx="8">
                    <c:v>Sudden rise in declarations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0.579</c:v>
                </c:pt>
                <c:pt idx="1">
                  <c:v>0.577</c:v>
                </c:pt>
                <c:pt idx="2">
                  <c:v>0.54</c:v>
                </c:pt>
                <c:pt idx="3">
                  <c:v>0.54</c:v>
                </c:pt>
                <c:pt idx="4">
                  <c:v>0.509</c:v>
                </c:pt>
                <c:pt idx="5">
                  <c:v>0.507</c:v>
                </c:pt>
                <c:pt idx="6">
                  <c:v>0.504</c:v>
                </c:pt>
                <c:pt idx="7">
                  <c:v>0.489</c:v>
                </c:pt>
                <c:pt idx="8">
                  <c:v>0.468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traders</c:v>
                </c:pt>
              </c:strCache>
            </c:strRef>
          </c:tx>
          <c:spPr>
            <a:solidFill>
              <a:srgbClr val="B88A0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Clearing away from the main station</c:v>
                  </c:pt>
                  <c:pt idx="1">
                    <c:v>Many different kinds of goods per declaration</c:v>
                  </c:pt>
                  <c:pt idx="2">
                    <c:v>Items priced below half the benchmark</c:v>
                  </c:pt>
                  <c:pt idx="3">
                    <c:v>Value below the HS benchmark</c:v>
                  </c:pt>
                  <c:pt idx="4">
                    <c:v>Preferential treatment claimed</c:v>
                  </c:pt>
                  <c:pt idx="5">
                    <c:v>Tax left unpaid</c:v>
                  </c:pt>
                  <c:pt idx="6">
                    <c:v>Declarations amended</c:v>
                  </c:pt>
                  <c:pt idx="7">
                    <c:v>Prices so low they look like keying errors</c:v>
                  </c:pt>
                  <c:pt idx="8">
                    <c:v>Sudden rise in declarations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0.502</c:v>
                </c:pt>
                <c:pt idx="1">
                  <c:v>0.568</c:v>
                </c:pt>
                <c:pt idx="2">
                  <c:v>0.557</c:v>
                </c:pt>
                <c:pt idx="3">
                  <c:v>0.559</c:v>
                </c:pt>
                <c:pt idx="4">
                  <c:v>0.514</c:v>
                </c:pt>
                <c:pt idx="5">
                  <c:v>0.489</c:v>
                </c:pt>
                <c:pt idx="6">
                  <c:v>0.527</c:v>
                </c:pt>
                <c:pt idx="7">
                  <c:v>0.52</c:v>
                </c:pt>
                <c:pt idx="8">
                  <c:v>0.469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2"/>
          <c:min val="0.4"/>
        </c:scaling>
        <c:delete val="0"/>
        <c:axPos val="b"/>
        <c:majorGridlines>
          <c:spPr>
            <a:ln w="6350" cap="flat">
              <a:solidFill>
                <a:srgbClr val="DDE1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430"/>
                </a:solidFill>
                <a:latin typeface="+mn-lt"/>
              </a:rPr>
              <a:t>AUC per check, no top-up history (5 dates)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Track B</c:v>
                </c:pt>
              </c:strCache>
            </c:strRef>
          </c:tx>
          <c:spPr>
            <a:solidFill>
              <a:srgbClr val="0D3FF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Regular traders</c:v>
                  </c:pt>
                  <c:pt idx="1">
                    <c:v>Small traders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0.605</c:v>
                </c:pt>
                <c:pt idx="1">
                  <c:v>0.583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 A on the same taxpayers</c:v>
                </c:pt>
              </c:strCache>
            </c:strRef>
          </c:tx>
          <c:spPr>
            <a:solidFill>
              <a:srgbClr val="B88A0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Regular traders</c:v>
                  </c:pt>
                  <c:pt idx="1">
                    <c:v>Small traders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0.557</c:v>
                </c:pt>
                <c:pt idx="1">
                  <c:v>0.536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Chance</c:v>
                </c:pt>
              </c:strCache>
            </c:strRef>
          </c:tx>
          <c:spPr>
            <a:solidFill>
              <a:srgbClr val="B8C0C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Regular traders</c:v>
                  </c:pt>
                  <c:pt idx="1">
                    <c:v>Small traders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6"/>
          <c:min val="0.4"/>
        </c:scaling>
        <c:delete val="0"/>
        <c:axPos val="l"/>
        <c:majorGridlines>
          <c:spPr>
            <a:ln w="6350" cap="flat">
              <a:solidFill>
                <a:srgbClr val="DDE1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how the agreed parameters became features, what the data told us, how the scorecard and bands work, how we measure success, both tracks, and how each decision was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A scores compliance history. Track B looks at trading behaviour for taxpayers with no history. Track A is tested on 18 dates over nine years. Track B shows a signal but is not yet proven.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90 minutes plus questions. Parts 2 to 4 are the core: data, features, scorecard.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Checks cost officer time and delay compliant traders. Ranking the riskiest first means each check finds more and compliant traders are checked 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Officers act on the Overall Risk Band: the higher of the History Risk Band (Track A) and the Risky Behaviour Flag (Track B, capped at HIGH until proven).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Engineering built the view for this project. We score IM4 (home use) and IM7 (warehousing) only: other regimes carry guarantees, not duty paid. The model reads 24 of the view's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rule came from an EDA query (decisions 1 to 18). Without the first two, every count and every top-up would have been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about 4% of declarations end in a top-up. A rate built on a handful of declarations is mostly chance.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87% of taxpayers have fewer than 10 declarations in 24 months. With 1 to 3 declarations, a rate is 0% or 100% from a single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small-history rate is pulled towards the average, and only ever down, so clean small traders are not given risk they never showed.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share of checks that found a top-up fell from 11 to 13% to about 7% and stayed there. The model is judged against this changing base. Only the Risk Officers can say what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view holds columns: raw values on each declaration item. A feature is a number per taxpayer that we calculate from several columns. None of the features exists as a column in the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was dropped by choice. 11 need data that is not in the view. PAR_045 gives two features: amendments and the officers' top-up rule (PAR_045T).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blocked by data only. Each row is what we would ask Data Engineering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eight are agreed officer parameters. Each is a rate per taxpayer over the last 3 years, from IM4 and IM7 declarations.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feature is code we wrote. The SQL builds the per-taxpayer values from the view; Python applies recency, credibility weighting, points and bands.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features had to be built differently from how the parameter was first written, because the data showed the first version would not rank taxpayers.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top-up features move together (0.6 to 0.8). We kept all agreed parameters and set weights so the same behaviour is not counted twice at full strength.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how well each feature ranks checks on its own (0.50 = chance). Right: share of all points among taxpayers in HIGH and above.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Remove one feature, rescore, measure again. Only the top-up share makes a real difference. The small five add little against top-ups but cover risks top-ups cannot show.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rate uses the last 3 years. The latest year counts fully, the year before half, the one before a quarter. Tested on all 18 dates since 2017.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feature earns 0 points at or below its minimum risk level, full points at its maximum, and a straight line in between. Points add up to a score from 0 to 100. Weights are likelihood x impact, set by Data Science, to be confirmed by the Risk Officers.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steps, in order. Every point can be traced to a feature and a reason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score is cut into five bands. Officers act on the band. Hit rate climbs at every step: VERY HIGH checks found a top-up 45% of the time, VERY LOW 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top-up share, severe top-ups and amendments make up most points in every band. The other five add a little at the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about 9% of checks find a top-up, so a model that says "nothing found" is 91% accurate and useless. We measure ranking per check, with money beside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and above: 8% of taxpayers, 40% of checks find a top-up, half of all hits, 55% of the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Scored at 18 dates since Sep 2017, each judged on the next 6 months. AUC per check 0.74 to 0.86. The dip follows the March 2024 fall in what checks found.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every date the bands keep their order from VERY LOW up to HIGH. VERY HIGH and HIGH sit close together at the latest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model trained only on earlier dates and tested on four. The scorecard finds 4.6 times the average hit rate in its top 5%, 6,000 hits and 47% of the money. Learned models reach about 5.1 to 5.2 but learn only from checks officers chose and are harder to explain. The warning case uses size and is not a fair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model that learns weights from past outcomes puts most weight on the top-up share and almost none on amendments. Evidence for the weights session, not a replacement.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is never told who is AEO. 298 current AEO members: 87% land in VERY LOW, none in VERY HIGH. A check only, not a score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69% of taxpayers have no top-up history, so Track A gives them nothing to score. An importer who undervalues and has never been caught scores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from the same columns as Track A, but never from what customs did. "v2" = built and tested on one date; joins the model when older dates are pulled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Duty is compared only on items that claim no exemption. Cement and fuel are left out of splitting, because many trucks a day is normal for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feature alone, taxpayers with no top-up history, 7 dates (0.50 = chance). Station movement, goods per declaration and price features carry the most. All signals are modest against top-ups.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test dates, each trained only on earlier dates. Better than Track A on the same taxpayers in 9 of 10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506 of 510 live flags have "many kinds of goods per declaration" as reason 1, and the median flagged taxpayer has 1 declaration.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flagged and 25 unflagged taxpayers, mixed under codes R01 to R50. Officers judge without knowing which is which.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choice passed the same tests and is recorded with its evidence. 99 decisions so far.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first query to nine years of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limit has a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Data Science will do, and what we need from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scoring command live (about 2 minutes) and open the workbook. Outputs are pre-run as a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Hue stops a query after about 30 minutes and cuts downloads at 100,000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Clustering left 77% of regular traders without a group, so peer groups are main goods (HS section) x size: 48 groups. The pattern check lowered results when given points, so it is a note with no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in src/ctrp/core.py; the settings code on every output changes when any of these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5440680"/>
            <a:ext cx="95097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6053328"/>
            <a:ext cx="95097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31720"/>
            <a:ext cx="10058400" cy="1463040"/>
          </a:xfrm>
          <a:prstGeom prst="rect">
            <a:avLst/>
          </a:prstGeom>
          <a:solidFill>
            <a:srgbClr val="0D3FFE"/>
          </a:solidFill>
          <a:ln w="12700">
            <a:solidFill>
              <a:srgbClr val="0D3F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794760"/>
            <a:ext cx="10058400" cy="73152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31520" y="2468880"/>
            <a:ext cx="91440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731520" y="406908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457200" y="6620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CTRP progress review  |  Data Science, ITID  |  15 October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6620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CTRP progress review  |  Data Science, ITID  |  15 October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544068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Customs Taxpayer Risk Profiling Model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6053328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review: features, evidence and decisions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Section, ITID  |  15 October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in one slide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3578"/>
            <a:ext cx="2274664" cy="933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rgbClr val="1F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57,501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266345"/>
            <a:ext cx="2274664" cy="88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IM4 and IM7 taxpayers scored, each with reasons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2934960" y="1283578"/>
            <a:ext cx="2274664" cy="933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rgbClr val="1F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2934960" y="2266345"/>
            <a:ext cx="2274664" cy="88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AUC per check, 18 dates since 2017 (0.50 = chance)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412719" y="1283578"/>
            <a:ext cx="2274664" cy="933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rgbClr val="B8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5412719" y="2266345"/>
            <a:ext cx="2274664" cy="88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taxpayers (HIGH and above) carry half of all hits and 55% of top-up money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890479" y="1283578"/>
            <a:ext cx="2355902" cy="933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rgbClr val="B8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vs 3%</a:t>
            </a:r>
            <a:endParaRPr lang="en-US" sz="4200" dirty="0"/>
          </a:p>
        </p:txBody>
      </p:sp>
      <p:sp>
        <p:nvSpPr>
          <p:cNvPr id="11" name="Text 8"/>
          <p:cNvSpPr txBox="1"/>
          <p:nvPr/>
        </p:nvSpPr>
        <p:spPr>
          <a:xfrm>
            <a:off x="7890479" y="2266345"/>
            <a:ext cx="2355902" cy="88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finding a top-up: VERY HIGH against VERY LOW</a:t>
            </a:r>
            <a:endParaRPr lang="en-US" sz="1450" dirty="0"/>
          </a:p>
        </p:txBody>
      </p:sp>
      <p:sp>
        <p:nvSpPr>
          <p:cNvPr id="12" name="Where it stands"/>
          <p:cNvSpPr/>
          <p:nvPr/>
        </p:nvSpPr>
        <p:spPr>
          <a:xfrm>
            <a:off x="457200" y="3937047"/>
            <a:ext cx="4793043" cy="2260363"/>
          </a:xfrm>
          <a:prstGeom prst="roundRect">
            <a:avLst>
              <a:gd name="adj" fmla="val 3236"/>
            </a:avLst>
          </a:prstGeom>
          <a:solidFill>
            <a:srgbClr val="E6ECFF"/>
          </a:solidFill>
          <a:ln w="12700">
            <a:solidFill>
              <a:srgbClr val="E6EC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9676" y="4084462"/>
            <a:ext cx="4468091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19676" y="4546363"/>
            <a:ext cx="4468091" cy="1523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A: built, tested over nine years, scoring the live list.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B: built, tested on 5 dates, one weakness to fix, blind review ready.</a:t>
            </a:r>
            <a:endParaRPr lang="en-US" sz="1450" dirty="0"/>
          </a:p>
        </p:txBody>
      </p:sp>
      <p:sp>
        <p:nvSpPr>
          <p:cNvPr id="15" name="What it needs"/>
          <p:cNvSpPr/>
          <p:nvPr/>
        </p:nvSpPr>
        <p:spPr>
          <a:xfrm>
            <a:off x="5493957" y="3937047"/>
            <a:ext cx="4793043" cy="2260363"/>
          </a:xfrm>
          <a:prstGeom prst="roundRect">
            <a:avLst>
              <a:gd name="adj" fmla="val 3236"/>
            </a:avLst>
          </a:prstGeom>
          <a:solidFill>
            <a:srgbClr val="FFF4C7"/>
          </a:solidFill>
          <a:ln w="12700">
            <a:solidFill>
              <a:srgbClr val="FFF4C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56433" y="4084462"/>
            <a:ext cx="4468091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needs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656433" y="4546363"/>
            <a:ext cx="4468091" cy="1523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Officers to confirm weights and thresholds.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Officers' verdicts on the blind review.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 is not in the view for 11 parameters.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agenda 1"/>
          <p:cNvSpPr/>
          <p:nvPr/>
        </p:nvSpPr>
        <p:spPr>
          <a:xfrm>
            <a:off x="457200" y="1234440"/>
            <a:ext cx="389942" cy="471728"/>
          </a:xfrm>
          <a:prstGeom prst="ellipse">
            <a:avLst/>
          </a:prstGeom>
          <a:solidFill>
            <a:srgbClr val="102A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34440"/>
            <a:ext cx="389942" cy="4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1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066485" y="1214785"/>
            <a:ext cx="3736949" cy="511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83"/>
                </a:solidFill>
              </a:rPr>
              <a:t>Purpose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925291" y="1214785"/>
            <a:ext cx="5361709" cy="511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</a:rPr>
              <a:t>What the model is for and what officers receive</a:t>
            </a:r>
            <a:endParaRPr lang="en-US" sz="1450" dirty="0"/>
          </a:p>
        </p:txBody>
      </p:sp>
      <p:sp>
        <p:nvSpPr>
          <p:cNvPr id="8" name="agenda 2"/>
          <p:cNvSpPr/>
          <p:nvPr/>
        </p:nvSpPr>
        <p:spPr>
          <a:xfrm>
            <a:off x="457200" y="1883066"/>
            <a:ext cx="389942" cy="471728"/>
          </a:xfrm>
          <a:prstGeom prst="ellipse">
            <a:avLst/>
          </a:prstGeom>
          <a:solidFill>
            <a:srgbClr val="0D3F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883066"/>
            <a:ext cx="389942" cy="4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2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1066485" y="1863410"/>
            <a:ext cx="3736949" cy="511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83"/>
                </a:solidFill>
              </a:rPr>
              <a:t>Data and EDA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925291" y="1863410"/>
            <a:ext cx="5361709" cy="511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</a:rPr>
              <a:t>What the data showed and the rules it forced</a:t>
            </a:r>
            <a:endParaRPr lang="en-US" sz="1450" dirty="0"/>
          </a:p>
        </p:txBody>
      </p:sp>
      <p:sp>
        <p:nvSpPr>
          <p:cNvPr id="12" name="agenda 3"/>
          <p:cNvSpPr/>
          <p:nvPr/>
        </p:nvSpPr>
        <p:spPr>
          <a:xfrm>
            <a:off x="457200" y="2531692"/>
            <a:ext cx="389942" cy="471728"/>
          </a:xfrm>
          <a:prstGeom prst="ellipse">
            <a:avLst/>
          </a:prstGeom>
          <a:solidFill>
            <a:srgbClr val="0D3F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531692"/>
            <a:ext cx="389942" cy="4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3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1066485" y="2512036"/>
            <a:ext cx="3736949" cy="511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83"/>
                </a:solidFill>
              </a:rPr>
              <a:t>From columns to features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925291" y="2512036"/>
            <a:ext cx="5361709" cy="511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</a:rPr>
              <a:t>How each parameter was built, chosen and tested</a:t>
            </a:r>
            <a:endParaRPr lang="en-US" sz="1450" dirty="0"/>
          </a:p>
        </p:txBody>
      </p:sp>
      <p:sp>
        <p:nvSpPr>
          <p:cNvPr id="16" name="agenda 4"/>
          <p:cNvSpPr/>
          <p:nvPr/>
        </p:nvSpPr>
        <p:spPr>
          <a:xfrm>
            <a:off x="457200" y="3180317"/>
            <a:ext cx="389942" cy="471728"/>
          </a:xfrm>
          <a:prstGeom prst="ellipse">
            <a:avLst/>
          </a:prstGeom>
          <a:solidFill>
            <a:srgbClr val="0D3F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180317"/>
            <a:ext cx="389942" cy="4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4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1066485" y="3160662"/>
            <a:ext cx="3736949" cy="511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83"/>
                </a:solidFill>
              </a:rPr>
              <a:t>The scorecard and the bands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925291" y="3160662"/>
            <a:ext cx="5361709" cy="511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</a:rPr>
              <a:t>How points become a score and a band</a:t>
            </a:r>
            <a:endParaRPr lang="en-US" sz="1450" dirty="0"/>
          </a:p>
        </p:txBody>
      </p:sp>
      <p:sp>
        <p:nvSpPr>
          <p:cNvPr id="20" name="agenda 5"/>
          <p:cNvSpPr/>
          <p:nvPr/>
        </p:nvSpPr>
        <p:spPr>
          <a:xfrm>
            <a:off x="457200" y="3828943"/>
            <a:ext cx="389942" cy="471728"/>
          </a:xfrm>
          <a:prstGeom prst="ellipse">
            <a:avLst/>
          </a:prstGeom>
          <a:solidFill>
            <a:srgbClr val="102A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3828943"/>
            <a:ext cx="389942" cy="4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5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1066485" y="3809288"/>
            <a:ext cx="3736949" cy="511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83"/>
                </a:solidFill>
              </a:rPr>
              <a:t>Does it work?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925291" y="3809288"/>
            <a:ext cx="5361709" cy="511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</a:rPr>
              <a:t>Success measures, nine years of tests, challengers</a:t>
            </a:r>
            <a:endParaRPr lang="en-US" sz="1450" dirty="0"/>
          </a:p>
        </p:txBody>
      </p:sp>
      <p:sp>
        <p:nvSpPr>
          <p:cNvPr id="24" name="agenda 6"/>
          <p:cNvSpPr/>
          <p:nvPr/>
        </p:nvSpPr>
        <p:spPr>
          <a:xfrm>
            <a:off x="457200" y="4477569"/>
            <a:ext cx="389942" cy="471728"/>
          </a:xfrm>
          <a:prstGeom prst="ellipse">
            <a:avLst/>
          </a:prstGeom>
          <a:solidFill>
            <a:srgbClr val="102A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4477569"/>
            <a:ext cx="389942" cy="4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6</a:t>
            </a:r>
            <a:endParaRPr lang="en-US" sz="1450" dirty="0"/>
          </a:p>
        </p:txBody>
      </p:sp>
      <p:sp>
        <p:nvSpPr>
          <p:cNvPr id="26" name="Text 23"/>
          <p:cNvSpPr txBox="1"/>
          <p:nvPr/>
        </p:nvSpPr>
        <p:spPr>
          <a:xfrm>
            <a:off x="1066485" y="4457914"/>
            <a:ext cx="3736949" cy="511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83"/>
                </a:solidFill>
              </a:rPr>
              <a:t>Track B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925291" y="4457914"/>
            <a:ext cx="5361709" cy="511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</a:rPr>
              <a:t>Risk for taxpayers with no record</a:t>
            </a:r>
            <a:endParaRPr lang="en-US" sz="1450" dirty="0"/>
          </a:p>
        </p:txBody>
      </p:sp>
      <p:sp>
        <p:nvSpPr>
          <p:cNvPr id="28" name="agenda 7"/>
          <p:cNvSpPr/>
          <p:nvPr/>
        </p:nvSpPr>
        <p:spPr>
          <a:xfrm>
            <a:off x="457200" y="5126195"/>
            <a:ext cx="389942" cy="471728"/>
          </a:xfrm>
          <a:prstGeom prst="ellipse">
            <a:avLst/>
          </a:prstGeom>
          <a:solidFill>
            <a:srgbClr val="102A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7200" y="5126195"/>
            <a:ext cx="389942" cy="4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7</a:t>
            </a:r>
            <a:endParaRPr lang="en-US" sz="1450" dirty="0"/>
          </a:p>
        </p:txBody>
      </p:sp>
      <p:sp>
        <p:nvSpPr>
          <p:cNvPr id="30" name="Text 27"/>
          <p:cNvSpPr txBox="1"/>
          <p:nvPr/>
        </p:nvSpPr>
        <p:spPr>
          <a:xfrm>
            <a:off x="1066485" y="5106539"/>
            <a:ext cx="3736949" cy="511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83"/>
                </a:solidFill>
              </a:rPr>
              <a:t>Decisions and next steps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925291" y="5106539"/>
            <a:ext cx="5361709" cy="511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</a:rPr>
              <a:t>How decisions were made and what we need</a:t>
            </a:r>
            <a:endParaRPr lang="en-US" sz="1450" dirty="0"/>
          </a:p>
        </p:txBody>
      </p:sp>
      <p:sp>
        <p:nvSpPr>
          <p:cNvPr id="32" name="agenda 8"/>
          <p:cNvSpPr/>
          <p:nvPr/>
        </p:nvSpPr>
        <p:spPr>
          <a:xfrm>
            <a:off x="457200" y="5774821"/>
            <a:ext cx="389942" cy="471728"/>
          </a:xfrm>
          <a:prstGeom prst="ellipse">
            <a:avLst/>
          </a:prstGeom>
          <a:solidFill>
            <a:srgbClr val="102A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7200" y="5774821"/>
            <a:ext cx="389942" cy="4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8</a:t>
            </a:r>
            <a:endParaRPr lang="en-US" sz="1450" dirty="0"/>
          </a:p>
        </p:txBody>
      </p:sp>
      <p:sp>
        <p:nvSpPr>
          <p:cNvPr id="34" name="Text 31"/>
          <p:cNvSpPr txBox="1"/>
          <p:nvPr/>
        </p:nvSpPr>
        <p:spPr>
          <a:xfrm>
            <a:off x="1066485" y="5755165"/>
            <a:ext cx="3736949" cy="511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83"/>
                </a:solidFill>
              </a:rPr>
              <a:t>Live demo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4925291" y="5755165"/>
            <a:ext cx="5361709" cy="511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</a:rPr>
              <a:t>Score the live list and open the workbook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31520" y="24688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 Purpose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731520" y="40690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is for and what officers receive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is for</a:t>
            </a:r>
            <a:endParaRPr lang="en-US" sz="2400" dirty="0"/>
          </a:p>
        </p:txBody>
      </p:sp>
      <p:sp>
        <p:nvSpPr>
          <p:cNvPr id="4" name="More revenue per check"/>
          <p:cNvSpPr/>
          <p:nvPr/>
        </p:nvSpPr>
        <p:spPr>
          <a:xfrm>
            <a:off x="457200" y="1283578"/>
            <a:ext cx="3127664" cy="2407778"/>
          </a:xfrm>
          <a:prstGeom prst="roundRect">
            <a:avLst>
              <a:gd name="adj" fmla="val 3038"/>
            </a:avLst>
          </a:prstGeom>
          <a:solidFill>
            <a:srgbClr val="E6ECFF"/>
          </a:solidFill>
          <a:ln w="12700">
            <a:solidFill>
              <a:srgbClr val="E6EC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9676" y="1430993"/>
            <a:ext cx="2802712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revenue per check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19676" y="1892893"/>
            <a:ext cx="2802712" cy="1670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on HIGH and above find a top-up about 40% of the time, against 9% for all checks.</a:t>
            </a:r>
            <a:endParaRPr lang="en-US" sz="1450" dirty="0"/>
          </a:p>
        </p:txBody>
      </p:sp>
      <p:sp>
        <p:nvSpPr>
          <p:cNvPr id="7" name="Focus on the money"/>
          <p:cNvSpPr/>
          <p:nvPr/>
        </p:nvSpPr>
        <p:spPr>
          <a:xfrm>
            <a:off x="3804206" y="1283578"/>
            <a:ext cx="3127664" cy="2407778"/>
          </a:xfrm>
          <a:prstGeom prst="roundRect">
            <a:avLst>
              <a:gd name="adj" fmla="val 3038"/>
            </a:avLst>
          </a:prstGeom>
          <a:solidFill>
            <a:srgbClr val="E6ECFF"/>
          </a:solidFill>
          <a:ln w="12700">
            <a:solidFill>
              <a:srgbClr val="E6EC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66682" y="1430993"/>
            <a:ext cx="2802712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the money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966682" y="1892893"/>
            <a:ext cx="2802712" cy="1670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riskiest 8% of taxpayers carried 55% of top-up money in the 6 months after each date.</a:t>
            </a:r>
            <a:endParaRPr lang="en-US" sz="1450" dirty="0"/>
          </a:p>
        </p:txBody>
      </p:sp>
      <p:sp>
        <p:nvSpPr>
          <p:cNvPr id="10" name="Facilitate the compliant"/>
          <p:cNvSpPr/>
          <p:nvPr/>
        </p:nvSpPr>
        <p:spPr>
          <a:xfrm>
            <a:off x="7151213" y="1283578"/>
            <a:ext cx="3127664" cy="2407778"/>
          </a:xfrm>
          <a:prstGeom prst="roundRect">
            <a:avLst>
              <a:gd name="adj" fmla="val 3038"/>
            </a:avLst>
          </a:prstGeom>
          <a:solidFill>
            <a:srgbClr val="FFF4C7"/>
          </a:solidFill>
          <a:ln w="12700">
            <a:solidFill>
              <a:srgbClr val="FFF4C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3689" y="1430993"/>
            <a:ext cx="2802712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 the compliant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313689" y="1892893"/>
            <a:ext cx="2802712" cy="1670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of taxpayers are VERY LOW. Checks on them find a top-up 3% of the time.</a:t>
            </a:r>
            <a:endParaRPr lang="en-US" sz="1450" dirty="0"/>
          </a:p>
        </p:txBody>
      </p:sp>
      <p:sp>
        <p:nvSpPr>
          <p:cNvPr id="13" name="Same rules for everyone"/>
          <p:cNvSpPr/>
          <p:nvPr/>
        </p:nvSpPr>
        <p:spPr>
          <a:xfrm>
            <a:off x="457200" y="3937047"/>
            <a:ext cx="4793043" cy="2211224"/>
          </a:xfrm>
          <a:prstGeom prst="roundRect">
            <a:avLst>
              <a:gd name="adj" fmla="val 3308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9676" y="4084462"/>
            <a:ext cx="4468091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rules for everyone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19676" y="4546363"/>
            <a:ext cx="4468091" cy="147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taxpayer scored the same way, with reasons in plain words, a model version and a settings code on every output.</a:t>
            </a:r>
            <a:endParaRPr lang="en-US" sz="1450" dirty="0"/>
          </a:p>
        </p:txBody>
      </p:sp>
      <p:sp>
        <p:nvSpPr>
          <p:cNvPr id="16" name="Find what history misses"/>
          <p:cNvSpPr/>
          <p:nvPr/>
        </p:nvSpPr>
        <p:spPr>
          <a:xfrm>
            <a:off x="5493957" y="3937047"/>
            <a:ext cx="4793043" cy="2211224"/>
          </a:xfrm>
          <a:prstGeom prst="roundRect">
            <a:avLst>
              <a:gd name="adj" fmla="val 3308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56433" y="4084462"/>
            <a:ext cx="4468091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what history misses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656433" y="4546363"/>
            <a:ext cx="4468091" cy="147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all hits come from taxpayers below HIGH. Track B looks for risk that has not yet shown up in a record.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officer receives: one workbook, one row per taxpayer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9829800" cy="914400"/>
        </p:xfrm>
        <a:graphic>
          <a:graphicData uri="http://schemas.openxmlformats.org/drawingml/2006/table">
            <a:tbl>
              <a:tblPr/>
              <a:tblGrid>
                <a:gridCol w="2437140"/>
                <a:gridCol w="4061901"/>
                <a:gridCol w="33307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says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(made up)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Risk Score and Band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A, from the taxpayer's own record, 0 to 100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 HIGH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 1 to 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three biggest contributors, in plain words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 of declarations needed a top-up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Risky Behaviour Flag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B: trading behaviour stands out against similar importers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or 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Risk Band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higher of the two tracks: what officers act 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points: limited history, unusual pattern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history (under 10 declarations)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evidence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Entries priced furthest below other importers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number, item, % of peer price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31520" y="24688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  Data and EDA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731520" y="40690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showed, and the rules it forced on us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data: one view, one row per declaration item</a:t>
            </a:r>
            <a:endParaRPr lang="en-US" sz="2400" dirty="0"/>
          </a:p>
        </p:txBody>
      </p:sp>
      <p:pic>
        <p:nvPicPr>
          <p:cNvPr id="4" name="Image 0" descr="chart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930375" cy="265717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712527" y="1283578"/>
            <a:ext cx="3574473" cy="933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rgbClr val="1F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</a:t>
            </a:r>
            <a:endParaRPr lang="en-US" sz="4200" dirty="0"/>
          </a:p>
        </p:txBody>
      </p:sp>
      <p:sp>
        <p:nvSpPr>
          <p:cNvPr id="6" name="Text 2"/>
          <p:cNvSpPr txBox="1"/>
          <p:nvPr/>
        </p:nvSpPr>
        <p:spPr>
          <a:xfrm>
            <a:off x="6712527" y="2266345"/>
            <a:ext cx="3574473" cy="88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IM4 and IM7 declarations in every 24 months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6712527" y="2954281"/>
            <a:ext cx="3574473" cy="933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rgbClr val="1F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58,161</a:t>
            </a:r>
            <a:endParaRPr lang="en-US" sz="4200" dirty="0"/>
          </a:p>
        </p:txBody>
      </p:sp>
      <p:sp>
        <p:nvSpPr>
          <p:cNvPr id="8" name="Text 4"/>
          <p:cNvSpPr txBox="1"/>
          <p:nvPr/>
        </p:nvSpPr>
        <p:spPr>
          <a:xfrm>
            <a:off x="6712527" y="3937047"/>
            <a:ext cx="3574473" cy="88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taxpayers with declarations in the 24 months to Mar 2026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6712527" y="4624984"/>
            <a:ext cx="3574473" cy="933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rgbClr val="B8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4200" dirty="0"/>
          </a:p>
        </p:txBody>
      </p:sp>
      <p:sp>
        <p:nvSpPr>
          <p:cNvPr id="10" name="Text 6"/>
          <p:cNvSpPr txBox="1"/>
          <p:nvPr/>
        </p:nvSpPr>
        <p:spPr>
          <a:xfrm>
            <a:off x="6712527" y="5607750"/>
            <a:ext cx="3574473" cy="88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used by the model, from Nov 2012 to Oct 2026 (stable from Sep 2014)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in the data, and the rule for each</a:t>
            </a:r>
            <a:endParaRPr lang="en-US" sz="2400" dirty="0"/>
          </a:p>
        </p:txBody>
      </p:sp>
      <p:pic>
        <p:nvPicPr>
          <p:cNvPr id="4" name="Image 0" descr="chart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512" y="1185302"/>
            <a:ext cx="8073177" cy="2309501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42218"/>
          <a:ext cx="9829800" cy="914400"/>
        </p:xfrm>
        <a:graphic>
          <a:graphicData uri="http://schemas.openxmlformats.org/drawingml/2006/table">
            <a:tbl>
              <a:tblPr/>
              <a:tblGrid>
                <a:gridCol w="5280471"/>
                <a:gridCol w="454932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repeated up to 522 times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one row per item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top_up_amt holds the final tax, not the top-up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Top-up = flag Y and final tax above original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tax blank on 37% of unflagged declarations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means unchanged: use the final tax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repeated on every item of a declaration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tax once per declaration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14,065 cancelled declarations; consignee always the taxpayer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Cancelled removed; consignee not 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Top-ups are rare, so rates need many declarations</a:t>
            </a:r>
            <a:endParaRPr lang="en-US" sz="2400" dirty="0"/>
          </a:p>
        </p:txBody>
      </p:sp>
      <p:pic>
        <p:nvPicPr>
          <p:cNvPr id="4" name="Image 0" descr="chart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9829800" cy="287283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5853442"/>
            <a:ext cx="9829800" cy="491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declarations in the view with each event, 24 months.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taxpayers have very little history</a:t>
            </a:r>
            <a:endParaRPr lang="en-US" sz="2400" dirty="0"/>
          </a:p>
        </p:txBody>
      </p:sp>
      <p:pic>
        <p:nvPicPr>
          <p:cNvPr id="4" name="Image 0" descr="chart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793043" cy="1889180"/>
          </a:xfrm>
          <a:prstGeom prst="rect">
            <a:avLst/>
          </a:prstGeom>
        </p:spPr>
      </p:pic>
      <p:pic>
        <p:nvPicPr>
          <p:cNvPr id="5" name="Image 1" descr="chart_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957" y="1234440"/>
            <a:ext cx="4793043" cy="216484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credibility weighting</a:t>
            </a:r>
            <a:endParaRPr lang="en-US" sz="2400" dirty="0"/>
          </a:p>
        </p:txBody>
      </p:sp>
      <p:pic>
        <p:nvPicPr>
          <p:cNvPr id="4" name="Image 0" descr="chart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499041" cy="2021843"/>
          </a:xfrm>
          <a:prstGeom prst="rect">
            <a:avLst/>
          </a:prstGeom>
        </p:spPr>
      </p:pic>
      <p:sp>
        <p:nvSpPr>
          <p:cNvPr id="5" name="How it works"/>
          <p:cNvSpPr/>
          <p:nvPr/>
        </p:nvSpPr>
        <p:spPr>
          <a:xfrm>
            <a:off x="7199955" y="1234440"/>
            <a:ext cx="3087045" cy="3931065"/>
          </a:xfrm>
          <a:prstGeom prst="roundRect">
            <a:avLst>
              <a:gd name="adj" fmla="val 2370"/>
            </a:avLst>
          </a:prstGeom>
          <a:solidFill>
            <a:srgbClr val="E6ECFF"/>
          </a:solidFill>
          <a:ln w="12700">
            <a:solidFill>
              <a:srgbClr val="E6ECF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362431" y="1381855"/>
            <a:ext cx="2762093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7362431" y="1843755"/>
            <a:ext cx="2762093" cy="3193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used = n / (n + 10) of own rate + the rest from the average, only when that lowers it.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declarations: 17% own rate.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declarations: 80% own rate.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5411197"/>
            <a:ext cx="9829800" cy="68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small-history taxpayers in HIGH or above fell from 5,151 to 2,314, with the same results at the top. No weighting loses 46% of hits in the top 5%.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found less after March 2024</a:t>
            </a:r>
            <a:endParaRPr lang="en-US" sz="2400" dirty="0"/>
          </a:p>
        </p:txBody>
      </p:sp>
      <p:pic>
        <p:nvPicPr>
          <p:cNvPr id="4" name="Image 0" descr="chart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9829800" cy="30500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31520" y="24688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 From columns to features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731520" y="40690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parameter was built, chosen and tested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is not a feature</a:t>
            </a:r>
            <a:endParaRPr lang="en-US" sz="2400" dirty="0"/>
          </a:p>
        </p:txBody>
      </p:sp>
      <p:sp>
        <p:nvSpPr>
          <p:cNvPr id="4" name="Columns in the view"/>
          <p:cNvSpPr/>
          <p:nvPr/>
        </p:nvSpPr>
        <p:spPr>
          <a:xfrm>
            <a:off x="457200" y="1283578"/>
            <a:ext cx="2924569" cy="3832789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9057" y="1401510"/>
            <a:ext cx="2680855" cy="393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83"/>
                </a:solidFill>
              </a:rPr>
              <a:t>Columns in the view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79057" y="1873238"/>
            <a:ext cx="2680855" cy="3144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</a:rPr>
              <a:t>One row per item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</a:rPr>
              <a:t>taxpayer_tin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</a:rPr>
              <a:t>assessment_dt_wid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</a:rPr>
              <a:t>top_up_flg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</a:rPr>
              <a:t>original_tax_amt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</a:rPr>
              <a:t>final_amt</a:t>
            </a:r>
            <a:endParaRPr lang="en-US" sz="1500" dirty="0"/>
          </a:p>
        </p:txBody>
      </p:sp>
      <p:sp>
        <p:nvSpPr>
          <p:cNvPr id="7" name="arrow"/>
          <p:cNvSpPr/>
          <p:nvPr/>
        </p:nvSpPr>
        <p:spPr>
          <a:xfrm>
            <a:off x="3463007" y="3003419"/>
            <a:ext cx="292457" cy="393107"/>
          </a:xfrm>
          <a:prstGeom prst="rightArrow">
            <a:avLst/>
          </a:prstGeom>
          <a:solidFill>
            <a:srgbClr val="0D3FFE"/>
          </a:solidFill>
          <a:ln w="12700">
            <a:solidFill>
              <a:srgbClr val="0D3FFE"/>
            </a:solidFill>
            <a:prstDash val="solid"/>
          </a:ln>
        </p:spPr>
      </p:sp>
      <p:sp>
        <p:nvSpPr>
          <p:cNvPr id="8" name="Calculation we wrote"/>
          <p:cNvSpPr/>
          <p:nvPr/>
        </p:nvSpPr>
        <p:spPr>
          <a:xfrm>
            <a:off x="3828578" y="1283578"/>
            <a:ext cx="3249521" cy="3832789"/>
          </a:xfrm>
          <a:prstGeom prst="rect">
            <a:avLst/>
          </a:prstGeom>
          <a:solidFill>
            <a:srgbClr val="E6ECFF"/>
          </a:solidFill>
          <a:ln w="12700">
            <a:solidFill>
              <a:srgbClr val="E6EC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50435" y="1401510"/>
            <a:ext cx="3005807" cy="393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83"/>
                </a:solidFill>
              </a:rPr>
              <a:t>Calculation we wrote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950435" y="1873238"/>
            <a:ext cx="3005807" cy="3144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</a:rPr>
              <a:t>1. Remove duplicate items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</a:rPr>
              <a:t>2. Per declaration: topped up = flag Y and final tax above original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</a:rPr>
              <a:t>3. Per taxpayer: share of declarations topped up, last 3 years (1, 0.5, 0.25)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</a:rPr>
              <a:t>4. Small history pulled towards the average</a:t>
            </a:r>
            <a:endParaRPr lang="en-US" sz="1500" dirty="0"/>
          </a:p>
        </p:txBody>
      </p:sp>
      <p:sp>
        <p:nvSpPr>
          <p:cNvPr id="11" name="arrow"/>
          <p:cNvSpPr/>
          <p:nvPr/>
        </p:nvSpPr>
        <p:spPr>
          <a:xfrm>
            <a:off x="7159336" y="3003419"/>
            <a:ext cx="292457" cy="393107"/>
          </a:xfrm>
          <a:prstGeom prst="rightArrow">
            <a:avLst/>
          </a:prstGeom>
          <a:solidFill>
            <a:srgbClr val="0D3FFE"/>
          </a:solidFill>
          <a:ln w="12700">
            <a:solidFill>
              <a:srgbClr val="0D3FFE"/>
            </a:solidFill>
            <a:prstDash val="solid"/>
          </a:ln>
        </p:spPr>
      </p:sp>
      <p:sp>
        <p:nvSpPr>
          <p:cNvPr id="12" name="Feature"/>
          <p:cNvSpPr/>
          <p:nvPr/>
        </p:nvSpPr>
        <p:spPr>
          <a:xfrm>
            <a:off x="7524907" y="1283578"/>
            <a:ext cx="2762093" cy="3832789"/>
          </a:xfrm>
          <a:prstGeom prst="rect">
            <a:avLst/>
          </a:prstGeom>
          <a:solidFill>
            <a:srgbClr val="FFF4C7"/>
          </a:solidFill>
          <a:ln w="12700">
            <a:solidFill>
              <a:srgbClr val="FFF4C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46764" y="1401510"/>
            <a:ext cx="2518379" cy="393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83"/>
                </a:solidFill>
              </a:rPr>
              <a:t>Feature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646764" y="1873238"/>
            <a:ext cx="2518379" cy="3144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</a:rPr>
              <a:t>One number per taxpayer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</a:rPr>
              <a:t>PAR_045T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</a:rPr>
              <a:t>Share of declarations topped up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</a:rPr>
              <a:t>Example: 18%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5362059"/>
            <a:ext cx="9829800" cy="78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in this model is built this way: columns, then a calculation, then one value per taxpayer. Asking for a column is the start of a feature, not the feature.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 agreed parameters: where each one stands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3578"/>
          <a:ext cx="4061901" cy="353795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62815" y="1283578"/>
          <a:ext cx="5524185" cy="914400"/>
        </p:xfrm>
        <a:graphic>
          <a:graphicData uri="http://schemas.openxmlformats.org/drawingml/2006/table">
            <a:tbl>
              <a:tblPr/>
              <a:tblGrid>
                <a:gridCol w="1949712"/>
                <a:gridCol w="357447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Scored: 7 parameters, 8 features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PAR_045 (amendments and PAR_045T top-up share), PAR_077, PAR_048, PAR_076, PAR_066, PAR_105, PAR_023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Built, waiting (2)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PAR_067 unit value reduced; PAR_053 tax forgone through exemptions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data not in the view (11)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PAR_012, 015, 016, 039, 040, 051, 054, 075, 096; PAR_078, 173 (agent)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57200" y="5214644"/>
            <a:ext cx="9829800" cy="68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beyond the 20: duty below HS peers, watch-list exemption codes, same-day splitting, new traders, price far from peers.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agreed parameters need data that is not in the view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9829800" cy="914400"/>
        </p:xfrm>
        <a:graphic>
          <a:graphicData uri="http://schemas.openxmlformats.org/drawingml/2006/table">
            <a:tbl>
              <a:tblPr/>
              <a:tblGrid>
                <a:gridCol w="3330759"/>
                <a:gridCol w="3574473"/>
                <a:gridCol w="292456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needs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the view because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PAR_012 Original vs final declaration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Earlier versions of each declaration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view holds the final state only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PAR_016 Misclassification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 changes between versions, or the misdeclaration flag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Neither is in the view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PAR_054 Procedure codes amended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 code changes between versions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state only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PAR_096 HS changes that lowered duty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 changes between versions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state only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PAR_051 Preferential declarations amended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Versions (use of preference is shown as information)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state only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PAR_015 Undervaluation risk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45 adjustment rate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45 not in the view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PAR_075 Customs vs statistical value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46 statistical value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46 not in the view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PAR_039, PAR_040 Penalties (number, value)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Penalty and seizure records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system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PAR_078, PAR_173 Agent parameters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TIN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Belongs to the Agent model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features: columns used, how built, why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9829800" cy="914400"/>
        </p:xfrm>
        <a:graphic>
          <a:graphicData uri="http://schemas.openxmlformats.org/drawingml/2006/table">
            <a:tbl>
              <a:tblPr/>
              <a:tblGrid>
                <a:gridCol w="2193426"/>
                <a:gridCol w="2599617"/>
                <a:gridCol w="3493235"/>
                <a:gridCol w="154352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 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is built (per taxpayer)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PAR_045T Declarations topped 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top_up_flg, original_tax_amt, final_amt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declarations with flag Y and final tax above original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Officers' rule; strongest alone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PAR_077 Severe top-ups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declarations whose top-up is 30% or more of the final tax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top-ups, larger risk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PAR_045 Declarations amended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amendment_flg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declarations amended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alone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PAR_048 Top-ups as share of tax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original_tax_amt, final_amt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top-ups divided by total final tax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of the money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PAR_076 Value below benchmark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customs_value, net_weight, supplementary_qnty, hsc_cd, gds_org_cty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Shortfall against the median price other importers declare for the same HS code and origin, as a share of 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Undervaluation not yet caught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PAR_066 Tax reduced after assessment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original_tax_amt, final_amt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declarations with final tax below original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Reductions need a look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PAR_105 Recent top-up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top_up_flg, assessment_dt_wid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top-up in the last 180 days (yes or no)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 behaviour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PAR_023 Station movement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clearance_station_cd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declarations away from the taxpayer's main station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Moving between stations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features are built in the code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9829800" cy="914400"/>
        </p:xfrm>
        <a:graphic>
          <a:graphicData uri="http://schemas.openxmlformats.org/drawingml/2006/table">
            <a:tbl>
              <a:tblPr/>
              <a:tblGrid>
                <a:gridCol w="3736949"/>
                <a:gridCol w="3168283"/>
                <a:gridCol w="292456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items; one row per declaration; top-up defined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src/ctrp/sql/features_outcomes.sql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raw, items, decl (lines 41 to 104)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A rates per taxpayer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src/ctrp/sql/features_outcomes.sql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(line 110); yearly counts yr (line 155)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PAR_076 price benchmark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src/ctrp/sql/features_outcomes.sql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bench, val (lines 226 to 299)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price, duty, exemptions, splitting, new traders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src/ctrp/sql/features_outcomes.sql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lines 300 to 424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Recency, PAR_048 over final tax, credibility weighting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src/ctrp/core.py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apply_recency, derive, _shrink_small_counts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Scorecard settings: thresholds, weights, bands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src/ctrp/core.py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PARAMS, RECENCY_WEIGHTS, SHRINK_K, BANDS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Points, score and band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src/ctrp/core.py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scale, layer2_scorecard, band_of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B feature list and peer comparison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src/ctrp/discovery.py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FEATURES, build_features, peer_percentiles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 the data forced</a:t>
            </a:r>
            <a:endParaRPr lang="en-US" sz="2400" dirty="0"/>
          </a:p>
        </p:txBody>
      </p:sp>
      <p:pic>
        <p:nvPicPr>
          <p:cNvPr id="4" name="Image 0" descr="chart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361709" cy="1822323"/>
          </a:xfrm>
          <a:prstGeom prst="rect">
            <a:avLst/>
          </a:prstGeom>
        </p:spPr>
      </p:pic>
      <p:sp>
        <p:nvSpPr>
          <p:cNvPr id="5" name="PAR_048 divided by final tax"/>
          <p:cNvSpPr/>
          <p:nvPr/>
        </p:nvSpPr>
        <p:spPr>
          <a:xfrm>
            <a:off x="6062623" y="1234440"/>
            <a:ext cx="4224377" cy="1572426"/>
          </a:xfrm>
          <a:prstGeom prst="roundRect">
            <a:avLst>
              <a:gd name="adj" fmla="val 4652"/>
            </a:avLst>
          </a:prstGeom>
          <a:solidFill>
            <a:srgbClr val="E6ECFF"/>
          </a:solidFill>
          <a:ln w="12700">
            <a:solidFill>
              <a:srgbClr val="E6ECF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225099" y="1381855"/>
            <a:ext cx="3899425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PAR_048 divided by final tax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6225099" y="1843755"/>
            <a:ext cx="3899425" cy="83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Divided by original tax, a declaration taxed UGX 29 gave 4,399. Over final tax it stays between 0 and 100%.</a:t>
            </a:r>
            <a:endParaRPr lang="en-US" sz="1450" dirty="0"/>
          </a:p>
        </p:txBody>
      </p:sp>
      <p:sp>
        <p:nvSpPr>
          <p:cNvPr id="8" name="PAR_045T maximum at 40%, not 10%"/>
          <p:cNvSpPr/>
          <p:nvPr/>
        </p:nvSpPr>
        <p:spPr>
          <a:xfrm>
            <a:off x="6062623" y="2954281"/>
            <a:ext cx="4224377" cy="1572426"/>
          </a:xfrm>
          <a:prstGeom prst="roundRect">
            <a:avLst>
              <a:gd name="adj" fmla="val 4652"/>
            </a:avLst>
          </a:prstGeom>
          <a:solidFill>
            <a:srgbClr val="E6ECFF"/>
          </a:solidFill>
          <a:ln w="12700">
            <a:solidFill>
              <a:srgbClr val="E6EC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25099" y="3101696"/>
            <a:ext cx="3899425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PAR_045T maximum at 40%, not 10%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225099" y="3563596"/>
            <a:ext cx="3899425" cy="83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10%, 35% of regular traders got full points and the scale stopped ranking.</a:t>
            </a:r>
            <a:endParaRPr lang="en-US" sz="1450" dirty="0"/>
          </a:p>
        </p:txBody>
      </p:sp>
      <p:sp>
        <p:nvSpPr>
          <p:cNvPr id="11" name="PAR_076 benchmark built by us"/>
          <p:cNvSpPr/>
          <p:nvPr/>
        </p:nvSpPr>
        <p:spPr>
          <a:xfrm>
            <a:off x="6062623" y="4674122"/>
            <a:ext cx="4224377" cy="1572426"/>
          </a:xfrm>
          <a:prstGeom prst="roundRect">
            <a:avLst>
              <a:gd name="adj" fmla="val 4652"/>
            </a:avLst>
          </a:prstGeom>
          <a:solidFill>
            <a:srgbClr val="E6ECFF"/>
          </a:solidFill>
          <a:ln w="12700">
            <a:solidFill>
              <a:srgbClr val="E6EC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225099" y="4821537"/>
            <a:ext cx="3899425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PAR_076 benchmark built by us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225099" y="5283437"/>
            <a:ext cx="3899425" cy="83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price per HS code and origin from 5 or more importers. Fuel left out.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features measure the same thing</a:t>
            </a:r>
            <a:endParaRPr lang="en-US" sz="2400" dirty="0"/>
          </a:p>
        </p:txBody>
      </p:sp>
      <p:pic>
        <p:nvPicPr>
          <p:cNvPr id="4" name="Image 0" descr="chart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99233" cy="4553577"/>
          </a:xfrm>
          <a:prstGeom prst="rect">
            <a:avLst/>
          </a:prstGeom>
        </p:spPr>
      </p:pic>
      <p:sp>
        <p:nvSpPr>
          <p:cNvPr id="5" name="What moves together"/>
          <p:cNvSpPr/>
          <p:nvPr/>
        </p:nvSpPr>
        <p:spPr>
          <a:xfrm>
            <a:off x="5900147" y="1283578"/>
            <a:ext cx="4386853" cy="2260363"/>
          </a:xfrm>
          <a:prstGeom prst="roundRect">
            <a:avLst>
              <a:gd name="adj" fmla="val 323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062623" y="1430993"/>
            <a:ext cx="4061901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moves together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6062623" y="1892893"/>
            <a:ext cx="4061901" cy="1523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PAR_045T, PAR_077, PAR_048 and PAR_045: all describe top-ups and amendments.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PAR_066, PAR_105, PAR_023 are close to independent.</a:t>
            </a:r>
            <a:endParaRPr lang="en-US" sz="1450" dirty="0"/>
          </a:p>
        </p:txBody>
      </p:sp>
      <p:sp>
        <p:nvSpPr>
          <p:cNvPr id="8" name="What we did"/>
          <p:cNvSpPr/>
          <p:nvPr/>
        </p:nvSpPr>
        <p:spPr>
          <a:xfrm>
            <a:off x="5900147" y="3789633"/>
            <a:ext cx="4386853" cy="2260363"/>
          </a:xfrm>
          <a:prstGeom prst="roundRect">
            <a:avLst>
              <a:gd name="adj" fmla="val 3236"/>
            </a:avLst>
          </a:prstGeom>
          <a:solidFill>
            <a:srgbClr val="E6ECFF"/>
          </a:solidFill>
          <a:ln w="12700">
            <a:solidFill>
              <a:srgbClr val="E6EC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062623" y="3937047"/>
            <a:ext cx="4061901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062623" y="4398948"/>
            <a:ext cx="4061901" cy="1523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PAR_045T and PAR_077 carry the weight. PAR_048 stays at 4% because PAR_077 already holds most of it.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each feature contributes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4874281" cy="452072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493957" y="1234440"/>
          <a:ext cx="4793043" cy="452072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57200" y="5853442"/>
            <a:ext cx="9829800" cy="491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together: 0.80. Three features carry 91% of the points that put taxpayers in HIGH and above.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each feature out, one at a time</a:t>
            </a:r>
            <a:endParaRPr lang="en-US" sz="2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9829800" cy="914400"/>
        </p:xfrm>
        <a:graphic>
          <a:graphicData uri="http://schemas.openxmlformats.org/drawingml/2006/table">
            <a:tbl>
              <a:tblPr/>
              <a:tblGrid>
                <a:gridCol w="1787236"/>
                <a:gridCol w="1299808"/>
                <a:gridCol w="1949712"/>
                <a:gridCol w="479304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Alone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if removed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PAR_045T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-0.019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backbone of the score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PAR_077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+0.003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Overlaps the top-up share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PAR_045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-0.004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alone, adds a little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PAR_048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Overlaps PAR_077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PAR_076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Aimed at risk top-ups cannot show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PAR_066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(4% of taxpayers)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PAR_105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better without: question for officers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PAR_023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traders use many stations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5558612"/>
            <a:ext cx="9829800" cy="491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keep all eight now and take this evidence to the weights session with the Risk Officers.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Recency: how much each year of history counts</a:t>
            </a:r>
            <a:endParaRPr lang="en-US" sz="2400" dirty="0"/>
          </a:p>
        </p:txBody>
      </p:sp>
      <p:sp>
        <p:nvSpPr>
          <p:cNvPr id="4" name="year 0"/>
          <p:cNvSpPr/>
          <p:nvPr/>
        </p:nvSpPr>
        <p:spPr>
          <a:xfrm>
            <a:off x="457200" y="1283578"/>
            <a:ext cx="1827855" cy="1572426"/>
          </a:xfrm>
          <a:prstGeom prst="rect">
            <a:avLst/>
          </a:prstGeom>
          <a:solidFill>
            <a:srgbClr val="0D3F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381855"/>
            <a:ext cx="1827855" cy="78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b="1" dirty="0">
                <a:solidFill>
                  <a:srgbClr val="FFFFFF"/>
                </a:solidFill>
              </a:rPr>
              <a:t>1</a:t>
            </a:r>
            <a:endParaRPr lang="en-US" sz="32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217206"/>
            <a:ext cx="1827855" cy="49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Last 12 months</a:t>
            </a:r>
            <a:endParaRPr lang="en-US" sz="1350" dirty="0"/>
          </a:p>
        </p:txBody>
      </p:sp>
      <p:sp>
        <p:nvSpPr>
          <p:cNvPr id="7" name="year 1"/>
          <p:cNvSpPr/>
          <p:nvPr/>
        </p:nvSpPr>
        <p:spPr>
          <a:xfrm>
            <a:off x="2447531" y="1283578"/>
            <a:ext cx="1827855" cy="1572426"/>
          </a:xfrm>
          <a:prstGeom prst="rect">
            <a:avLst/>
          </a:prstGeom>
          <a:solidFill>
            <a:srgbClr val="6E8C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447531" y="1381855"/>
            <a:ext cx="1827855" cy="78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b="1" dirty="0">
                <a:solidFill>
                  <a:srgbClr val="FFFFFF"/>
                </a:solidFill>
              </a:rPr>
              <a:t>0.5</a:t>
            </a:r>
            <a:endParaRPr lang="en-US" sz="3250" dirty="0"/>
          </a:p>
        </p:txBody>
      </p:sp>
      <p:sp>
        <p:nvSpPr>
          <p:cNvPr id="9" name="Text 6"/>
          <p:cNvSpPr txBox="1"/>
          <p:nvPr/>
        </p:nvSpPr>
        <p:spPr>
          <a:xfrm>
            <a:off x="2447531" y="2217206"/>
            <a:ext cx="1827855" cy="49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12 to 24 months ago</a:t>
            </a:r>
            <a:endParaRPr lang="en-US" sz="1350" dirty="0"/>
          </a:p>
        </p:txBody>
      </p:sp>
      <p:sp>
        <p:nvSpPr>
          <p:cNvPr id="10" name="year 2"/>
          <p:cNvSpPr/>
          <p:nvPr/>
        </p:nvSpPr>
        <p:spPr>
          <a:xfrm>
            <a:off x="4437863" y="1283578"/>
            <a:ext cx="1827855" cy="1572426"/>
          </a:xfrm>
          <a:prstGeom prst="rect">
            <a:avLst/>
          </a:prstGeom>
          <a:solidFill>
            <a:srgbClr val="B9C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37863" y="1381855"/>
            <a:ext cx="1827855" cy="78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b="1" dirty="0">
                <a:solidFill>
                  <a:srgbClr val="102A83"/>
                </a:solidFill>
              </a:rPr>
              <a:t>0.25</a:t>
            </a:r>
            <a:endParaRPr lang="en-US" sz="3250" dirty="0"/>
          </a:p>
        </p:txBody>
      </p:sp>
      <p:sp>
        <p:nvSpPr>
          <p:cNvPr id="12" name="Text 9"/>
          <p:cNvSpPr txBox="1"/>
          <p:nvPr/>
        </p:nvSpPr>
        <p:spPr>
          <a:xfrm>
            <a:off x="4437863" y="2217206"/>
            <a:ext cx="1827855" cy="49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2A83"/>
                </a:solidFill>
              </a:rPr>
              <a:t>24 to 36 months ago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101696"/>
            <a:ext cx="5849137" cy="982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topped up 2 of 10 (last year), 1 of 10, 0 of 10.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= (2 + 0.5 x 1 + 0.25 x 0) / (10 + 5 + 2.5) = 14%</a:t>
            </a:r>
            <a:endParaRPr lang="en-US" sz="13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86186"/>
          <a:ext cx="5849137" cy="914400"/>
        </p:xfrm>
        <a:graphic>
          <a:graphicData uri="http://schemas.openxmlformats.org/drawingml/2006/table">
            <a:tbl>
              <a:tblPr/>
              <a:tblGrid>
                <a:gridCol w="1949712"/>
                <a:gridCol w="1056094"/>
                <a:gridCol w="1421665"/>
                <a:gridCol w="142166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tested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per check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ranking than old rule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found per check, top 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rule: 2 years, equal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year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of 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of 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years, equal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of 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of 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years, gentle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of 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of 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years, halving: adopted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of 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of 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years, steep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of 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of 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Why halving"/>
          <p:cNvSpPr/>
          <p:nvPr/>
        </p:nvSpPr>
        <p:spPr>
          <a:xfrm>
            <a:off x="6550051" y="1283578"/>
            <a:ext cx="3736949" cy="4864693"/>
          </a:xfrm>
          <a:prstGeom prst="roundRect">
            <a:avLst>
              <a:gd name="adj" fmla="val 1958"/>
            </a:avLst>
          </a:prstGeom>
          <a:solidFill>
            <a:srgbClr val="FFF4C7"/>
          </a:solidFill>
          <a:ln w="12700">
            <a:solidFill>
              <a:srgbClr val="FFF4C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712527" y="1430993"/>
            <a:ext cx="3411997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halving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712527" y="1892893"/>
            <a:ext cx="3411997" cy="4127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3-year option ranks a little better than the old rule. Halving does best at the top of the list: more found per check in the top 5% on 15 of 18 dates.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weights let old top-ups count too much. Steeper weights forget too fast.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added nothing measurable.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31520" y="24688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  The scorecard and the bands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731520" y="40690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features become points, a score and a band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scorecard</a:t>
            </a:r>
            <a:endParaRPr lang="en-US" sz="2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9829800" cy="914400"/>
        </p:xfrm>
        <a:graphic>
          <a:graphicData uri="http://schemas.openxmlformats.org/drawingml/2006/table">
            <a:tbl>
              <a:tblPr/>
              <a:tblGrid>
                <a:gridCol w="3168283"/>
                <a:gridCol w="1624760"/>
                <a:gridCol w="1381046"/>
                <a:gridCol w="1218570"/>
                <a:gridCol w="1137332"/>
                <a:gridCol w="12998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points at or below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points 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points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PAR_045T Declarations topped 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PAR_077 Severe top-ups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PAR_045 Declarations amended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PAR_048 Top-ups as share of tax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PAR_076 Value below benchmark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PAR_066 Tax reduced after assessment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PAR_105 Recent top-up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PAR_023 Station movement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5116367"/>
            <a:ext cx="9829800" cy="5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the sum of the eight. Bands: VERY LOW to 15, LOW to 35, MEDIUM to 50, HIGH to 80, VERY HIGH to 100.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5902580"/>
            <a:ext cx="9829800" cy="491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points = likelihood x impact / 76 x 100, rounded.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score is calculated</a:t>
            </a:r>
            <a:endParaRPr lang="en-US" sz="2400" dirty="0"/>
          </a:p>
        </p:txBody>
      </p:sp>
      <p:sp>
        <p:nvSpPr>
          <p:cNvPr id="4" name="step 1"/>
          <p:cNvSpPr/>
          <p:nvPr/>
        </p:nvSpPr>
        <p:spPr>
          <a:xfrm>
            <a:off x="1090857" y="1332717"/>
            <a:ext cx="536171" cy="648626"/>
          </a:xfrm>
          <a:prstGeom prst="ellipse">
            <a:avLst/>
          </a:prstGeom>
          <a:solidFill>
            <a:srgbClr val="0D3FFE"/>
          </a:solidFill>
          <a:ln w="12700">
            <a:solidFill>
              <a:srgbClr val="0D3FF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0857" y="1332717"/>
            <a:ext cx="536171" cy="64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1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168068"/>
            <a:ext cx="1827855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83"/>
                </a:solidFill>
              </a:rPr>
              <a:t>Rate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97819" y="2659451"/>
            <a:ext cx="1746617" cy="1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Each feature over 3 years (1, 0.5, 0.25)</a:t>
            </a:r>
            <a:endParaRPr lang="en-US" sz="1350" dirty="0"/>
          </a:p>
        </p:txBody>
      </p:sp>
      <p:sp>
        <p:nvSpPr>
          <p:cNvPr id="8" name="step 2"/>
          <p:cNvSpPr/>
          <p:nvPr/>
        </p:nvSpPr>
        <p:spPr>
          <a:xfrm>
            <a:off x="3081188" y="1332717"/>
            <a:ext cx="536171" cy="648626"/>
          </a:xfrm>
          <a:prstGeom prst="ellipse">
            <a:avLst/>
          </a:prstGeom>
          <a:solidFill>
            <a:srgbClr val="0D3FFE"/>
          </a:solidFill>
          <a:ln w="12700">
            <a:solidFill>
              <a:srgbClr val="0D3FF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81188" y="1332717"/>
            <a:ext cx="536171" cy="64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2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2447531" y="2168068"/>
            <a:ext cx="1827855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83"/>
                </a:solidFill>
              </a:rPr>
              <a:t>Small history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488150" y="2659451"/>
            <a:ext cx="1746617" cy="1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Pulled towards the average, only down</a:t>
            </a:r>
            <a:endParaRPr lang="en-US" sz="1350" dirty="0"/>
          </a:p>
        </p:txBody>
      </p:sp>
      <p:sp>
        <p:nvSpPr>
          <p:cNvPr id="12" name="step 3"/>
          <p:cNvSpPr/>
          <p:nvPr/>
        </p:nvSpPr>
        <p:spPr>
          <a:xfrm>
            <a:off x="5071519" y="1332717"/>
            <a:ext cx="536171" cy="648626"/>
          </a:xfrm>
          <a:prstGeom prst="ellipse">
            <a:avLst/>
          </a:prstGeom>
          <a:solidFill>
            <a:srgbClr val="0D3FFE"/>
          </a:solidFill>
          <a:ln w="12700">
            <a:solidFill>
              <a:srgbClr val="0D3FF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71519" y="1332717"/>
            <a:ext cx="536171" cy="64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3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4437863" y="2168068"/>
            <a:ext cx="1827855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83"/>
                </a:solidFill>
              </a:rPr>
              <a:t>Scale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478482" y="2659451"/>
            <a:ext cx="1746617" cy="1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0 below the minimum, 1 at the maximum</a:t>
            </a:r>
            <a:endParaRPr lang="en-US" sz="1350" dirty="0"/>
          </a:p>
        </p:txBody>
      </p:sp>
      <p:sp>
        <p:nvSpPr>
          <p:cNvPr id="16" name="step 4"/>
          <p:cNvSpPr/>
          <p:nvPr/>
        </p:nvSpPr>
        <p:spPr>
          <a:xfrm>
            <a:off x="7061851" y="1332717"/>
            <a:ext cx="536171" cy="648626"/>
          </a:xfrm>
          <a:prstGeom prst="ellipse">
            <a:avLst/>
          </a:prstGeom>
          <a:solidFill>
            <a:srgbClr val="0D3FFE"/>
          </a:solidFill>
          <a:ln w="12700">
            <a:solidFill>
              <a:srgbClr val="0D3FF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61851" y="1332717"/>
            <a:ext cx="536171" cy="64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4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6428194" y="2168068"/>
            <a:ext cx="1827855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83"/>
                </a:solidFill>
              </a:rPr>
              <a:t>Points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68813" y="2659451"/>
            <a:ext cx="1746617" cy="1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Scale x most points; add them up</a:t>
            </a:r>
            <a:endParaRPr lang="en-US" sz="1350" dirty="0"/>
          </a:p>
        </p:txBody>
      </p:sp>
      <p:sp>
        <p:nvSpPr>
          <p:cNvPr id="20" name="step 5"/>
          <p:cNvSpPr/>
          <p:nvPr/>
        </p:nvSpPr>
        <p:spPr>
          <a:xfrm>
            <a:off x="9052182" y="1332717"/>
            <a:ext cx="536171" cy="648626"/>
          </a:xfrm>
          <a:prstGeom prst="ellipse">
            <a:avLst/>
          </a:prstGeom>
          <a:solidFill>
            <a:srgbClr val="0D3FFE"/>
          </a:solidFill>
          <a:ln w="12700">
            <a:solidFill>
              <a:srgbClr val="0D3FF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052182" y="1332717"/>
            <a:ext cx="536171" cy="64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5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8418526" y="2168068"/>
            <a:ext cx="1827855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83"/>
                </a:solidFill>
              </a:rPr>
              <a:t>Band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459145" y="2659451"/>
            <a:ext cx="1746617" cy="1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Score to band</a:t>
            </a:r>
            <a:endParaRPr lang="en-US" sz="1350" dirty="0"/>
          </a:p>
        </p:txBody>
      </p:sp>
      <p:sp>
        <p:nvSpPr>
          <p:cNvPr id="24" name="Example (made up): 40 declarations, 15% topped up"/>
          <p:cNvSpPr/>
          <p:nvPr/>
        </p:nvSpPr>
        <p:spPr>
          <a:xfrm>
            <a:off x="457200" y="4231877"/>
            <a:ext cx="9829800" cy="1916394"/>
          </a:xfrm>
          <a:prstGeom prst="roundRect">
            <a:avLst>
              <a:gd name="adj" fmla="val 3817"/>
            </a:avLst>
          </a:prstGeom>
          <a:solidFill>
            <a:srgbClr val="E6ECFF"/>
          </a:solidFill>
          <a:ln w="12700">
            <a:solidFill>
              <a:srgbClr val="E6EC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19676" y="4379292"/>
            <a:ext cx="9504848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(made up): 40 declarations, 15% topped up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19676" y="4841193"/>
            <a:ext cx="9504848" cy="1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PAR_045T scale = (15% - 3%) / (40% - 3%) = 0.32. Points = 0.32 x 33 = 10.7. Add the other seven the same way.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1 reads: "15% of declarations needed a top-up (minimum risk level 3%, maximum at 40%)".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bands</a:t>
            </a:r>
            <a:endParaRPr lang="en-US" sz="2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5302"/>
          <a:ext cx="9829800" cy="914400"/>
        </p:xfrm>
        <a:graphic>
          <a:graphicData uri="http://schemas.openxmlformats.org/drawingml/2006/table">
            <a:tbl>
              <a:tblPr/>
              <a:tblGrid>
                <a:gridCol w="1949712"/>
                <a:gridCol w="1787236"/>
                <a:gridCol w="2030950"/>
                <a:gridCol w="2193426"/>
                <a:gridCol w="186847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Taxpayers now (Sep 2026)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that found a top-up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top-up money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to 100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to 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to 50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1,326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to 35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8,264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to 15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46,838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chart_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1614" y="3396526"/>
            <a:ext cx="6280973" cy="2702607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57200" y="6099133"/>
            <a:ext cx="9829800" cy="393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six test dates pooled, Sep 2023 to Mar 2026. Chart: taxpayers per band at Mar 2026; most of VERY LOW are small traders.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points come from in each band</a:t>
            </a:r>
            <a:endParaRPr lang="en-US" sz="2400" dirty="0"/>
          </a:p>
        </p:txBody>
      </p:sp>
      <p:pic>
        <p:nvPicPr>
          <p:cNvPr id="4" name="Image 0" descr="chart_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764" y="1234440"/>
            <a:ext cx="9518673" cy="50121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31520" y="24688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  Does it work?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731520" y="40690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success, nine years of tests, and the alternatives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success</a:t>
            </a:r>
            <a:endParaRPr lang="en-US" sz="2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9829800" cy="914400"/>
        </p:xfrm>
        <a:graphic>
          <a:graphicData uri="http://schemas.openxmlformats.org/drawingml/2006/table">
            <a:tbl>
              <a:tblPr/>
              <a:tblGrid>
                <a:gridCol w="2274664"/>
                <a:gridCol w="5686661"/>
                <a:gridCol w="186847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it answers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per check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a check that found a top-up and one that did not: how often does the model rank the first higher? 0.50 = chance, 1.00 = perfect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measure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top-up money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share of top-up money came from taxpayers above the line?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checks above the line, how many found a top-up?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HIGH and above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all checks that found a top-up, how many were above the line?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HIGH and above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right overall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used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5214644"/>
            <a:ext cx="9829800" cy="5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is out of time: score at a date with history before it, judge on the 6 months after.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officers draw the line: precision, recall and money</a:t>
            </a:r>
            <a:endParaRPr lang="en-US" sz="2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9829800" cy="914400"/>
        </p:xfrm>
        <a:graphic>
          <a:graphicData uri="http://schemas.openxmlformats.org/drawingml/2006/table">
            <a:tbl>
              <a:tblPr/>
              <a:tblGrid>
                <a:gridCol w="2274664"/>
                <a:gridCol w="1787236"/>
                <a:gridCol w="1949712"/>
                <a:gridCol w="1868474"/>
                <a:gridCol w="1949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Taxpayers above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top-up money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20%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and above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and above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taxpayers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5214644"/>
            <a:ext cx="9829800" cy="393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six dates, Sep 2023 to Mar 2026.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years of tests: steady ranking</a:t>
            </a:r>
            <a:endParaRPr lang="en-US" sz="2400" dirty="0"/>
          </a:p>
        </p:txBody>
      </p:sp>
      <p:pic>
        <p:nvPicPr>
          <p:cNvPr id="4" name="Image 0" descr="nine_ye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4279" y="1234440"/>
            <a:ext cx="7275641" cy="50121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bands find more on every test date</a:t>
            </a:r>
            <a:endParaRPr lang="en-US" sz="2400" dirty="0"/>
          </a:p>
        </p:txBody>
      </p:sp>
      <p:pic>
        <p:nvPicPr>
          <p:cNvPr id="4" name="Image 0" descr="chart_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9829800" cy="474244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Challengers and ensembles: we tested the alternatives</a:t>
            </a:r>
            <a:endParaRPr lang="en-US" sz="2400" dirty="0"/>
          </a:p>
        </p:txBody>
      </p:sp>
      <p:pic>
        <p:nvPicPr>
          <p:cNvPr id="4" name="Image 0" descr="chart_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36163"/>
            <a:ext cx="9829800" cy="399165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5902580"/>
            <a:ext cx="9829800" cy="5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keep the scorecard (orange). Its points can be explained line by line. Next: test a learned correction on top of it, running alongside.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Officers' weights against weights learned from outcomes</a:t>
            </a:r>
            <a:endParaRPr lang="en-US" sz="2400" dirty="0"/>
          </a:p>
        </p:txBody>
      </p:sp>
      <p:pic>
        <p:nvPicPr>
          <p:cNvPr id="4" name="Image 0" descr="chart_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499041" cy="2595639"/>
          </a:xfrm>
          <a:prstGeom prst="rect">
            <a:avLst/>
          </a:prstGeom>
        </p:spPr>
      </p:pic>
      <p:sp>
        <p:nvSpPr>
          <p:cNvPr id="5" name="Reading"/>
          <p:cNvSpPr/>
          <p:nvPr/>
        </p:nvSpPr>
        <p:spPr>
          <a:xfrm>
            <a:off x="7199955" y="1283578"/>
            <a:ext cx="3087045" cy="4815555"/>
          </a:xfrm>
          <a:prstGeom prst="roundRect">
            <a:avLst>
              <a:gd name="adj" fmla="val 237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362431" y="1430993"/>
            <a:ext cx="2762093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7362431" y="1892893"/>
            <a:ext cx="2762093" cy="407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weights follow what checks already found.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Officers' weights cover risks checks may not have looked for.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Officers decide.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check: the model agrees with the AEO programme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5849137" cy="481555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631289" y="1381855"/>
            <a:ext cx="3574473" cy="933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rgbClr val="B8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1.7%</a:t>
            </a:r>
            <a:endParaRPr lang="en-US" sz="4200" dirty="0"/>
          </a:p>
        </p:txBody>
      </p:sp>
      <p:sp>
        <p:nvSpPr>
          <p:cNvPr id="6" name="Text 2"/>
          <p:cNvSpPr txBox="1"/>
          <p:nvPr/>
        </p:nvSpPr>
        <p:spPr>
          <a:xfrm>
            <a:off x="6631289" y="2364621"/>
            <a:ext cx="3574473" cy="88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checks on AEO members found a top-up, against 7.3% for others (Apr to Sep 2026)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6631289" y="3445664"/>
            <a:ext cx="3574473" cy="933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rgbClr val="B54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200" dirty="0"/>
          </a:p>
        </p:txBody>
      </p:sp>
      <p:sp>
        <p:nvSpPr>
          <p:cNvPr id="8" name="Text 4"/>
          <p:cNvSpPr txBox="1"/>
          <p:nvPr/>
        </p:nvSpPr>
        <p:spPr>
          <a:xfrm>
            <a:off x="6631289" y="4428431"/>
            <a:ext cx="3574473" cy="88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 members to raise with officers: 1 HIGH, 3 with a behaviour flag, 4 MEDIUM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31520" y="24688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  Track B: risk without a record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731520" y="40690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behaviour, for taxpayers with no top-up history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second track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3578"/>
            <a:ext cx="2924569" cy="933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rgbClr val="B54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266345"/>
            <a:ext cx="2924569" cy="88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taxpayers have no top-up history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3804206" y="1283578"/>
            <a:ext cx="2924569" cy="933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rgbClr val="B54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half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3804206" y="2266345"/>
            <a:ext cx="2924569" cy="88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hits come from taxpayers below HIGH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151213" y="1283578"/>
            <a:ext cx="2924569" cy="933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rgbClr val="B54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7151213" y="2266345"/>
            <a:ext cx="2924569" cy="88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points for an undervaluer never caught</a:t>
            </a:r>
            <a:endParaRPr lang="en-US" sz="1450" dirty="0"/>
          </a:p>
        </p:txBody>
      </p:sp>
      <p:sp>
        <p:nvSpPr>
          <p:cNvPr id="10" name="Rules for Track B"/>
          <p:cNvSpPr/>
          <p:nvPr/>
        </p:nvSpPr>
        <p:spPr>
          <a:xfrm>
            <a:off x="457200" y="3838771"/>
            <a:ext cx="9829800" cy="2260363"/>
          </a:xfrm>
          <a:prstGeom prst="roundRect">
            <a:avLst>
              <a:gd name="adj" fmla="val 3236"/>
            </a:avLst>
          </a:prstGeom>
          <a:solidFill>
            <a:srgbClr val="E6ECFF"/>
          </a:solidFill>
          <a:ln w="12700">
            <a:solidFill>
              <a:srgbClr val="E6EC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9676" y="3986186"/>
            <a:ext cx="9504848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Track B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19676" y="4448086"/>
            <a:ext cx="9504848" cy="1523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customs actions as inputs (no top-ups, no lanes), so it does not repeat past selection.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compared within the peer group: same main goods, same size.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Flags: top 5% of regular traders and top 1% of small traders with no top-up history. A flag lifts the band to HIGH at most until proven.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features (1 of 2): declarations and valuation</a:t>
            </a:r>
            <a:endParaRPr lang="en-US" sz="24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9829800" cy="914400"/>
        </p:xfrm>
        <a:graphic>
          <a:graphicData uri="http://schemas.openxmlformats.org/drawingml/2006/table">
            <a:tbl>
              <a:tblPr/>
              <a:tblGrid>
                <a:gridCol w="2843331"/>
                <a:gridCol w="3168283"/>
                <a:gridCol w="381818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 used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is built (per taxpayer)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Declarations amended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amendment_flg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declarations amended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left unpaid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pay_status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declarations not paid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Prices that look like keying errors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customs_value, net_weight, hsc_cd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items priced under 1% of the median for the HS code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below the HS benchmark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customs_value, net_weight, supplementary_qnty, hsc_cd, gds_org_cty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Shortfall against the median price of other importers, as a share of value (PAR_076)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priced below half the benchmark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items under half the median price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Prices far from other importers (v2)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distance from the median price, either way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dropped against own history (v2)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customs_value, net_weight, hsc_cd, assessment_dt_wid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value where the taxpayer's own price for an HS code fell (PAR_067)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features (2 of 2): duty and trading pattern</a:t>
            </a:r>
            <a:endParaRPr lang="en-US" sz="24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9829800" cy="914400"/>
        </p:xfrm>
        <a:graphic>
          <a:graphicData uri="http://schemas.openxmlformats.org/drawingml/2006/table">
            <a:tbl>
              <a:tblPr/>
              <a:tblGrid>
                <a:gridCol w="2843331"/>
                <a:gridCol w="3168283"/>
                <a:gridCol w="381818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 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is built (per taxpayer)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Duty rate below HS peers (v2)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tax_assessed, customs_value, hsc_cd, cpc_cd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value taxed under half the median rate for the HS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Duty shortfall (v2)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below the median rate, as a share of 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Exemption codes (v2)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cpc_cd, customs_value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value under an exemption code (PAR_053)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Watch-list exemption codes (v2)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cpc_cd, customs_value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value under the codes the AC-Trade memo marks for abuse (PAR_053)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Preferential treatment claimed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preferential_treatment_flag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items claiming preference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Sudden rise in declarations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assessment_dt_wid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90 days against the average quarter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Away from the main station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clearance_station_cd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declarations away from the most used station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kinds of goods per declaration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hsc_cd, instance_id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 headings used per declaration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Same-day splitting (v2)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hsc_cd, assessment_dt_wid, instance_id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goods, same day, separate declarations, above the norm for those goods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Recently started (v2)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assessment_dt_wid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since the first declaration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behaviour features carry signal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5302"/>
          <a:ext cx="9829800" cy="50121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results: better than chance on every date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6011613" cy="481555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By date"/>
          <p:cNvSpPr/>
          <p:nvPr/>
        </p:nvSpPr>
        <p:spPr>
          <a:xfrm>
            <a:off x="6712527" y="1234440"/>
            <a:ext cx="3574473" cy="2260363"/>
          </a:xfrm>
          <a:prstGeom prst="roundRect">
            <a:avLst>
              <a:gd name="adj" fmla="val 3236"/>
            </a:avLst>
          </a:prstGeom>
          <a:solidFill>
            <a:srgbClr val="E6ECFF"/>
          </a:solidFill>
          <a:ln w="12700">
            <a:solidFill>
              <a:srgbClr val="E6ECF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75003" y="1381855"/>
            <a:ext cx="3249521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date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6875003" y="1843755"/>
            <a:ext cx="3249521" cy="1523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Regular: 0.56 to 0.62.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Small: 0.54 to 0.62.</a:t>
            </a:r>
            <a:endParaRPr lang="en-US" sz="1450" dirty="0"/>
          </a:p>
        </p:txBody>
      </p:sp>
      <p:sp>
        <p:nvSpPr>
          <p:cNvPr id="8" name="Limit"/>
          <p:cNvSpPr/>
          <p:nvPr/>
        </p:nvSpPr>
        <p:spPr>
          <a:xfrm>
            <a:off x="6712527" y="3740494"/>
            <a:ext cx="3574473" cy="2309501"/>
          </a:xfrm>
          <a:prstGeom prst="roundRect">
            <a:avLst>
              <a:gd name="adj" fmla="val 3167"/>
            </a:avLst>
          </a:prstGeom>
          <a:solidFill>
            <a:srgbClr val="FFF4C7"/>
          </a:solidFill>
          <a:ln w="12700">
            <a:solidFill>
              <a:srgbClr val="FFF4C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75003" y="3887909"/>
            <a:ext cx="3249521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875003" y="4349809"/>
            <a:ext cx="3249521" cy="1572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Undervaluation never caught never became a top-up, so top-ups show only part of what Track B is for.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be fixed: the flags lean on one feature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3578"/>
            <a:ext cx="2924569" cy="933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rgbClr val="B54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506 / 510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266345"/>
            <a:ext cx="2924569" cy="88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led by goods per declaration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3804206" y="1283578"/>
            <a:ext cx="2924569" cy="933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rgbClr val="B54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3804206" y="2266345"/>
            <a:ext cx="2924569" cy="88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declaration: the median flagged taxpayer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151213" y="1283578"/>
            <a:ext cx="2924569" cy="933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rgbClr val="0D3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306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7151213" y="2266345"/>
            <a:ext cx="2924569" cy="88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whose second reason is a price below half the benchmark</a:t>
            </a:r>
            <a:endParaRPr lang="en-US" sz="1450" dirty="0"/>
          </a:p>
        </p:txBody>
      </p:sp>
      <p:sp>
        <p:nvSpPr>
          <p:cNvPr id="10" name="Fix before going live"/>
          <p:cNvSpPr/>
          <p:nvPr/>
        </p:nvSpPr>
        <p:spPr>
          <a:xfrm>
            <a:off x="457200" y="3838771"/>
            <a:ext cx="9829800" cy="2260363"/>
          </a:xfrm>
          <a:prstGeom prst="roundRect">
            <a:avLst>
              <a:gd name="adj" fmla="val 3236"/>
            </a:avLst>
          </a:prstGeom>
          <a:solidFill>
            <a:srgbClr val="FFF4C7"/>
          </a:solidFill>
          <a:ln w="12700">
            <a:solidFill>
              <a:srgbClr val="FFF4C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9676" y="3986186"/>
            <a:ext cx="9504848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before going live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19676" y="4448086"/>
            <a:ext cx="9504848" cy="1523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Cap any one feature's share so no single feature can flag alone.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Require two independent signals for a flag.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Pull older dates again so the v2 features can be learned.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Use the blind review verdicts to confirm which signals officers act on.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Track B: a blind review</a:t>
            </a:r>
            <a:endParaRPr lang="en-US" sz="2400" dirty="0"/>
          </a:p>
        </p:txBody>
      </p:sp>
      <p:sp>
        <p:nvSpPr>
          <p:cNvPr id="4" name="Entry evidence"/>
          <p:cNvSpPr/>
          <p:nvPr/>
        </p:nvSpPr>
        <p:spPr>
          <a:xfrm>
            <a:off x="457200" y="1283578"/>
            <a:ext cx="4793043" cy="2456916"/>
          </a:xfrm>
          <a:prstGeom prst="roundRect">
            <a:avLst>
              <a:gd name="adj" fmla="val 2977"/>
            </a:avLst>
          </a:prstGeom>
          <a:solidFill>
            <a:srgbClr val="E6ECFF"/>
          </a:solidFill>
          <a:ln w="12700">
            <a:solidFill>
              <a:srgbClr val="E6EC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9676" y="1430993"/>
            <a:ext cx="4468091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evidence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19676" y="1892893"/>
            <a:ext cx="4468091" cy="171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flagged taxpayer: the entries priced furthest below other importers, with entry number. Median declared price: 19% of peers per kg.</a:t>
            </a:r>
            <a:endParaRPr lang="en-US" sz="1450" dirty="0"/>
          </a:p>
        </p:txBody>
      </p:sp>
      <p:sp>
        <p:nvSpPr>
          <p:cNvPr id="7" name="The review"/>
          <p:cNvSpPr/>
          <p:nvPr/>
        </p:nvSpPr>
        <p:spPr>
          <a:xfrm>
            <a:off x="5493957" y="1283578"/>
            <a:ext cx="4793043" cy="2456916"/>
          </a:xfrm>
          <a:prstGeom prst="roundRect">
            <a:avLst>
              <a:gd name="adj" fmla="val 2977"/>
            </a:avLst>
          </a:prstGeom>
          <a:solidFill>
            <a:srgbClr val="E6ECFF"/>
          </a:solidFill>
          <a:ln w="12700">
            <a:solidFill>
              <a:srgbClr val="E6EC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56433" y="1430993"/>
            <a:ext cx="4468091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656433" y="1892893"/>
            <a:ext cx="4468091" cy="171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mark Act, Do not act or Not sure. Pack ready; the key is held by Data Science.</a:t>
            </a:r>
            <a:endParaRPr lang="en-US" sz="1450" dirty="0"/>
          </a:p>
        </p:txBody>
      </p:sp>
      <p:sp>
        <p:nvSpPr>
          <p:cNvPr id="10" name="What counts as success"/>
          <p:cNvSpPr/>
          <p:nvPr/>
        </p:nvSpPr>
        <p:spPr>
          <a:xfrm>
            <a:off x="457200" y="3986186"/>
            <a:ext cx="9829800" cy="2162086"/>
          </a:xfrm>
          <a:prstGeom prst="roundRect">
            <a:avLst>
              <a:gd name="adj" fmla="val 338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9676" y="4133601"/>
            <a:ext cx="9504848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success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19676" y="4595501"/>
            <a:ext cx="9504848" cy="1425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more "Act" verdicts for the flagged group than for the others. Blind, because officers who know who was flagged look harder at them.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31520" y="24688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  Decisions and next steps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731520" y="40690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decisions were made, what we cannot yet claim, what we need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decisions were made: one standard, every decision logged</a:t>
            </a:r>
            <a:endParaRPr lang="en-US" sz="2400" dirty="0"/>
          </a:p>
        </p:txBody>
      </p:sp>
      <p:sp>
        <p:nvSpPr>
          <p:cNvPr id="4" name="evidence 0"/>
          <p:cNvSpPr/>
          <p:nvPr/>
        </p:nvSpPr>
        <p:spPr>
          <a:xfrm>
            <a:off x="457200" y="1332717"/>
            <a:ext cx="446809" cy="540521"/>
          </a:xfrm>
          <a:prstGeom prst="ellipse">
            <a:avLst/>
          </a:prstGeom>
          <a:solidFill>
            <a:srgbClr val="0D3FFE"/>
          </a:solidFill>
          <a:ln w="12700">
            <a:solidFill>
              <a:srgbClr val="0D3FF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332717"/>
            <a:ext cx="446809" cy="540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1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107104" y="1283578"/>
            <a:ext cx="2924569" cy="63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83"/>
                </a:solidFill>
              </a:rPr>
              <a:t>Out of time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112911" y="1283578"/>
            <a:ext cx="6174089" cy="63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</a:rPr>
              <a:t>Set on the past, judged on the 6 months after</a:t>
            </a:r>
            <a:endParaRPr lang="en-US" sz="1450" dirty="0"/>
          </a:p>
        </p:txBody>
      </p:sp>
      <p:sp>
        <p:nvSpPr>
          <p:cNvPr id="8" name="evidence 1"/>
          <p:cNvSpPr/>
          <p:nvPr/>
        </p:nvSpPr>
        <p:spPr>
          <a:xfrm>
            <a:off x="457200" y="2266345"/>
            <a:ext cx="446809" cy="540521"/>
          </a:xfrm>
          <a:prstGeom prst="ellipse">
            <a:avLst/>
          </a:prstGeom>
          <a:solidFill>
            <a:srgbClr val="0D3FFE"/>
          </a:solidFill>
          <a:ln w="12700">
            <a:solidFill>
              <a:srgbClr val="0D3FF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2266345"/>
            <a:ext cx="446809" cy="540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2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1107104" y="2217206"/>
            <a:ext cx="2924569" cy="63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83"/>
                </a:solidFill>
              </a:rPr>
              <a:t>Against a baseline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112911" y="2217206"/>
            <a:ext cx="6174089" cy="63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</a:rPr>
              <a:t>Must beat "rank by past top-ups alone"</a:t>
            </a:r>
            <a:endParaRPr lang="en-US" sz="1450" dirty="0"/>
          </a:p>
        </p:txBody>
      </p:sp>
      <p:sp>
        <p:nvSpPr>
          <p:cNvPr id="12" name="evidence 2"/>
          <p:cNvSpPr/>
          <p:nvPr/>
        </p:nvSpPr>
        <p:spPr>
          <a:xfrm>
            <a:off x="457200" y="3199973"/>
            <a:ext cx="446809" cy="540521"/>
          </a:xfrm>
          <a:prstGeom prst="ellipse">
            <a:avLst/>
          </a:prstGeom>
          <a:solidFill>
            <a:srgbClr val="0D3FFE"/>
          </a:solidFill>
          <a:ln w="12700">
            <a:solidFill>
              <a:srgbClr val="0D3FF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3199973"/>
            <a:ext cx="446809" cy="540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3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1107104" y="3150834"/>
            <a:ext cx="2924569" cy="63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83"/>
                </a:solidFill>
              </a:rPr>
              <a:t>Per check and money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112911" y="3150834"/>
            <a:ext cx="6174089" cy="63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</a:rPr>
              <a:t>The officers' own measures: checks that find something, and revenue</a:t>
            </a:r>
            <a:endParaRPr lang="en-US" sz="1450" dirty="0"/>
          </a:p>
        </p:txBody>
      </p:sp>
      <p:sp>
        <p:nvSpPr>
          <p:cNvPr id="16" name="evidence 3"/>
          <p:cNvSpPr/>
          <p:nvPr/>
        </p:nvSpPr>
        <p:spPr>
          <a:xfrm>
            <a:off x="457200" y="4133601"/>
            <a:ext cx="446809" cy="540521"/>
          </a:xfrm>
          <a:prstGeom prst="ellipse">
            <a:avLst/>
          </a:prstGeom>
          <a:solidFill>
            <a:srgbClr val="0D3FFE"/>
          </a:solidFill>
          <a:ln w="12700">
            <a:solidFill>
              <a:srgbClr val="0D3FF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4133601"/>
            <a:ext cx="446809" cy="540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4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1107104" y="4084462"/>
            <a:ext cx="2924569" cy="63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83"/>
                </a:solidFill>
              </a:rPr>
              <a:t>Alternatives tested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112911" y="4084462"/>
            <a:ext cx="6174089" cy="63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</a:rPr>
              <a:t>Clustering, pattern points, 7 challengers, 5 combinations, 2 to 5 years</a:t>
            </a:r>
            <a:endParaRPr lang="en-US" sz="1450" dirty="0"/>
          </a:p>
        </p:txBody>
      </p:sp>
      <p:sp>
        <p:nvSpPr>
          <p:cNvPr id="20" name="evidence 4"/>
          <p:cNvSpPr/>
          <p:nvPr/>
        </p:nvSpPr>
        <p:spPr>
          <a:xfrm>
            <a:off x="457200" y="5067229"/>
            <a:ext cx="446809" cy="540521"/>
          </a:xfrm>
          <a:prstGeom prst="ellipse">
            <a:avLst/>
          </a:prstGeom>
          <a:solidFill>
            <a:srgbClr val="0D3FFE"/>
          </a:solidFill>
          <a:ln w="12700">
            <a:solidFill>
              <a:srgbClr val="0D3FF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5067229"/>
            <a:ext cx="446809" cy="540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5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1107104" y="5018090"/>
            <a:ext cx="2924569" cy="63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83"/>
                </a:solidFill>
              </a:rPr>
              <a:t>Logged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112911" y="5018090"/>
            <a:ext cx="6174089" cy="63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</a:rPr>
              <a:t>Model version and settings code on every output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5951719"/>
            <a:ext cx="9829800" cy="491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clustering dropped (left 77% without a group); pattern points dropped (lowered results); PAR_045T maximum 40%; 3-year halving (18 of 18 dates).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progress</a:t>
            </a:r>
            <a:endParaRPr lang="en-US" sz="24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9829800" cy="914400"/>
        </p:xfrm>
        <a:graphic>
          <a:graphicData uri="http://schemas.openxmlformats.org/drawingml/2006/table">
            <a:tbl>
              <a:tblPr/>
              <a:tblGrid>
                <a:gridCol w="2112188"/>
                <a:gridCol w="3818187"/>
                <a:gridCol w="389942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done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EDA and cleaning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rules from the data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Duplicates, top-up definition, regimes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Extracts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dates, checked automatically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49,699 to 58,161 taxpayers per window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Features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Distributions, overlaps, small history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Credibility weighting; PAR_048 over final tax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Scorecard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features, weights from evidence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Beats ranking by past top-ups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Peers and pattern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 against goods x size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Goods x size groups; pattern as a note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Challengers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models, 5 combinations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Scorecard kept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Round 2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B, AUC per check, nine years, recency, AEO check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Nine years tested; Track B signal; AEO agrees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cannot yet claim</a:t>
            </a:r>
            <a:endParaRPr lang="en-US" sz="2400" dirty="0"/>
          </a:p>
        </p:txBody>
      </p:sp>
      <p:sp>
        <p:nvSpPr>
          <p:cNvPr id="4" name="Outcomes only where customs looked"/>
          <p:cNvSpPr/>
          <p:nvPr/>
        </p:nvSpPr>
        <p:spPr>
          <a:xfrm>
            <a:off x="457200" y="1283578"/>
            <a:ext cx="4793043" cy="1474150"/>
          </a:xfrm>
          <a:prstGeom prst="roundRect">
            <a:avLst>
              <a:gd name="adj" fmla="val 4962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9676" y="1430993"/>
            <a:ext cx="4468091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only where customs looked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19676" y="1892893"/>
            <a:ext cx="4468091" cy="737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see results only for checks selectivity chose. The blind review gives an outcome it did not choose.</a:t>
            </a:r>
            <a:endParaRPr lang="en-US" sz="1450" dirty="0"/>
          </a:p>
        </p:txBody>
      </p:sp>
      <p:sp>
        <p:nvSpPr>
          <p:cNvPr id="7" name="Settings are provisional"/>
          <p:cNvSpPr/>
          <p:nvPr/>
        </p:nvSpPr>
        <p:spPr>
          <a:xfrm>
            <a:off x="5493957" y="1283578"/>
            <a:ext cx="4793043" cy="1474150"/>
          </a:xfrm>
          <a:prstGeom prst="roundRect">
            <a:avLst>
              <a:gd name="adj" fmla="val 4962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56433" y="1430993"/>
            <a:ext cx="4468091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are provisional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656433" y="1892893"/>
            <a:ext cx="4468091" cy="737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and thresholds stand until the Risk Officers confirm them.</a:t>
            </a:r>
            <a:endParaRPr lang="en-US" sz="1450" dirty="0"/>
          </a:p>
        </p:txBody>
      </p:sp>
      <p:sp>
        <p:nvSpPr>
          <p:cNvPr id="10" name="Track B not yet proven"/>
          <p:cNvSpPr/>
          <p:nvPr/>
        </p:nvSpPr>
        <p:spPr>
          <a:xfrm>
            <a:off x="457200" y="2954281"/>
            <a:ext cx="4793043" cy="1474150"/>
          </a:xfrm>
          <a:prstGeom prst="roundRect">
            <a:avLst>
              <a:gd name="adj" fmla="val 4962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9676" y="3101696"/>
            <a:ext cx="4468091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not yet proven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19676" y="3563596"/>
            <a:ext cx="4468091" cy="737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signal, led by one feature. Fix and blind review first.</a:t>
            </a:r>
            <a:endParaRPr lang="en-US" sz="1450" dirty="0"/>
          </a:p>
        </p:txBody>
      </p:sp>
      <p:sp>
        <p:nvSpPr>
          <p:cNvPr id="13" name="March 2024 unexplained"/>
          <p:cNvSpPr/>
          <p:nvPr/>
        </p:nvSpPr>
        <p:spPr>
          <a:xfrm>
            <a:off x="5493957" y="2954281"/>
            <a:ext cx="4793043" cy="1474150"/>
          </a:xfrm>
          <a:prstGeom prst="roundRect">
            <a:avLst>
              <a:gd name="adj" fmla="val 4962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56433" y="3101696"/>
            <a:ext cx="4468091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2024 unexplained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656433" y="3563596"/>
            <a:ext cx="4468091" cy="737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found less from then on. Only the Risk Officers can say why.</a:t>
            </a:r>
            <a:endParaRPr lang="en-US" sz="1450" dirty="0"/>
          </a:p>
        </p:txBody>
      </p:sp>
      <p:sp>
        <p:nvSpPr>
          <p:cNvPr id="16" name="11 parameters blocked"/>
          <p:cNvSpPr/>
          <p:nvPr/>
        </p:nvSpPr>
        <p:spPr>
          <a:xfrm>
            <a:off x="457200" y="4624984"/>
            <a:ext cx="4793043" cy="1474150"/>
          </a:xfrm>
          <a:prstGeom prst="roundRect">
            <a:avLst>
              <a:gd name="adj" fmla="val 4962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9676" y="4772399"/>
            <a:ext cx="4468091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parameters blocked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19676" y="5234299"/>
            <a:ext cx="4468091" cy="737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data that is not in the view.</a:t>
            </a:r>
            <a:endParaRPr lang="en-US" sz="1450" dirty="0"/>
          </a:p>
        </p:txBody>
      </p:sp>
      <p:sp>
        <p:nvSpPr>
          <p:cNvPr id="19" name="Pulls are manual"/>
          <p:cNvSpPr/>
          <p:nvPr/>
        </p:nvSpPr>
        <p:spPr>
          <a:xfrm>
            <a:off x="5493957" y="4624984"/>
            <a:ext cx="4793043" cy="1474150"/>
          </a:xfrm>
          <a:prstGeom prst="roundRect">
            <a:avLst>
              <a:gd name="adj" fmla="val 4962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56433" y="4772399"/>
            <a:ext cx="4468091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are manual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656433" y="5234299"/>
            <a:ext cx="4468091" cy="737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 limits mean split queries. Zeppelin access would automate them.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steps, and what we need</a:t>
            </a:r>
            <a:endParaRPr lang="en-US" sz="2400" dirty="0"/>
          </a:p>
        </p:txBody>
      </p:sp>
      <p:sp>
        <p:nvSpPr>
          <p:cNvPr id="4" name="Data Science will"/>
          <p:cNvSpPr/>
          <p:nvPr/>
        </p:nvSpPr>
        <p:spPr>
          <a:xfrm>
            <a:off x="457200" y="1283578"/>
            <a:ext cx="4793043" cy="4864693"/>
          </a:xfrm>
          <a:prstGeom prst="roundRect">
            <a:avLst>
              <a:gd name="adj" fmla="val 1526"/>
            </a:avLst>
          </a:prstGeom>
          <a:solidFill>
            <a:srgbClr val="E6ECFF"/>
          </a:solidFill>
          <a:ln w="12700">
            <a:solidFill>
              <a:srgbClr val="E6EC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9676" y="1430993"/>
            <a:ext cx="4468091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will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19676" y="1892893"/>
            <a:ext cx="4468091" cy="4127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Fix Track B's reliance on one feature; retest.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Pull older dates for Track B.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Score the blind review.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 a learned correction on top of the scorecard.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Peer review of the results run (Herbert).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Scope and Design Architecture document.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Presentation to CITI.</a:t>
            </a:r>
            <a:endParaRPr lang="en-US" sz="1450" dirty="0"/>
          </a:p>
        </p:txBody>
      </p:sp>
      <p:sp>
        <p:nvSpPr>
          <p:cNvPr id="7" name="We need"/>
          <p:cNvSpPr/>
          <p:nvPr/>
        </p:nvSpPr>
        <p:spPr>
          <a:xfrm>
            <a:off x="5493957" y="1283578"/>
            <a:ext cx="4793043" cy="4864693"/>
          </a:xfrm>
          <a:prstGeom prst="roundRect">
            <a:avLst>
              <a:gd name="adj" fmla="val 1526"/>
            </a:avLst>
          </a:prstGeom>
          <a:solidFill>
            <a:srgbClr val="FFF4C7"/>
          </a:solidFill>
          <a:ln w="12700">
            <a:solidFill>
              <a:srgbClr val="FFF4C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56433" y="1430993"/>
            <a:ext cx="4468091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656433" y="1892893"/>
            <a:ext cx="4468091" cy="4127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Risk Officers session: weights, thresholds, capacity, March 2024, random checks.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Officers' time for the blind review (50 codes).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Engineering: the data for the 11 blocked parameters.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Zeppelin permissions.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Your steer on the order.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4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9829800" cy="914400"/>
        </p:xfrm>
        <a:graphic>
          <a:graphicData uri="http://schemas.openxmlformats.org/drawingml/2006/table">
            <a:tbl>
              <a:tblPr/>
              <a:tblGrid>
                <a:gridCol w="649904"/>
                <a:gridCol w="5524185"/>
                <a:gridCol w="365571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show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main.py score data/live_2026-09-30.csv --evidence data/evidence/review_2026-09-30_v2.csv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counts; model version and settings code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results/CTRP_scores_2026-09-30.xlsx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Scores and reasons; Overall Risk Band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Risky behaviour flags and Entry evidence sheets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flag and an entry priced below peers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results/CTRP_performance_since_2017.xlsx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per check by date; recency sheets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docs/DECISIONS.md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decision with its evidence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31520" y="24688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Backup slides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731520" y="40690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for questions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getting nine years out of Hue</a:t>
            </a:r>
            <a:endParaRPr lang="en-US" sz="2400" dirty="0"/>
          </a:p>
        </p:txBody>
      </p:sp>
      <p:sp>
        <p:nvSpPr>
          <p:cNvPr id="4" name="Split queries"/>
          <p:cNvSpPr/>
          <p:nvPr/>
        </p:nvSpPr>
        <p:spPr>
          <a:xfrm>
            <a:off x="457200" y="1283578"/>
            <a:ext cx="3127664" cy="2555193"/>
          </a:xfrm>
          <a:prstGeom prst="roundRect">
            <a:avLst>
              <a:gd name="adj" fmla="val 2863"/>
            </a:avLst>
          </a:prstGeom>
          <a:solidFill>
            <a:srgbClr val="E6ECFF"/>
          </a:solidFill>
          <a:ln w="12700">
            <a:solidFill>
              <a:srgbClr val="E6EC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9676" y="1430993"/>
            <a:ext cx="2802712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queries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19676" y="1892893"/>
            <a:ext cx="2802712" cy="1818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date's query cut into 5 parts that finish inside Hue's limit and merge back exactly.</a:t>
            </a:r>
            <a:endParaRPr lang="en-US" sz="1450" dirty="0"/>
          </a:p>
        </p:txBody>
      </p:sp>
      <p:sp>
        <p:nvSpPr>
          <p:cNvPr id="7" name="The long run"/>
          <p:cNvSpPr/>
          <p:nvPr/>
        </p:nvSpPr>
        <p:spPr>
          <a:xfrm>
            <a:off x="3804206" y="1283578"/>
            <a:ext cx="3127664" cy="2555193"/>
          </a:xfrm>
          <a:prstGeom prst="roundRect">
            <a:avLst>
              <a:gd name="adj" fmla="val 2863"/>
            </a:avLst>
          </a:prstGeom>
          <a:solidFill>
            <a:srgbClr val="E6ECFF"/>
          </a:solidFill>
          <a:ln w="12700">
            <a:solidFill>
              <a:srgbClr val="E6EC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66682" y="1430993"/>
            <a:ext cx="2802712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run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966682" y="1892893"/>
            <a:ext cx="2802712" cy="1818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per taxpayer per half-year, Oct 2014 to Sep 2026, in 12 pieces.</a:t>
            </a:r>
            <a:endParaRPr lang="en-US" sz="1450" dirty="0"/>
          </a:p>
        </p:txBody>
      </p:sp>
      <p:sp>
        <p:nvSpPr>
          <p:cNvPr id="10" name="Checked"/>
          <p:cNvSpPr/>
          <p:nvPr/>
        </p:nvSpPr>
        <p:spPr>
          <a:xfrm>
            <a:off x="7151213" y="1283578"/>
            <a:ext cx="3127664" cy="2555193"/>
          </a:xfrm>
          <a:prstGeom prst="roundRect">
            <a:avLst>
              <a:gd name="adj" fmla="val 2863"/>
            </a:avLst>
          </a:prstGeom>
          <a:solidFill>
            <a:srgbClr val="FFF4C7"/>
          </a:solidFill>
          <a:ln w="12700">
            <a:solidFill>
              <a:srgbClr val="FFF4C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3689" y="1430993"/>
            <a:ext cx="2802712" cy="44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313689" y="1892893"/>
            <a:ext cx="2802712" cy="1818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six dates pulled in full: 99.5 to 100% matching.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peer groups and the pattern check</a:t>
            </a:r>
            <a:endParaRPr lang="en-US" sz="2400" dirty="0"/>
          </a:p>
        </p:txBody>
      </p:sp>
      <p:pic>
        <p:nvPicPr>
          <p:cNvPr id="4" name="Image 0" descr="chart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99233" cy="3046231"/>
          </a:xfrm>
          <a:prstGeom prst="rect">
            <a:avLst/>
          </a:prstGeom>
        </p:spPr>
      </p:pic>
      <p:pic>
        <p:nvPicPr>
          <p:cNvPr id="5" name="Image 1" descr="chart_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909" y="1234440"/>
            <a:ext cx="4468091" cy="207370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6596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settings in force (model 1.0.0-dev5)</a:t>
            </a:r>
            <a:endParaRPr lang="en-US" sz="24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9829800" cy="914400"/>
        </p:xfrm>
        <a:graphic>
          <a:graphicData uri="http://schemas.openxmlformats.org/drawingml/2006/table">
            <a:tbl>
              <a:tblPr/>
              <a:tblGrid>
                <a:gridCol w="2599617"/>
                <a:gridCol w="2437140"/>
                <a:gridCol w="479304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8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RECENCY_WEIGHTS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1, 0.5, 0.25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each of the last 3 years counts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SHRINK_K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Credibility weighting n / (n + 10), only down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ADEQUATE_ENTRIES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this: limited history note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/ 35 / 50 / 80 / 100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score of each band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B flag shares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regular, 1% small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taxpayers with no top-up history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input, same output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20256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RA CTRP">
  <a:themeElements>
    <a:clrScheme name="URA CTRP">
      <a:dk1>
        <a:srgbClr val="1B2430"/>
      </a:dk1>
      <a:lt1>
        <a:srgbClr val="FFFFFF"/>
      </a:lt1>
      <a:dk2>
        <a:srgbClr val="102A83"/>
      </a:dk2>
      <a:lt2>
        <a:srgbClr val="F1F3F6"/>
      </a:lt2>
      <a:accent1>
        <a:srgbClr val="0D3FFE"/>
      </a:accent1>
      <a:accent2>
        <a:srgbClr val="102A83"/>
      </a:accent2>
      <a:accent3>
        <a:srgbClr val="B5482B"/>
      </a:accent3>
      <a:accent4>
        <a:srgbClr val="6B7785"/>
      </a:accent4>
      <a:accent5>
        <a:srgbClr val="4E8A3E"/>
      </a:accent5>
      <a:accent6>
        <a:srgbClr val="C99A1A"/>
      </a:accent6>
      <a:hlink>
        <a:srgbClr val="0D3FFE"/>
      </a:hlink>
      <a:folHlink>
        <a:srgbClr val="102A83"/>
      </a:folHlink>
    </a:clrScheme>
    <a:fontScheme name="URA CTRP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Uganda Revenue Authority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CTRP progress review</dc:title>
  <dc:subject>PptxGenJS Presentation</dc:subject>
  <dc:creator>Ethan Mugire, Data Science</dc:creator>
  <cp:lastModifiedBy>Ethan Mugire, Data Science</cp:lastModifiedBy>
  <cp:revision>1</cp:revision>
  <dcterms:created xsi:type="dcterms:W3CDTF">2026-10-15T12:41:23Z</dcterms:created>
  <dcterms:modified xsi:type="dcterms:W3CDTF">2026-10-15T12:41:23Z</dcterms:modified>
</cp:coreProperties>
</file>